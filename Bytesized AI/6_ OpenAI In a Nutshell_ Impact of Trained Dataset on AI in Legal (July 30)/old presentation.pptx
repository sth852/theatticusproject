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Spencer Ball"/>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0-07-17T18:34:11.345">
    <p:pos x="148" y="2474"/>
    <p:text>this wording is kind of awkward, suggestions on how to improve?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8ab9fc6443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8ab9fc6443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8c498565a7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8c498565a7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8c498565a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8c498565a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8c498565a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8c498565a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8c498565a7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8c498565a7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8c498565a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8c498565a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5305640b67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5305640b67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8c498565a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8c498565a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5305640b67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5305640b67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www.atticusprojectai.org/bytesized-archive-basic-terminology" TargetMode="Externa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comments" Target="../comments/commen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openai.com/" TargetMode="External"/><Relationship Id="rId4" Type="http://schemas.openxmlformats.org/officeDocument/2006/relationships/hyperlink" Target="https://openai.com/blog/openai-api/" TargetMode="External"/><Relationship Id="rId5" Type="http://schemas.openxmlformats.org/officeDocument/2006/relationships/hyperlink" Target="https://andrewmayneblog.wordpress.com/2020/06/11/the-aichannels-project/" TargetMode="External"/><Relationship Id="rId6" Type="http://schemas.openxmlformats.org/officeDocument/2006/relationships/hyperlink" Target="https://gym.openai.com/" TargetMode="External"/><Relationship Id="rId7" Type="http://schemas.openxmlformats.org/officeDocument/2006/relationships/hyperlink" Target="https://openai.com/projects/five/" TargetMode="External"/><Relationship Id="rId8"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8969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OpenAI in a Nutshell</a:t>
            </a:r>
            <a:endParaRPr/>
          </a:p>
        </p:txBody>
      </p:sp>
      <p:sp>
        <p:nvSpPr>
          <p:cNvPr id="55" name="Google Shape;55;p13"/>
          <p:cNvSpPr txBox="1"/>
          <p:nvPr>
            <p:ph idx="1" type="subTitle"/>
          </p:nvPr>
        </p:nvSpPr>
        <p:spPr>
          <a:xfrm>
            <a:off x="311700" y="29865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Adaptable, comprehensive AI</a:t>
            </a:r>
            <a:endParaRPr/>
          </a:p>
        </p:txBody>
      </p:sp>
      <p:pic>
        <p:nvPicPr>
          <p:cNvPr id="56" name="Google Shape;56;p13"/>
          <p:cNvPicPr preferRelativeResize="0"/>
          <p:nvPr/>
        </p:nvPicPr>
        <p:blipFill>
          <a:blip r:embed="rId3">
            <a:alphaModFix/>
          </a:blip>
          <a:stretch>
            <a:fillRect/>
          </a:stretch>
        </p:blipFill>
        <p:spPr>
          <a:xfrm>
            <a:off x="0" y="0"/>
            <a:ext cx="2052600" cy="2052600"/>
          </a:xfrm>
          <a:prstGeom prst="rect">
            <a:avLst/>
          </a:prstGeom>
          <a:noFill/>
          <a:ln>
            <a:noFill/>
          </a:ln>
        </p:spPr>
      </p:pic>
      <p:sp>
        <p:nvSpPr>
          <p:cNvPr id="57" name="Google Shape;57;p13"/>
          <p:cNvSpPr txBox="1"/>
          <p:nvPr/>
        </p:nvSpPr>
        <p:spPr>
          <a:xfrm>
            <a:off x="7091425" y="4722875"/>
            <a:ext cx="2052600" cy="42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t>© 2020 The Atticus Project</a:t>
            </a:r>
            <a:endParaRPr sz="1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 of Key Terminology</a:t>
            </a:r>
            <a:endParaRPr/>
          </a:p>
        </p:txBody>
      </p:sp>
      <p:sp>
        <p:nvSpPr>
          <p:cNvPr id="63" name="Google Shape;63;p14"/>
          <p:cNvSpPr txBox="1"/>
          <p:nvPr>
            <p:ph idx="1" type="body"/>
          </p:nvPr>
        </p:nvSpPr>
        <p:spPr>
          <a:xfrm>
            <a:off x="311700" y="1152475"/>
            <a:ext cx="4677300" cy="37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The full module on AI terminology can be found </a:t>
            </a:r>
            <a:r>
              <a:rPr lang="en" sz="1400" u="sng">
                <a:solidFill>
                  <a:schemeClr val="hlink"/>
                </a:solidFill>
                <a:hlinkClick r:id="rId3"/>
              </a:rPr>
              <a:t>here.</a:t>
            </a:r>
            <a:endParaRPr sz="1400"/>
          </a:p>
          <a:p>
            <a:pPr indent="0" lvl="0" marL="0" rtl="0" algn="l">
              <a:spcBef>
                <a:spcPts val="1600"/>
              </a:spcBef>
              <a:spcAft>
                <a:spcPts val="0"/>
              </a:spcAft>
              <a:buNone/>
            </a:pPr>
            <a:r>
              <a:t/>
            </a:r>
            <a:endParaRPr b="1"/>
          </a:p>
          <a:p>
            <a:pPr indent="0" lvl="0" marL="0" rtl="0" algn="l">
              <a:spcBef>
                <a:spcPts val="1600"/>
              </a:spcBef>
              <a:spcAft>
                <a:spcPts val="1600"/>
              </a:spcAft>
              <a:buNone/>
            </a:pPr>
            <a:r>
              <a:t/>
            </a:r>
            <a:endParaRPr sz="1000"/>
          </a:p>
        </p:txBody>
      </p:sp>
      <p:sp>
        <p:nvSpPr>
          <p:cNvPr id="64" name="Google Shape;64;p14"/>
          <p:cNvSpPr txBox="1"/>
          <p:nvPr/>
        </p:nvSpPr>
        <p:spPr>
          <a:xfrm>
            <a:off x="231575" y="1992850"/>
            <a:ext cx="3796200" cy="1417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800">
                <a:solidFill>
                  <a:schemeClr val="dk2"/>
                </a:solidFill>
              </a:rPr>
              <a:t>Machine Learning</a:t>
            </a:r>
            <a:endParaRPr b="1" sz="1800">
              <a:solidFill>
                <a:schemeClr val="dk2"/>
              </a:solidFill>
            </a:endParaRPr>
          </a:p>
          <a:p>
            <a:pPr indent="0" lvl="0" marL="0" rtl="0" algn="l">
              <a:lnSpc>
                <a:spcPct val="115000"/>
              </a:lnSpc>
              <a:spcBef>
                <a:spcPts val="1600"/>
              </a:spcBef>
              <a:spcAft>
                <a:spcPts val="0"/>
              </a:spcAft>
              <a:buNone/>
            </a:pPr>
            <a:r>
              <a:rPr lang="en" sz="1200">
                <a:solidFill>
                  <a:schemeClr val="dk2"/>
                </a:solidFill>
              </a:rPr>
              <a:t>AI that can learn from experience.</a:t>
            </a:r>
            <a:endParaRPr sz="1200">
              <a:solidFill>
                <a:schemeClr val="dk2"/>
              </a:solidFill>
            </a:endParaRPr>
          </a:p>
          <a:p>
            <a:pPr indent="0" lvl="0" marL="0" rtl="0" algn="l">
              <a:lnSpc>
                <a:spcPct val="115000"/>
              </a:lnSpc>
              <a:spcBef>
                <a:spcPts val="1600"/>
              </a:spcBef>
              <a:spcAft>
                <a:spcPts val="0"/>
              </a:spcAft>
              <a:buNone/>
            </a:pPr>
            <a:r>
              <a:rPr b="1" lang="en" sz="1800">
                <a:solidFill>
                  <a:schemeClr val="dk2"/>
                </a:solidFill>
              </a:rPr>
              <a:t>Natural Language Processing</a:t>
            </a:r>
            <a:endParaRPr b="1" sz="1800">
              <a:solidFill>
                <a:schemeClr val="dk2"/>
              </a:solidFill>
            </a:endParaRPr>
          </a:p>
          <a:p>
            <a:pPr indent="0" lvl="0" marL="0" rtl="0" algn="l">
              <a:lnSpc>
                <a:spcPct val="115000"/>
              </a:lnSpc>
              <a:spcBef>
                <a:spcPts val="1600"/>
              </a:spcBef>
              <a:spcAft>
                <a:spcPts val="1600"/>
              </a:spcAft>
              <a:buNone/>
            </a:pPr>
            <a:r>
              <a:rPr lang="en" sz="1200">
                <a:solidFill>
                  <a:schemeClr val="dk2"/>
                </a:solidFill>
              </a:rPr>
              <a:t>AI that can understand language.</a:t>
            </a:r>
            <a:endParaRPr sz="1600"/>
          </a:p>
        </p:txBody>
      </p:sp>
      <p:sp>
        <p:nvSpPr>
          <p:cNvPr id="65" name="Google Shape;65;p14"/>
          <p:cNvSpPr/>
          <p:nvPr/>
        </p:nvSpPr>
        <p:spPr>
          <a:xfrm>
            <a:off x="4724400" y="1817425"/>
            <a:ext cx="3523500" cy="2473200"/>
          </a:xfrm>
          <a:prstGeom prst="ellipse">
            <a:avLst/>
          </a:prstGeom>
          <a:solidFill>
            <a:srgbClr val="D9D2E9"/>
          </a:solidFill>
          <a:ln cap="flat" cmpd="sng" w="19050">
            <a:solidFill>
              <a:srgbClr val="351C75"/>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800"/>
              <a:t>AI</a:t>
            </a:r>
            <a:endParaRPr sz="1800"/>
          </a:p>
        </p:txBody>
      </p:sp>
      <p:sp>
        <p:nvSpPr>
          <p:cNvPr id="66" name="Google Shape;66;p14"/>
          <p:cNvSpPr/>
          <p:nvPr/>
        </p:nvSpPr>
        <p:spPr>
          <a:xfrm>
            <a:off x="5285574" y="2649765"/>
            <a:ext cx="1568700" cy="1121700"/>
          </a:xfrm>
          <a:prstGeom prst="ellipse">
            <a:avLst/>
          </a:prstGeom>
          <a:solidFill>
            <a:srgbClr val="D9D2E9"/>
          </a:solidFill>
          <a:ln cap="flat" cmpd="sng" w="19050">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600"/>
          </a:p>
        </p:txBody>
      </p:sp>
      <p:sp>
        <p:nvSpPr>
          <p:cNvPr id="67" name="Google Shape;67;p14"/>
          <p:cNvSpPr/>
          <p:nvPr/>
        </p:nvSpPr>
        <p:spPr>
          <a:xfrm>
            <a:off x="6545279" y="2830565"/>
            <a:ext cx="1118700" cy="940800"/>
          </a:xfrm>
          <a:prstGeom prst="ellipse">
            <a:avLst/>
          </a:prstGeom>
          <a:solidFill>
            <a:srgbClr val="FFF2CC"/>
          </a:solidFill>
          <a:ln cap="flat" cmpd="sng" w="19050">
            <a:solidFill>
              <a:srgbClr val="BF9000"/>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sz="1800"/>
              <a:t>NLP</a:t>
            </a:r>
            <a:endParaRPr sz="1800"/>
          </a:p>
        </p:txBody>
      </p:sp>
      <p:sp>
        <p:nvSpPr>
          <p:cNvPr id="68" name="Google Shape;68;p14"/>
          <p:cNvSpPr/>
          <p:nvPr/>
        </p:nvSpPr>
        <p:spPr>
          <a:xfrm>
            <a:off x="5285574" y="2649765"/>
            <a:ext cx="1568700" cy="1121700"/>
          </a:xfrm>
          <a:prstGeom prst="ellipse">
            <a:avLst/>
          </a:prstGeom>
          <a:solidFill>
            <a:srgbClr val="AFCBFC"/>
          </a:solidFill>
          <a:ln cap="flat" cmpd="sng" w="1905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t>ML</a:t>
            </a:r>
            <a:endParaRPr sz="1800"/>
          </a:p>
        </p:txBody>
      </p:sp>
      <p:sp>
        <p:nvSpPr>
          <p:cNvPr id="69" name="Google Shape;69;p14"/>
          <p:cNvSpPr/>
          <p:nvPr/>
        </p:nvSpPr>
        <p:spPr>
          <a:xfrm>
            <a:off x="6548169" y="2927203"/>
            <a:ext cx="309198" cy="663447"/>
          </a:xfrm>
          <a:custGeom>
            <a:rect b="b" l="l" r="r" t="t"/>
            <a:pathLst>
              <a:path extrusionOk="0" h="26377" w="12948">
                <a:moveTo>
                  <a:pt x="4316" y="26377"/>
                </a:moveTo>
                <a:lnTo>
                  <a:pt x="2038" y="23140"/>
                </a:lnTo>
                <a:lnTo>
                  <a:pt x="839" y="20262"/>
                </a:lnTo>
                <a:lnTo>
                  <a:pt x="120" y="17025"/>
                </a:lnTo>
                <a:lnTo>
                  <a:pt x="0" y="13668"/>
                </a:lnTo>
                <a:lnTo>
                  <a:pt x="719" y="10191"/>
                </a:lnTo>
                <a:lnTo>
                  <a:pt x="1918" y="7433"/>
                </a:lnTo>
                <a:lnTo>
                  <a:pt x="3477" y="4556"/>
                </a:lnTo>
                <a:lnTo>
                  <a:pt x="5755" y="2278"/>
                </a:lnTo>
                <a:lnTo>
                  <a:pt x="6594" y="1319"/>
                </a:lnTo>
                <a:lnTo>
                  <a:pt x="8273" y="0"/>
                </a:lnTo>
                <a:lnTo>
                  <a:pt x="10910" y="3597"/>
                </a:lnTo>
                <a:lnTo>
                  <a:pt x="12229" y="7194"/>
                </a:lnTo>
                <a:lnTo>
                  <a:pt x="12948" y="11630"/>
                </a:lnTo>
                <a:lnTo>
                  <a:pt x="12109" y="16306"/>
                </a:lnTo>
                <a:lnTo>
                  <a:pt x="10551" y="19543"/>
                </a:lnTo>
                <a:lnTo>
                  <a:pt x="7553" y="23859"/>
                </a:lnTo>
                <a:close/>
              </a:path>
            </a:pathLst>
          </a:custGeom>
          <a:solidFill>
            <a:srgbClr val="D9EAD3"/>
          </a:solidFill>
          <a:ln cap="flat" cmpd="sng" w="19050">
            <a:solidFill>
              <a:srgbClr val="38761D"/>
            </a:solidFill>
            <a:prstDash val="solid"/>
            <a:round/>
            <a:headEnd len="med" w="med" type="none"/>
            <a:tailEnd len="med" w="med" type="none"/>
          </a:ln>
        </p:spPr>
      </p:sp>
      <p:sp>
        <p:nvSpPr>
          <p:cNvPr id="70" name="Google Shape;70;p14"/>
          <p:cNvSpPr txBox="1"/>
          <p:nvPr/>
        </p:nvSpPr>
        <p:spPr>
          <a:xfrm>
            <a:off x="231575" y="2020750"/>
            <a:ext cx="3964500" cy="1417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800">
                <a:solidFill>
                  <a:schemeClr val="dk2"/>
                </a:solidFill>
              </a:rPr>
              <a:t>Annotated Data</a:t>
            </a:r>
            <a:endParaRPr b="1" sz="1800">
              <a:solidFill>
                <a:schemeClr val="dk2"/>
              </a:solidFill>
            </a:endParaRPr>
          </a:p>
          <a:p>
            <a:pPr indent="0" lvl="0" marL="0" rtl="0" algn="l">
              <a:lnSpc>
                <a:spcPct val="115000"/>
              </a:lnSpc>
              <a:spcBef>
                <a:spcPts val="1600"/>
              </a:spcBef>
              <a:spcAft>
                <a:spcPts val="0"/>
              </a:spcAft>
              <a:buClr>
                <a:schemeClr val="dk1"/>
              </a:buClr>
              <a:buSzPts val="1100"/>
              <a:buFont typeface="Arial"/>
              <a:buNone/>
            </a:pPr>
            <a:r>
              <a:rPr lang="en" sz="1200">
                <a:solidFill>
                  <a:schemeClr val="dk2"/>
                </a:solidFill>
              </a:rPr>
              <a:t>Data that is tagged or labelled, usually by a human.</a:t>
            </a:r>
            <a:endParaRPr sz="1200">
              <a:solidFill>
                <a:schemeClr val="dk2"/>
              </a:solidFill>
            </a:endParaRPr>
          </a:p>
          <a:p>
            <a:pPr indent="0" lvl="0" marL="0" rtl="0" algn="l">
              <a:lnSpc>
                <a:spcPct val="115000"/>
              </a:lnSpc>
              <a:spcBef>
                <a:spcPts val="1600"/>
              </a:spcBef>
              <a:spcAft>
                <a:spcPts val="0"/>
              </a:spcAft>
              <a:buClr>
                <a:schemeClr val="dk1"/>
              </a:buClr>
              <a:buSzPts val="1100"/>
              <a:buFont typeface="Arial"/>
              <a:buNone/>
            </a:pPr>
            <a:r>
              <a:rPr b="1" lang="en" sz="1800">
                <a:solidFill>
                  <a:schemeClr val="dk2"/>
                </a:solidFill>
              </a:rPr>
              <a:t>Unannotated Data</a:t>
            </a:r>
            <a:endParaRPr b="1" sz="1800">
              <a:solidFill>
                <a:schemeClr val="dk2"/>
              </a:solidFill>
            </a:endParaRPr>
          </a:p>
          <a:p>
            <a:pPr indent="0" lvl="0" marL="0" rtl="0" algn="l">
              <a:lnSpc>
                <a:spcPct val="115000"/>
              </a:lnSpc>
              <a:spcBef>
                <a:spcPts val="1600"/>
              </a:spcBef>
              <a:spcAft>
                <a:spcPts val="1600"/>
              </a:spcAft>
              <a:buClr>
                <a:schemeClr val="dk1"/>
              </a:buClr>
              <a:buSzPts val="1100"/>
              <a:buFont typeface="Arial"/>
              <a:buNone/>
            </a:pPr>
            <a:r>
              <a:rPr lang="en" sz="1200">
                <a:solidFill>
                  <a:schemeClr val="dk2"/>
                </a:solidFill>
              </a:rPr>
              <a:t>Data that is not tagged or labelled</a:t>
            </a:r>
            <a:r>
              <a:rPr lang="en" sz="1000">
                <a:solidFill>
                  <a:schemeClr val="dk2"/>
                </a:solidFill>
              </a:rPr>
              <a:t>.</a:t>
            </a:r>
            <a:endParaRPr/>
          </a:p>
        </p:txBody>
      </p:sp>
      <p:pic>
        <p:nvPicPr>
          <p:cNvPr id="71" name="Google Shape;71;p14"/>
          <p:cNvPicPr preferRelativeResize="0"/>
          <p:nvPr/>
        </p:nvPicPr>
        <p:blipFill rotWithShape="1">
          <a:blip r:embed="rId4">
            <a:alphaModFix/>
          </a:blip>
          <a:srcRect b="18553" l="11785" r="9225" t="16414"/>
          <a:stretch/>
        </p:blipFill>
        <p:spPr>
          <a:xfrm>
            <a:off x="4043675" y="1765725"/>
            <a:ext cx="4801174" cy="2615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
                                        </p:tgtEl>
                                        <p:attrNameLst>
                                          <p:attrName>style.visibility</p:attrName>
                                        </p:attrNameLst>
                                      </p:cBhvr>
                                      <p:to>
                                        <p:strVal val="visible"/>
                                      </p:to>
                                    </p:set>
                                    <p:animEffect filter="fade" transition="in">
                                      <p:cBhvr>
                                        <p:cTn dur="1000"/>
                                        <p:tgtEl>
                                          <p:spTgt spid="70"/>
                                        </p:tgtEl>
                                      </p:cBhvr>
                                    </p:animEffect>
                                  </p:childTnLst>
                                </p:cTn>
                              </p:par>
                              <p:par>
                                <p:cTn fill="hold" nodeType="withEffect" presetClass="exit" presetID="10" presetSubtype="0">
                                  <p:stCondLst>
                                    <p:cond delay="0"/>
                                  </p:stCondLst>
                                  <p:childTnLst>
                                    <p:animEffect filter="fade" transition="out">
                                      <p:cBhvr>
                                        <p:cTn dur="1000"/>
                                        <p:tgtEl>
                                          <p:spTgt spid="64"/>
                                        </p:tgtEl>
                                      </p:cBhvr>
                                    </p:animEffect>
                                    <p:set>
                                      <p:cBhvr>
                                        <p:cTn dur="1" fill="hold">
                                          <p:stCondLst>
                                            <p:cond delay="1000"/>
                                          </p:stCondLst>
                                        </p:cTn>
                                        <p:tgtEl>
                                          <p:spTgt spid="6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65"/>
                                        </p:tgtEl>
                                      </p:cBhvr>
                                    </p:animEffect>
                                    <p:set>
                                      <p:cBhvr>
                                        <p:cTn dur="1" fill="hold">
                                          <p:stCondLst>
                                            <p:cond delay="1000"/>
                                          </p:stCondLst>
                                        </p:cTn>
                                        <p:tgtEl>
                                          <p:spTgt spid="6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71"/>
                                        </p:tgtEl>
                                        <p:attrNameLst>
                                          <p:attrName>style.visibility</p:attrName>
                                        </p:attrNameLst>
                                      </p:cBhvr>
                                      <p:to>
                                        <p:strVal val="visible"/>
                                      </p:to>
                                    </p:set>
                                    <p:animEffect filter="fade" transition="in">
                                      <p:cBhvr>
                                        <p:cTn dur="1000"/>
                                        <p:tgtEl>
                                          <p:spTgt spid="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OpenAI?</a:t>
            </a:r>
            <a:endParaRPr/>
          </a:p>
        </p:txBody>
      </p:sp>
      <p:sp>
        <p:nvSpPr>
          <p:cNvPr id="77" name="Google Shape;77;p15"/>
          <p:cNvSpPr txBox="1"/>
          <p:nvPr>
            <p:ph idx="1" type="body"/>
          </p:nvPr>
        </p:nvSpPr>
        <p:spPr>
          <a:xfrm>
            <a:off x="311700" y="1152475"/>
            <a:ext cx="46845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OpenAI is a company for AI development and research with the goal of creating AI that is </a:t>
            </a:r>
            <a:r>
              <a:rPr b="1" lang="en"/>
              <a:t>powerful, flexible, and benefits all of humanity.</a:t>
            </a:r>
            <a:endParaRPr b="1"/>
          </a:p>
          <a:p>
            <a:pPr indent="0" lvl="0" marL="0" rtl="0" algn="l">
              <a:spcBef>
                <a:spcPts val="1600"/>
              </a:spcBef>
              <a:spcAft>
                <a:spcPts val="0"/>
              </a:spcAft>
              <a:buNone/>
            </a:pPr>
            <a:r>
              <a:t/>
            </a:r>
            <a:endParaRPr b="1" sz="800"/>
          </a:p>
          <a:p>
            <a:pPr indent="0" lvl="0" marL="0" rtl="0" algn="l">
              <a:spcBef>
                <a:spcPts val="1600"/>
              </a:spcBef>
              <a:spcAft>
                <a:spcPts val="1600"/>
              </a:spcAft>
              <a:buNone/>
            </a:pPr>
            <a:r>
              <a:rPr lang="en"/>
              <a:t>Most of the work done by OpenAI falls under the umbrella of </a:t>
            </a:r>
            <a:r>
              <a:rPr b="1" lang="en"/>
              <a:t>semi-supervised learning</a:t>
            </a:r>
            <a:r>
              <a:rPr lang="en"/>
              <a:t> (also known as </a:t>
            </a:r>
            <a:r>
              <a:rPr lang="en"/>
              <a:t>reinforcement</a:t>
            </a:r>
            <a:r>
              <a:rPr lang="en"/>
              <a:t> learning).</a:t>
            </a:r>
            <a:endParaRPr/>
          </a:p>
        </p:txBody>
      </p:sp>
      <p:pic>
        <p:nvPicPr>
          <p:cNvPr id="78" name="Google Shape;78;p15"/>
          <p:cNvPicPr preferRelativeResize="0"/>
          <p:nvPr/>
        </p:nvPicPr>
        <p:blipFill>
          <a:blip r:embed="rId3">
            <a:alphaModFix/>
          </a:blip>
          <a:stretch>
            <a:fillRect/>
          </a:stretch>
        </p:blipFill>
        <p:spPr>
          <a:xfrm>
            <a:off x="5148600" y="1018825"/>
            <a:ext cx="3683700" cy="3683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GPT-3</a:t>
            </a:r>
            <a:endParaRPr/>
          </a:p>
        </p:txBody>
      </p:sp>
      <p:sp>
        <p:nvSpPr>
          <p:cNvPr id="84" name="Google Shape;84;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OpenAI recently launched a </a:t>
            </a:r>
            <a:r>
              <a:rPr lang="en"/>
              <a:t>natural language processing model known as GPT-3. Built from a massive dataset of text from around the web, GPT-3 uses machine learning to recognize patterns in text. Given some form of text input, it can use the content and structure to either respond to that input or to predict what comes next. </a:t>
            </a:r>
            <a:endParaRPr/>
          </a:p>
        </p:txBody>
      </p:sp>
      <p:pic>
        <p:nvPicPr>
          <p:cNvPr id="85" name="Google Shape;85;p16"/>
          <p:cNvPicPr preferRelativeResize="0"/>
          <p:nvPr/>
        </p:nvPicPr>
        <p:blipFill rotWithShape="1">
          <a:blip r:embed="rId3">
            <a:alphaModFix/>
          </a:blip>
          <a:srcRect b="31105" l="0" r="0" t="19785"/>
          <a:stretch/>
        </p:blipFill>
        <p:spPr>
          <a:xfrm>
            <a:off x="690000" y="2571750"/>
            <a:ext cx="7764000" cy="2144675"/>
          </a:xfrm>
          <a:prstGeom prst="rect">
            <a:avLst/>
          </a:prstGeom>
          <a:noFill/>
          <a:ln>
            <a:noFill/>
          </a:ln>
        </p:spPr>
      </p:pic>
      <p:sp>
        <p:nvSpPr>
          <p:cNvPr id="86" name="Google Shape;86;p16"/>
          <p:cNvSpPr txBox="1"/>
          <p:nvPr/>
        </p:nvSpPr>
        <p:spPr>
          <a:xfrm>
            <a:off x="-2750" y="4771600"/>
            <a:ext cx="9181200" cy="24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800"/>
              <a:t>OpenAI automatically generating supporting evidence for the beginning of an academic paper.</a:t>
            </a:r>
            <a:endParaRPr i="1" sz="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Web Interface</a:t>
            </a:r>
            <a:endParaRPr/>
          </a:p>
        </p:txBody>
      </p:sp>
      <p:sp>
        <p:nvSpPr>
          <p:cNvPr id="92" name="Google Shape;92;p17"/>
          <p:cNvSpPr txBox="1"/>
          <p:nvPr>
            <p:ph idx="1" type="body"/>
          </p:nvPr>
        </p:nvSpPr>
        <p:spPr>
          <a:xfrm>
            <a:off x="311700" y="1152475"/>
            <a:ext cx="4260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GPT-3, currently in beta, is available through an online playground with presets such as a chatbot, Q&amp;A, and “summarize for a 2nd grader.”</a:t>
            </a:r>
            <a:endParaRPr/>
          </a:p>
          <a:p>
            <a:pPr indent="0" lvl="0" marL="0" rtl="0" algn="l">
              <a:spcBef>
                <a:spcPts val="1600"/>
              </a:spcBef>
              <a:spcAft>
                <a:spcPts val="0"/>
              </a:spcAft>
              <a:buNone/>
            </a:pPr>
            <a:r>
              <a:t/>
            </a:r>
            <a:endParaRPr sz="400"/>
          </a:p>
          <a:p>
            <a:pPr indent="0" lvl="0" marL="0" rtl="0" algn="l">
              <a:spcBef>
                <a:spcPts val="1600"/>
              </a:spcBef>
              <a:spcAft>
                <a:spcPts val="1600"/>
              </a:spcAft>
              <a:buNone/>
            </a:pPr>
            <a:r>
              <a:rPr lang="en"/>
              <a:t>In addition, users can give the AI example question and answer pairs to teach it the structure they want the output to look like. The model can learn from just one or two examples.</a:t>
            </a:r>
            <a:endParaRPr/>
          </a:p>
        </p:txBody>
      </p:sp>
      <p:grpSp>
        <p:nvGrpSpPr>
          <p:cNvPr id="93" name="Google Shape;93;p17"/>
          <p:cNvGrpSpPr/>
          <p:nvPr/>
        </p:nvGrpSpPr>
        <p:grpSpPr>
          <a:xfrm>
            <a:off x="4389470" y="954929"/>
            <a:ext cx="4534562" cy="1762741"/>
            <a:chOff x="4609375" y="1195925"/>
            <a:chExt cx="3637252" cy="1413925"/>
          </a:xfrm>
        </p:grpSpPr>
        <p:pic>
          <p:nvPicPr>
            <p:cNvPr id="94" name="Google Shape;94;p17"/>
            <p:cNvPicPr preferRelativeResize="0"/>
            <p:nvPr/>
          </p:nvPicPr>
          <p:blipFill rotWithShape="1">
            <a:blip r:embed="rId3">
              <a:alphaModFix/>
            </a:blip>
            <a:srcRect b="46025" l="0" r="68584" t="19308"/>
            <a:stretch/>
          </p:blipFill>
          <p:spPr>
            <a:xfrm>
              <a:off x="4609375" y="1195925"/>
              <a:ext cx="2277926" cy="1413925"/>
            </a:xfrm>
            <a:prstGeom prst="rect">
              <a:avLst/>
            </a:prstGeom>
            <a:noFill/>
            <a:ln>
              <a:noFill/>
            </a:ln>
          </p:spPr>
        </p:pic>
        <p:pic>
          <p:nvPicPr>
            <p:cNvPr id="95" name="Google Shape;95;p17"/>
            <p:cNvPicPr preferRelativeResize="0"/>
            <p:nvPr/>
          </p:nvPicPr>
          <p:blipFill rotWithShape="1">
            <a:blip r:embed="rId3">
              <a:alphaModFix/>
            </a:blip>
            <a:srcRect b="45852" l="80216" r="1036" t="19482"/>
            <a:stretch/>
          </p:blipFill>
          <p:spPr>
            <a:xfrm>
              <a:off x="6887301" y="1195925"/>
              <a:ext cx="1359326" cy="1413925"/>
            </a:xfrm>
            <a:prstGeom prst="rect">
              <a:avLst/>
            </a:prstGeom>
            <a:noFill/>
            <a:ln>
              <a:noFill/>
            </a:ln>
          </p:spPr>
        </p:pic>
      </p:grpSp>
      <p:pic>
        <p:nvPicPr>
          <p:cNvPr id="96" name="Google Shape;96;p17"/>
          <p:cNvPicPr preferRelativeResize="0"/>
          <p:nvPr/>
        </p:nvPicPr>
        <p:blipFill rotWithShape="1">
          <a:blip r:embed="rId4">
            <a:alphaModFix/>
          </a:blip>
          <a:srcRect b="62005" l="0" r="74851" t="19698"/>
          <a:stretch/>
        </p:blipFill>
        <p:spPr>
          <a:xfrm>
            <a:off x="4389475" y="3070450"/>
            <a:ext cx="2703725" cy="1106425"/>
          </a:xfrm>
          <a:prstGeom prst="rect">
            <a:avLst/>
          </a:prstGeom>
          <a:noFill/>
          <a:ln>
            <a:noFill/>
          </a:ln>
        </p:spPr>
      </p:pic>
      <p:sp>
        <p:nvSpPr>
          <p:cNvPr id="97" name="Google Shape;97;p17"/>
          <p:cNvSpPr/>
          <p:nvPr/>
        </p:nvSpPr>
        <p:spPr>
          <a:xfrm>
            <a:off x="4614325" y="3514350"/>
            <a:ext cx="2363700" cy="2892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7"/>
          <p:cNvSpPr txBox="1"/>
          <p:nvPr/>
        </p:nvSpPr>
        <p:spPr>
          <a:xfrm>
            <a:off x="7127400" y="3158550"/>
            <a:ext cx="1890600" cy="41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Sample structure provided by user</a:t>
            </a:r>
            <a:endParaRPr/>
          </a:p>
        </p:txBody>
      </p:sp>
      <p:sp>
        <p:nvSpPr>
          <p:cNvPr id="99" name="Google Shape;99;p17"/>
          <p:cNvSpPr txBox="1"/>
          <p:nvPr/>
        </p:nvSpPr>
        <p:spPr>
          <a:xfrm>
            <a:off x="7127400" y="4015825"/>
            <a:ext cx="1959000" cy="41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Subsequent output matches the structure</a:t>
            </a:r>
            <a:endParaRPr/>
          </a:p>
        </p:txBody>
      </p:sp>
      <p:sp>
        <p:nvSpPr>
          <p:cNvPr id="100" name="Google Shape;100;p17"/>
          <p:cNvSpPr/>
          <p:nvPr/>
        </p:nvSpPr>
        <p:spPr>
          <a:xfrm>
            <a:off x="4614325" y="3840317"/>
            <a:ext cx="2363700" cy="2892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gtEl>
                                        <p:attrNameLst>
                                          <p:attrName>style.visibility</p:attrName>
                                        </p:attrNameLst>
                                      </p:cBhvr>
                                      <p:to>
                                        <p:strVal val="visible"/>
                                      </p:to>
                                    </p:set>
                                    <p:animEffect filter="fade" transition="in">
                                      <p:cBhvr>
                                        <p:cTn dur="1000"/>
                                        <p:tgtEl>
                                          <p:spTgt spid="97"/>
                                        </p:tgtEl>
                                      </p:cBhvr>
                                    </p:animEffect>
                                  </p:childTnLst>
                                </p:cTn>
                              </p:par>
                              <p:par>
                                <p:cTn fill="hold" nodeType="withEffect" presetClass="entr" presetID="10" presetSubtype="0">
                                  <p:stCondLst>
                                    <p:cond delay="0"/>
                                  </p:stCondLst>
                                  <p:childTnLst>
                                    <p:set>
                                      <p:cBhvr>
                                        <p:cTn dur="1" fill="hold">
                                          <p:stCondLst>
                                            <p:cond delay="0"/>
                                          </p:stCondLst>
                                        </p:cTn>
                                        <p:tgtEl>
                                          <p:spTgt spid="98"/>
                                        </p:tgtEl>
                                        <p:attrNameLst>
                                          <p:attrName>style.visibility</p:attrName>
                                        </p:attrNameLst>
                                      </p:cBhvr>
                                      <p:to>
                                        <p:strVal val="visible"/>
                                      </p:to>
                                    </p:set>
                                    <p:animEffect filter="fade" transition="in">
                                      <p:cBhvr>
                                        <p:cTn dur="1000"/>
                                        <p:tgtEl>
                                          <p:spTgt spid="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
                                        </p:tgtEl>
                                        <p:attrNameLst>
                                          <p:attrName>style.visibility</p:attrName>
                                        </p:attrNameLst>
                                      </p:cBhvr>
                                      <p:to>
                                        <p:strVal val="visible"/>
                                      </p:to>
                                    </p:set>
                                    <p:animEffect filter="fade" transition="in">
                                      <p:cBhvr>
                                        <p:cTn dur="1000"/>
                                        <p:tgtEl>
                                          <p:spTgt spid="100"/>
                                        </p:tgtEl>
                                      </p:cBhvr>
                                    </p:animEffect>
                                  </p:childTnLst>
                                </p:cTn>
                              </p:par>
                              <p:par>
                                <p:cTn fill="hold" nodeType="withEffect" presetClass="entr" presetID="10" presetSubtype="0">
                                  <p:stCondLst>
                                    <p:cond delay="0"/>
                                  </p:stCondLst>
                                  <p:childTnLst>
                                    <p:set>
                                      <p:cBhvr>
                                        <p:cTn dur="1" fill="hold">
                                          <p:stCondLst>
                                            <p:cond delay="0"/>
                                          </p:stCondLst>
                                        </p:cTn>
                                        <p:tgtEl>
                                          <p:spTgt spid="99"/>
                                        </p:tgtEl>
                                        <p:attrNameLst>
                                          <p:attrName>style.visibility</p:attrName>
                                        </p:attrNameLst>
                                      </p:cBhvr>
                                      <p:to>
                                        <p:strVal val="visible"/>
                                      </p:to>
                                    </p:set>
                                    <p:animEffect filter="fade" transition="in">
                                      <p:cBhvr>
                                        <p:cTn dur="1000"/>
                                        <p:tgtEl>
                                          <p:spTgt spid="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API</a:t>
            </a:r>
            <a:endParaRPr/>
          </a:p>
        </p:txBody>
      </p:sp>
      <p:sp>
        <p:nvSpPr>
          <p:cNvPr id="106" name="Google Shape;106;p18"/>
          <p:cNvSpPr txBox="1"/>
          <p:nvPr>
            <p:ph idx="1" type="body"/>
          </p:nvPr>
        </p:nvSpPr>
        <p:spPr>
          <a:xfrm>
            <a:off x="311700" y="1152475"/>
            <a:ext cx="4260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Alongside the web interface for GPT-3, OpenAI released an API (application programming interface), which allows users to create their own code that accesses the AI model.</a:t>
            </a:r>
            <a:endParaRPr/>
          </a:p>
          <a:p>
            <a:pPr indent="0" lvl="0" marL="0" rtl="0" algn="l">
              <a:spcBef>
                <a:spcPts val="1600"/>
              </a:spcBef>
              <a:spcAft>
                <a:spcPts val="1600"/>
              </a:spcAft>
              <a:buNone/>
            </a:pPr>
            <a:r>
              <a:rPr lang="en"/>
              <a:t>This allows the model to be applied to any technology and for users to program automated Q&amp;A systems rather than manually typing questions into the web interface.</a:t>
            </a:r>
            <a:endParaRPr/>
          </a:p>
        </p:txBody>
      </p:sp>
      <p:pic>
        <p:nvPicPr>
          <p:cNvPr id="107" name="Google Shape;107;p18"/>
          <p:cNvPicPr preferRelativeResize="0"/>
          <p:nvPr/>
        </p:nvPicPr>
        <p:blipFill rotWithShape="1">
          <a:blip r:embed="rId3">
            <a:alphaModFix/>
          </a:blip>
          <a:srcRect b="0" l="49835" r="28669" t="28561"/>
          <a:stretch/>
        </p:blipFill>
        <p:spPr>
          <a:xfrm>
            <a:off x="4589300" y="733800"/>
            <a:ext cx="2221176" cy="4152651"/>
          </a:xfrm>
          <a:prstGeom prst="rect">
            <a:avLst/>
          </a:prstGeom>
          <a:noFill/>
          <a:ln>
            <a:noFill/>
          </a:ln>
        </p:spPr>
      </p:pic>
      <p:pic>
        <p:nvPicPr>
          <p:cNvPr id="108" name="Google Shape;108;p18"/>
          <p:cNvPicPr preferRelativeResize="0"/>
          <p:nvPr/>
        </p:nvPicPr>
        <p:blipFill rotWithShape="1">
          <a:blip r:embed="rId4">
            <a:alphaModFix/>
          </a:blip>
          <a:srcRect b="8588" l="31870" r="43558" t="21981"/>
          <a:stretch/>
        </p:blipFill>
        <p:spPr>
          <a:xfrm>
            <a:off x="6927650" y="733800"/>
            <a:ext cx="2022077" cy="3571124"/>
          </a:xfrm>
          <a:prstGeom prst="rect">
            <a:avLst/>
          </a:prstGeom>
          <a:noFill/>
          <a:ln>
            <a:noFill/>
          </a:ln>
        </p:spPr>
      </p:pic>
      <p:pic>
        <p:nvPicPr>
          <p:cNvPr id="109" name="Google Shape;109;p18"/>
          <p:cNvPicPr preferRelativeResize="0"/>
          <p:nvPr/>
        </p:nvPicPr>
        <p:blipFill rotWithShape="1">
          <a:blip r:embed="rId4">
            <a:alphaModFix/>
          </a:blip>
          <a:srcRect b="78020" l="31870" r="43558" t="10672"/>
          <a:stretch/>
        </p:blipFill>
        <p:spPr>
          <a:xfrm>
            <a:off x="6927650" y="4295109"/>
            <a:ext cx="2022077" cy="5815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Semi-supervised Learning</a:t>
            </a:r>
            <a:endParaRPr/>
          </a:p>
        </p:txBody>
      </p:sp>
      <p:sp>
        <p:nvSpPr>
          <p:cNvPr id="115" name="Google Shape;115;p19"/>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Semi-supervised models are models that learn from a </a:t>
            </a:r>
            <a:r>
              <a:rPr lang="en"/>
              <a:t>small amount of annotated data</a:t>
            </a:r>
            <a:r>
              <a:rPr lang="en"/>
              <a:t> alongside a </a:t>
            </a:r>
            <a:r>
              <a:rPr lang="en"/>
              <a:t>large amount of unannotated data. </a:t>
            </a:r>
            <a:endParaRPr/>
          </a:p>
          <a:p>
            <a:pPr indent="0" lvl="0" marL="0" rtl="0" algn="l">
              <a:spcBef>
                <a:spcPts val="1600"/>
              </a:spcBef>
              <a:spcAft>
                <a:spcPts val="0"/>
              </a:spcAft>
              <a:buNone/>
            </a:pPr>
            <a:r>
              <a:t/>
            </a:r>
            <a:endParaRPr sz="100"/>
          </a:p>
          <a:p>
            <a:pPr indent="0" lvl="0" marL="0" rtl="0" algn="l">
              <a:spcBef>
                <a:spcPts val="1600"/>
              </a:spcBef>
              <a:spcAft>
                <a:spcPts val="0"/>
              </a:spcAft>
              <a:buNone/>
            </a:pPr>
            <a:r>
              <a:rPr lang="en"/>
              <a:t>In the case of GPT-3, the unannotated data is the billions of texts from around the web it has learned from, whereas the annotated data is the user-provided context.</a:t>
            </a:r>
            <a:endParaRPr/>
          </a:p>
          <a:p>
            <a:pPr indent="0" lvl="0" marL="0" rtl="0" algn="l">
              <a:spcBef>
                <a:spcPts val="1600"/>
              </a:spcBef>
              <a:spcAft>
                <a:spcPts val="0"/>
              </a:spcAft>
              <a:buNone/>
            </a:pPr>
            <a:r>
              <a:t/>
            </a:r>
            <a:endParaRPr sz="100"/>
          </a:p>
          <a:p>
            <a:pPr indent="0" lvl="0" marL="0" rtl="0" algn="l">
              <a:spcBef>
                <a:spcPts val="1600"/>
              </a:spcBef>
              <a:spcAft>
                <a:spcPts val="1600"/>
              </a:spcAft>
              <a:buNone/>
            </a:pPr>
            <a:r>
              <a:rPr lang="en"/>
              <a:t>This combination allows for a general model that is fast and powerful, but remains endlessly customizable for individual user needs.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Advantages of GPT-3</a:t>
            </a:r>
            <a:endParaRPr/>
          </a:p>
        </p:txBody>
      </p:sp>
      <p:sp>
        <p:nvSpPr>
          <p:cNvPr id="121" name="Google Shape;121;p20"/>
          <p:cNvSpPr txBox="1"/>
          <p:nvPr>
            <p:ph idx="1" type="body"/>
          </p:nvPr>
        </p:nvSpPr>
        <p:spPr>
          <a:xfrm>
            <a:off x="235500" y="1152475"/>
            <a:ext cx="8726400" cy="1464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000000"/>
              </a:buClr>
              <a:buSzPts val="1800"/>
              <a:buChar char="●"/>
            </a:pPr>
            <a:r>
              <a:rPr lang="en">
                <a:solidFill>
                  <a:srgbClr val="000000"/>
                </a:solidFill>
              </a:rPr>
              <a:t>Flexible for nearly any use case.</a:t>
            </a:r>
            <a:endParaRPr>
              <a:solidFill>
                <a:srgbClr val="000000"/>
              </a:solidFill>
            </a:endParaRPr>
          </a:p>
          <a:p>
            <a:pPr indent="0" lvl="0" marL="0" rtl="0" algn="l">
              <a:spcBef>
                <a:spcPts val="1600"/>
              </a:spcBef>
              <a:spcAft>
                <a:spcPts val="1600"/>
              </a:spcAft>
              <a:buNone/>
            </a:pPr>
            <a:r>
              <a:rPr lang="en" sz="1400"/>
              <a:t>Whereas most AI models are designed for one specific purpose, GPT-3’s ability to learn structure through context allows it to be used for anything. In the legal industry, this means one tool that can be used for contract review, document automation, e-Discovery, and more.</a:t>
            </a:r>
            <a:endParaRPr sz="1400"/>
          </a:p>
        </p:txBody>
      </p:sp>
      <p:sp>
        <p:nvSpPr>
          <p:cNvPr id="122" name="Google Shape;122;p20"/>
          <p:cNvSpPr txBox="1"/>
          <p:nvPr>
            <p:ph idx="1" type="body"/>
          </p:nvPr>
        </p:nvSpPr>
        <p:spPr>
          <a:xfrm>
            <a:off x="235500" y="2164126"/>
            <a:ext cx="8726400" cy="146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600"/>
          </a:p>
          <a:p>
            <a:pPr indent="-342900" lvl="0" marL="457200" rtl="0" algn="l">
              <a:spcBef>
                <a:spcPts val="1600"/>
              </a:spcBef>
              <a:spcAft>
                <a:spcPts val="0"/>
              </a:spcAft>
              <a:buClr>
                <a:srgbClr val="000000"/>
              </a:buClr>
              <a:buSzPts val="1800"/>
              <a:buChar char="●"/>
            </a:pPr>
            <a:r>
              <a:rPr lang="en">
                <a:solidFill>
                  <a:srgbClr val="000000"/>
                </a:solidFill>
              </a:rPr>
              <a:t>Requires minimal training data.</a:t>
            </a:r>
            <a:endParaRPr>
              <a:solidFill>
                <a:srgbClr val="000000"/>
              </a:solidFill>
            </a:endParaRPr>
          </a:p>
          <a:p>
            <a:pPr indent="0" lvl="0" marL="0" rtl="0" algn="l">
              <a:spcBef>
                <a:spcPts val="1600"/>
              </a:spcBef>
              <a:spcAft>
                <a:spcPts val="1600"/>
              </a:spcAft>
              <a:buNone/>
            </a:pPr>
            <a:r>
              <a:rPr lang="en" sz="1400"/>
              <a:t>GPT-3 has training data from almost any kind of information on the web already, meaning it doesn’t require thousands of pieces of user-provided data to start producing an accurate result.</a:t>
            </a:r>
            <a:endParaRPr sz="1400"/>
          </a:p>
        </p:txBody>
      </p:sp>
      <p:sp>
        <p:nvSpPr>
          <p:cNvPr id="123" name="Google Shape;123;p20"/>
          <p:cNvSpPr txBox="1"/>
          <p:nvPr/>
        </p:nvSpPr>
        <p:spPr>
          <a:xfrm>
            <a:off x="235500" y="3927690"/>
            <a:ext cx="8726400" cy="30000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Char char="●"/>
            </a:pPr>
            <a:r>
              <a:rPr lang="en" sz="1800">
                <a:solidFill>
                  <a:schemeClr val="dk1"/>
                </a:solidFill>
              </a:rPr>
              <a:t>Is simple and intuitive.</a:t>
            </a:r>
            <a:endParaRPr sz="1800">
              <a:solidFill>
                <a:schemeClr val="dk1"/>
              </a:solidFill>
            </a:endParaRPr>
          </a:p>
          <a:p>
            <a:pPr indent="0" lvl="0" marL="0" rtl="0" algn="l">
              <a:lnSpc>
                <a:spcPct val="115000"/>
              </a:lnSpc>
              <a:spcBef>
                <a:spcPts val="1600"/>
              </a:spcBef>
              <a:spcAft>
                <a:spcPts val="1600"/>
              </a:spcAft>
              <a:buNone/>
            </a:pPr>
            <a:r>
              <a:rPr lang="en">
                <a:solidFill>
                  <a:schemeClr val="dk2"/>
                </a:solidFill>
              </a:rPr>
              <a:t>The web interface is clean and self-explanatory, and the API is </a:t>
            </a:r>
            <a:r>
              <a:rPr lang="en">
                <a:solidFill>
                  <a:schemeClr val="dk2"/>
                </a:solidFill>
              </a:rPr>
              <a:t>more straightforward than most others.</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1000"/>
                                        <p:tgtEl>
                                          <p:spTgt spid="1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gtEl>
                                        <p:attrNameLst>
                                          <p:attrName>style.visibility</p:attrName>
                                        </p:attrNameLst>
                                      </p:cBhvr>
                                      <p:to>
                                        <p:strVal val="visible"/>
                                      </p:to>
                                    </p:set>
                                    <p:animEffect filter="fade" transition="in">
                                      <p:cBhvr>
                                        <p:cTn dur="1000"/>
                                        <p:tgtEl>
                                          <p:spTgt spid="1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gtEl>
                                        <p:attrNameLst>
                                          <p:attrName>style.visibility</p:attrName>
                                        </p:attrNameLst>
                                      </p:cBhvr>
                                      <p:to>
                                        <p:strVal val="visible"/>
                                      </p:to>
                                    </p:set>
                                    <p:animEffect filter="fade" transition="in">
                                      <p:cBhvr>
                                        <p:cTn dur="1000"/>
                                        <p:tgtEl>
                                          <p:spTgt spid="1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Read More</a:t>
            </a:r>
            <a:endParaRPr/>
          </a:p>
        </p:txBody>
      </p:sp>
      <p:sp>
        <p:nvSpPr>
          <p:cNvPr id="129" name="Google Shape;129;p21"/>
          <p:cNvSpPr txBox="1"/>
          <p:nvPr>
            <p:ph idx="1" type="body"/>
          </p:nvPr>
        </p:nvSpPr>
        <p:spPr>
          <a:xfrm>
            <a:off x="311700" y="3057475"/>
            <a:ext cx="8520600" cy="188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learn more about OpenAI and GPT-3, visit </a:t>
            </a:r>
            <a:r>
              <a:rPr lang="en" u="sng">
                <a:solidFill>
                  <a:schemeClr val="hlink"/>
                </a:solidFill>
                <a:hlinkClick r:id="rId3"/>
              </a:rPr>
              <a:t>their website</a:t>
            </a:r>
            <a:r>
              <a:rPr lang="en"/>
              <a:t>,</a:t>
            </a:r>
            <a:r>
              <a:rPr lang="en"/>
              <a:t> or these blog posts about the </a:t>
            </a:r>
            <a:r>
              <a:rPr lang="en" u="sng">
                <a:solidFill>
                  <a:schemeClr val="hlink"/>
                </a:solidFill>
                <a:hlinkClick r:id="rId4"/>
              </a:rPr>
              <a:t>API</a:t>
            </a:r>
            <a:r>
              <a:rPr lang="en"/>
              <a:t> and the </a:t>
            </a:r>
            <a:r>
              <a:rPr lang="en" u="sng">
                <a:solidFill>
                  <a:schemeClr val="hlink"/>
                </a:solidFill>
                <a:hlinkClick r:id="rId5"/>
              </a:rPr>
              <a:t>unique strengths of the model.</a:t>
            </a:r>
            <a:endParaRPr/>
          </a:p>
          <a:p>
            <a:pPr indent="0" lvl="0" marL="0" rtl="0" algn="l">
              <a:spcBef>
                <a:spcPts val="1600"/>
              </a:spcBef>
              <a:spcAft>
                <a:spcPts val="1600"/>
              </a:spcAft>
              <a:buNone/>
            </a:pPr>
            <a:r>
              <a:rPr lang="en"/>
              <a:t>OpenAI has developed several other technologies, such as the </a:t>
            </a:r>
            <a:r>
              <a:rPr lang="en" u="sng">
                <a:solidFill>
                  <a:schemeClr val="hlink"/>
                </a:solidFill>
                <a:hlinkClick r:id="rId6"/>
              </a:rPr>
              <a:t>OpenAI Gym</a:t>
            </a:r>
            <a:r>
              <a:rPr lang="en"/>
              <a:t>, a set of tools for developing reinforcement learning models, and </a:t>
            </a:r>
            <a:r>
              <a:rPr lang="en" u="sng">
                <a:solidFill>
                  <a:schemeClr val="hlink"/>
                </a:solidFill>
                <a:hlinkClick r:id="rId7"/>
              </a:rPr>
              <a:t>OpenAI Five</a:t>
            </a:r>
            <a:r>
              <a:rPr lang="en"/>
              <a:t>, an AI model that is learning how to play the competitive video game Dota 2.</a:t>
            </a:r>
            <a:endParaRPr/>
          </a:p>
        </p:txBody>
      </p:sp>
      <p:pic>
        <p:nvPicPr>
          <p:cNvPr id="130" name="Google Shape;130;p21"/>
          <p:cNvPicPr preferRelativeResize="0"/>
          <p:nvPr/>
        </p:nvPicPr>
        <p:blipFill rotWithShape="1">
          <a:blip r:embed="rId8">
            <a:alphaModFix/>
          </a:blip>
          <a:srcRect b="44441" l="0" r="0" t="0"/>
          <a:stretch/>
        </p:blipFill>
        <p:spPr>
          <a:xfrm>
            <a:off x="1549600" y="1093350"/>
            <a:ext cx="6044811" cy="1888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