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1DABA1-096F-4A14-89D3-206A15811165}">
  <a:tblStyle styleId="{1A1DABA1-096F-4A14-89D3-206A158111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e563d44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e563d44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8e5b6fda6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8e5b6fda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e5b6fda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8e5b6fda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ab925fb6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ab925fb6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e5b6fda6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e5b6fda6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a241ace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a241ace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e5b6fda6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e5b6fda6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e5b6fda6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e5b6fda6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8a241ac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8a241ac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e5b6fda6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e5b6fda6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e5b6fda6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e5b6fda6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8e5b6fda6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8e5b6fda6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8e5b6fda6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8e5b6fda6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8ca5574f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8ca5574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e5b6fda6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e5b6fda6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7qn_d-iy4oywQJQ9lZ1VBQrDQ99-6jTEK-ya6skYB5E/edit#slide=id.g8a8042baca_0_9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.xml"/><Relationship Id="rId4" Type="http://schemas.openxmlformats.org/officeDocument/2006/relationships/slide" Target="/ppt/slides/slide8.xml"/><Relationship Id="rId5" Type="http://schemas.openxmlformats.org/officeDocument/2006/relationships/slide" Target="/ppt/slides/slide15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>
                <a:solidFill>
                  <a:srgbClr val="000000"/>
                </a:solidFill>
              </a:rPr>
              <a:t>LP Deep Dive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learning how to read like humans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52600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NLP</a:t>
            </a:r>
            <a:r>
              <a:rPr lang="en"/>
              <a:t>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744175" y="1506250"/>
            <a:ext cx="7718100" cy="30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From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previous lessons</a:t>
            </a:r>
            <a:r>
              <a:rPr lang="en" sz="2200"/>
              <a:t>, yo</a:t>
            </a:r>
            <a:r>
              <a:rPr lang="en" sz="2200">
                <a:solidFill>
                  <a:srgbClr val="666666"/>
                </a:solidFill>
              </a:rPr>
              <a:t>u might have learned th</a:t>
            </a:r>
            <a:r>
              <a:rPr lang="en" sz="2200"/>
              <a:t>at NLP is AI that is trained to understand natural language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NLP will allow the AI to break down human text into something the AI can understand 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NLP </a:t>
            </a:r>
            <a:r>
              <a:rPr lang="en"/>
              <a:t>Processing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028000" y="1691075"/>
            <a:ext cx="7718100" cy="30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u="sng">
                <a:solidFill>
                  <a:schemeClr val="hlink"/>
                </a:solidFill>
                <a:hlinkClick action="ppaction://hlinksldjump" r:id="rId3"/>
              </a:rPr>
              <a:t>Text Preprocessing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u="sng">
                <a:solidFill>
                  <a:schemeClr val="hlink"/>
                </a:solidFill>
                <a:hlinkClick action="ppaction://hlinksldjump" r:id="rId4"/>
              </a:rPr>
              <a:t>Feature Engineering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u="sng">
                <a:solidFill>
                  <a:schemeClr val="hlink"/>
                </a:solidFill>
                <a:hlinkClick action="ppaction://hlinksldjump" r:id="rId5"/>
              </a:rPr>
              <a:t>Text Classification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Text Preprocessing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503050" y="1187525"/>
            <a:ext cx="12447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365950" y="1837825"/>
            <a:ext cx="1518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Noise Removal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126850" y="2488125"/>
            <a:ext cx="1997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Lexicon Normalization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1699900" y="3786125"/>
            <a:ext cx="140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Stemming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5100100" y="3786175"/>
            <a:ext cx="15189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Lemmatization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126850" y="4345625"/>
            <a:ext cx="1997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6"/>
          <p:cNvCxnSpPr>
            <a:stCxn id="74" idx="2"/>
            <a:endCxn id="75" idx="0"/>
          </p:cNvCxnSpPr>
          <p:nvPr/>
        </p:nvCxnSpPr>
        <p:spPr>
          <a:xfrm>
            <a:off x="4125400" y="1543325"/>
            <a:ext cx="0" cy="2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>
            <a:stCxn id="75" idx="2"/>
            <a:endCxn id="76" idx="0"/>
          </p:cNvCxnSpPr>
          <p:nvPr/>
        </p:nvCxnSpPr>
        <p:spPr>
          <a:xfrm>
            <a:off x="4125400" y="2193625"/>
            <a:ext cx="0" cy="2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>
            <a:stCxn id="76" idx="2"/>
            <a:endCxn id="77" idx="0"/>
          </p:cNvCxnSpPr>
          <p:nvPr/>
        </p:nvCxnSpPr>
        <p:spPr>
          <a:xfrm flipH="1">
            <a:off x="2401600" y="2843925"/>
            <a:ext cx="1723800" cy="9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6"/>
          <p:cNvCxnSpPr>
            <a:stCxn id="76" idx="2"/>
            <a:endCxn id="78" idx="0"/>
          </p:cNvCxnSpPr>
          <p:nvPr/>
        </p:nvCxnSpPr>
        <p:spPr>
          <a:xfrm>
            <a:off x="4125400" y="2843925"/>
            <a:ext cx="1734300" cy="9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6"/>
          <p:cNvSpPr txBox="1"/>
          <p:nvPr/>
        </p:nvSpPr>
        <p:spPr>
          <a:xfrm>
            <a:off x="177850" y="3323875"/>
            <a:ext cx="12447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Tokenization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38150"/>
            <a:ext cx="27009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Sentence tokenization: Breaks down a paragraph into sentence</a:t>
            </a:r>
            <a:endParaRPr sz="1700">
              <a:solidFill>
                <a:srgbClr val="43434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Word tokenization: Breaks down a sentence into words</a:t>
            </a:r>
            <a:endParaRPr sz="17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354275" y="3548950"/>
            <a:ext cx="15048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Watch how this paragraph gets </a:t>
            </a:r>
            <a:r>
              <a:rPr lang="en">
                <a:solidFill>
                  <a:srgbClr val="666666"/>
                </a:solidFill>
              </a:rPr>
              <a:t>decomposed</a:t>
            </a:r>
            <a:r>
              <a:rPr lang="en">
                <a:solidFill>
                  <a:srgbClr val="666666"/>
                </a:solidFill>
              </a:rPr>
              <a:t>.</a:t>
            </a:r>
            <a:endParaRPr>
              <a:solidFill>
                <a:srgbClr val="666666"/>
              </a:solidFill>
            </a:endParaRPr>
          </a:p>
        </p:txBody>
      </p:sp>
      <p:cxnSp>
        <p:nvCxnSpPr>
          <p:cNvPr id="92" name="Google Shape;92;p17"/>
          <p:cNvCxnSpPr/>
          <p:nvPr/>
        </p:nvCxnSpPr>
        <p:spPr>
          <a:xfrm flipH="1" rot="10800000">
            <a:off x="2859000" y="3152650"/>
            <a:ext cx="262200" cy="8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3" name="Google Shape;93;p17"/>
          <p:cNvGraphicFramePr/>
          <p:nvPr/>
        </p:nvGraphicFramePr>
        <p:xfrm>
          <a:off x="3087600" y="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995125"/>
                <a:gridCol w="2862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4" name="Google Shape;94;p17"/>
          <p:cNvGraphicFramePr/>
          <p:nvPr/>
        </p:nvGraphicFramePr>
        <p:xfrm>
          <a:off x="3087600" y="5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834600"/>
              </a:tblGrid>
              <a:tr h="50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Sentence Tokenization: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This Agreement will be governed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and construed in accordance with the laws of the State of California without giving effect to conflict of laws principles. Both parties submit to personal jurisdiction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 California and further agree that any cause of action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arising under this Agreement shall be brought in a court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 Orange County, California.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5" name="Google Shape;95;p17"/>
          <p:cNvGraphicFramePr/>
          <p:nvPr/>
        </p:nvGraphicFramePr>
        <p:xfrm>
          <a:off x="6227000" y="5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700900"/>
              </a:tblGrid>
              <a:tr h="39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51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“This Agreement will be governed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and construed in accordance with the laws of the State of California without giving effect to conflict of laws principles.”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“Both parties submit to personal jurisdiction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 California and further agree that any cause of action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arising under this Agreement shall be brought in a court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 Orange County, California”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6" name="Google Shape;96;p17"/>
          <p:cNvGraphicFramePr/>
          <p:nvPr/>
        </p:nvGraphicFramePr>
        <p:xfrm>
          <a:off x="3087600" y="35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834600"/>
              </a:tblGrid>
              <a:tr h="4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Word </a:t>
                      </a:r>
                      <a:r>
                        <a:rPr lang="en"/>
                        <a:t>Tokenization: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6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governed and construed in accordance with the laws of the State of California without giving effect to conflict of laws principles.”,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7" name="Google Shape;97;p17"/>
          <p:cNvGraphicFramePr/>
          <p:nvPr/>
        </p:nvGraphicFramePr>
        <p:xfrm>
          <a:off x="6227000" y="3548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700900"/>
              </a:tblGrid>
              <a:tr h="37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2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“This”, “Agreement”, “will”, “be”, “governed”, “and”, “construed”, “in”, “accordance”, “with”, “the”, “State”, “of”, ”California”, “without”, “giving”, “effect”, “to”, “conflict”, “of”, “laws”, “principles”.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8" name="Google Shape;98;p17"/>
          <p:cNvCxnSpPr/>
          <p:nvPr/>
        </p:nvCxnSpPr>
        <p:spPr>
          <a:xfrm flipH="1" rot="10800000">
            <a:off x="5635975" y="2038375"/>
            <a:ext cx="793500" cy="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/>
          <p:nvPr/>
        </p:nvCxnSpPr>
        <p:spPr>
          <a:xfrm flipH="1" rot="10800000">
            <a:off x="5800125" y="4185800"/>
            <a:ext cx="492600" cy="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380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Noise Removal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379975"/>
            <a:ext cx="380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Remove </a:t>
            </a:r>
            <a:r>
              <a:rPr lang="en">
                <a:solidFill>
                  <a:srgbClr val="434343"/>
                </a:solidFill>
              </a:rPr>
              <a:t>Stop Words 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Words</a:t>
            </a:r>
            <a:r>
              <a:rPr lang="en">
                <a:solidFill>
                  <a:srgbClr val="434343"/>
                </a:solidFill>
              </a:rPr>
              <a:t> that have no meaning and only used for grammatical syntax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“The”, “a”, “an”, etc. You can choose your stop words list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Punctuation can also be removed.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" name="Google Shape;106;p18"/>
          <p:cNvGraphicFramePr/>
          <p:nvPr/>
        </p:nvGraphicFramePr>
        <p:xfrm>
          <a:off x="4141975" y="107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425625"/>
                <a:gridCol w="2463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7" name="Google Shape;107;p18"/>
          <p:cNvGraphicFramePr/>
          <p:nvPr/>
        </p:nvGraphicFramePr>
        <p:xfrm>
          <a:off x="4141975" y="1758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222300"/>
              </a:tblGrid>
              <a:tr h="4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Noise Removal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8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“This Agreement will be governed and construed in accordance with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the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laws of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the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State of California without giving effect to conflict of laws principles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Highlighted words/punctuation were removed.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8" name="Google Shape;108;p18"/>
          <p:cNvGraphicFramePr/>
          <p:nvPr/>
        </p:nvGraphicFramePr>
        <p:xfrm>
          <a:off x="6808975" y="1758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222300"/>
              </a:tblGrid>
              <a:tr h="4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89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“This Agreement will be governed and construed in accordance with laws of State of California without giving effect to conflict of laws principles”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09" name="Google Shape;109;p18"/>
          <p:cNvCxnSpPr/>
          <p:nvPr/>
        </p:nvCxnSpPr>
        <p:spPr>
          <a:xfrm flipH="1" rot="10800000">
            <a:off x="6251550" y="2490613"/>
            <a:ext cx="670200" cy="1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Lexicon Normalization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147050" y="1207700"/>
            <a:ext cx="390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Stemming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Strip the suffixes such as ing, ly, es, s, etc from a word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It’s rule-based process.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Lemmatization 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This process changes words to their base form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It makes use of vocabulary (dictionary importance of words) and morphological analysis (word structure and grammar relations)</a:t>
            </a:r>
            <a:endParaRPr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graphicFrame>
        <p:nvGraphicFramePr>
          <p:cNvPr id="116" name="Google Shape;116;p19"/>
          <p:cNvGraphicFramePr/>
          <p:nvPr/>
        </p:nvGraphicFramePr>
        <p:xfrm>
          <a:off x="4049150" y="1732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262625"/>
              </a:tblGrid>
              <a:tr h="42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Word Tokenization: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0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governed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construed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 accordance with laws of State of California without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giving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effect to conflict of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laws principles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(Highlighted words were lexically normalized)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7" name="Google Shape;117;p19"/>
          <p:cNvGraphicFramePr/>
          <p:nvPr/>
        </p:nvGraphicFramePr>
        <p:xfrm>
          <a:off x="6764675" y="174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169475"/>
              </a:tblGrid>
              <a:tr h="48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96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 and construe in accord with law of state of California without give effect to conflict of law principle”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" name="Google Shape;118;p19"/>
          <p:cNvGraphicFramePr/>
          <p:nvPr/>
        </p:nvGraphicFramePr>
        <p:xfrm>
          <a:off x="4049150" y="132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496875"/>
                <a:gridCol w="2394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9" name="Google Shape;119;p19"/>
          <p:cNvCxnSpPr/>
          <p:nvPr/>
        </p:nvCxnSpPr>
        <p:spPr>
          <a:xfrm flipH="1" rot="10800000">
            <a:off x="6196825" y="2489725"/>
            <a:ext cx="615600" cy="4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Feature Engineering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880125" y="1247425"/>
            <a:ext cx="7570800" cy="28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</a:rPr>
              <a:t>Features need be generated to analyze the pro-processed data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>
                <a:solidFill>
                  <a:srgbClr val="434343"/>
                </a:solidFill>
              </a:rPr>
              <a:t>Entity Extraction - Grouping words into predefined categories.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>
                <a:solidFill>
                  <a:srgbClr val="434343"/>
                </a:solidFill>
              </a:rPr>
              <a:t>Syntactical Parsing - Analyzing words and conforming them to normal grammar.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>
                <a:solidFill>
                  <a:srgbClr val="434343"/>
                </a:solidFill>
              </a:rPr>
              <a:t>Statistical Features - Keep track of how much words show up.</a:t>
            </a:r>
            <a:endParaRPr sz="22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Entity </a:t>
            </a:r>
            <a:r>
              <a:rPr lang="en">
                <a:solidFill>
                  <a:srgbClr val="000000"/>
                </a:solidFill>
              </a:rPr>
              <a:t>Extraction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273700"/>
            <a:ext cx="3726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Entity Extraction 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Words are grouped based on predefined categories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N-Grams as Features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N is a numeric variable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A combination of N words together 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Bigrams (N=2) are considered to be the most important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2" name="Google Shape;132;p21"/>
          <p:cNvGraphicFramePr/>
          <p:nvPr/>
        </p:nvGraphicFramePr>
        <p:xfrm>
          <a:off x="4038300" y="6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1993450"/>
              </a:tblGrid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Entity Extraction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 and construe in accord with law of state of California without give effect to conflict of law principle”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3" name="Google Shape;133;p21"/>
          <p:cNvGraphicFramePr/>
          <p:nvPr/>
        </p:nvGraphicFramePr>
        <p:xfrm>
          <a:off x="6640475" y="655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3047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72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Item: Agreement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Location: State of California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4" name="Google Shape;134;p21"/>
          <p:cNvGraphicFramePr/>
          <p:nvPr/>
        </p:nvGraphicFramePr>
        <p:xfrm>
          <a:off x="4038300" y="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247350"/>
                <a:gridCol w="2659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5" name="Google Shape;135;p21"/>
          <p:cNvCxnSpPr/>
          <p:nvPr/>
        </p:nvCxnSpPr>
        <p:spPr>
          <a:xfrm flipH="1" rot="10800000">
            <a:off x="5772750" y="1258450"/>
            <a:ext cx="984900" cy="1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6" name="Google Shape;136;p21"/>
          <p:cNvGraphicFramePr/>
          <p:nvPr/>
        </p:nvGraphicFramePr>
        <p:xfrm>
          <a:off x="4038300" y="282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1993450"/>
              </a:tblGrid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Bigrams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 and construe in accord with law of state of California without give effect to conflict of law principle”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7" name="Google Shape;137;p21"/>
          <p:cNvGraphicFramePr/>
          <p:nvPr/>
        </p:nvGraphicFramePr>
        <p:xfrm>
          <a:off x="6640475" y="27817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304725"/>
              </a:tblGrid>
              <a:tr h="41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(This Agreement), (Agreement will), (will be), (be govern), (govern and), (and construe), etc.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8" name="Google Shape;138;p21"/>
          <p:cNvCxnSpPr/>
          <p:nvPr/>
        </p:nvCxnSpPr>
        <p:spPr>
          <a:xfrm flipH="1" rot="10800000">
            <a:off x="5800125" y="3543000"/>
            <a:ext cx="916500" cy="6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Syntactical</a:t>
            </a:r>
            <a:r>
              <a:rPr lang="en">
                <a:solidFill>
                  <a:srgbClr val="000000"/>
                </a:solidFill>
              </a:rPr>
              <a:t> Parsing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109200" y="1152475"/>
            <a:ext cx="413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Part of Speech Tagging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Every word gets a tag corresponding to its part of speech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Helps AI group words together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descr="Extract Custom Keywords using NLTK POS tagger in python - Think Infi"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338" y="2732449"/>
            <a:ext cx="2845325" cy="1128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22"/>
          <p:cNvGraphicFramePr/>
          <p:nvPr/>
        </p:nvGraphicFramePr>
        <p:xfrm>
          <a:off x="4376025" y="1169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114125"/>
                <a:gridCol w="2501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7" name="Google Shape;147;p22"/>
          <p:cNvGraphicFramePr/>
          <p:nvPr/>
        </p:nvGraphicFramePr>
        <p:xfrm>
          <a:off x="4376025" y="1687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1843450"/>
              </a:tblGrid>
              <a:tr h="70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Part of Speech Tagging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5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“This Agreement will be govern and construe in accord with law of state of California without give effect to conflict of law principle”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8" name="Google Shape;148;p22"/>
          <p:cNvGraphicFramePr/>
          <p:nvPr/>
        </p:nvGraphicFramePr>
        <p:xfrm>
          <a:off x="6710775" y="1694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2281250"/>
              </a:tblGrid>
              <a:tr h="6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“N: Agreement, laws, accord,  state, California, effect, conflict, laws, principles, giving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V: will, be, govern, construe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Det: This, and, in, with, the, of, the, of, without, to, of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49" name="Google Shape;149;p22"/>
          <p:cNvCxnSpPr/>
          <p:nvPr/>
        </p:nvCxnSpPr>
        <p:spPr>
          <a:xfrm flipH="1" rot="10800000">
            <a:off x="6065825" y="2547863"/>
            <a:ext cx="738600" cy="2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0000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Bag of Words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Keeps track of the number of times a word shows up in a sentence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TF-IDF (Term Frequency - Inverse Document </a:t>
            </a:r>
            <a:r>
              <a:rPr lang="en">
                <a:solidFill>
                  <a:srgbClr val="434343"/>
                </a:solidFill>
              </a:rPr>
              <a:t>Frequency</a:t>
            </a:r>
            <a:r>
              <a:rPr lang="en">
                <a:solidFill>
                  <a:srgbClr val="434343"/>
                </a:solidFill>
              </a:rPr>
              <a:t>)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Similar to Bag of words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Uses a formula to measure relevance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Higher TF - IDF number = more relevance to document.</a:t>
            </a:r>
            <a:endParaRPr>
              <a:solidFill>
                <a:srgbClr val="434343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</a:pPr>
            <a:r>
              <a:rPr lang="en">
                <a:solidFill>
                  <a:srgbClr val="434343"/>
                </a:solidFill>
              </a:rPr>
              <a:t>More unique words.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Statistical Features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miro.medium.com/max/532/0*bHkPdhgfnyTs4un_"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850" y="3083950"/>
            <a:ext cx="2542701" cy="19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6224175" y="2366825"/>
            <a:ext cx="119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This is log base 2</a:t>
            </a:r>
            <a:endParaRPr/>
          </a:p>
        </p:txBody>
      </p:sp>
      <p:cxnSp>
        <p:nvCxnSpPr>
          <p:cNvPr id="158" name="Google Shape;158;p23"/>
          <p:cNvCxnSpPr>
            <a:stCxn id="157" idx="1"/>
          </p:cNvCxnSpPr>
          <p:nvPr/>
        </p:nvCxnSpPr>
        <p:spPr>
          <a:xfrm flipH="1">
            <a:off x="4657275" y="2690225"/>
            <a:ext cx="1566900" cy="12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Bag of Words example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Clause 1: Laws State New York govern matter arise relate Agreement.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Clause 2: Agreement governed internal law, not law regard conflict law, State North Carolina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Clause 3: Agreement governed construed accordance with laws State California without giving effect conflict laws principles</a:t>
            </a:r>
            <a:endParaRPr>
              <a:solidFill>
                <a:srgbClr val="434343"/>
              </a:solidFill>
            </a:endParaRPr>
          </a:p>
        </p:txBody>
      </p:sp>
      <p:graphicFrame>
        <p:nvGraphicFramePr>
          <p:cNvPr id="165" name="Google Shape;165;p24"/>
          <p:cNvGraphicFramePr/>
          <p:nvPr/>
        </p:nvGraphicFramePr>
        <p:xfrm>
          <a:off x="366425" y="30652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497050"/>
                <a:gridCol w="1041425"/>
                <a:gridCol w="746800"/>
                <a:gridCol w="473850"/>
                <a:gridCol w="626300"/>
                <a:gridCol w="688950"/>
                <a:gridCol w="1015450"/>
                <a:gridCol w="738500"/>
                <a:gridCol w="747025"/>
                <a:gridCol w="736325"/>
                <a:gridCol w="1208925"/>
              </a:tblGrid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agreement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govern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principles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conflict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etc.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TF-IDF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Clause 1: Laws State New York govern matter arise relate Agreement.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Clause 2: Agreement governed internal law, not law regard conflict law, State North Carolina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Clause 3: Agreement governed construed accordance with laws State California without giving effect conflict laws principles</a:t>
            </a:r>
            <a:endParaRPr>
              <a:solidFill>
                <a:srgbClr val="434343"/>
              </a:solidFill>
            </a:endParaRPr>
          </a:p>
        </p:txBody>
      </p:sp>
      <p:graphicFrame>
        <p:nvGraphicFramePr>
          <p:cNvPr id="172" name="Google Shape;172;p25"/>
          <p:cNvGraphicFramePr/>
          <p:nvPr/>
        </p:nvGraphicFramePr>
        <p:xfrm>
          <a:off x="366425" y="3370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{1A1DABA1-096F-4A14-89D3-206A15811165}</a:tableStyleId>
              </a:tblPr>
              <a:tblGrid>
                <a:gridCol w="497050"/>
                <a:gridCol w="1041425"/>
                <a:gridCol w="746800"/>
                <a:gridCol w="473850"/>
                <a:gridCol w="626300"/>
                <a:gridCol w="688950"/>
                <a:gridCol w="1015450"/>
                <a:gridCol w="738500"/>
                <a:gridCol w="747025"/>
                <a:gridCol w="736325"/>
                <a:gridCol w="1208925"/>
              </a:tblGrid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agreement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govern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principles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conflict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etc.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3" name="Google Shape;173;p25"/>
          <p:cNvSpPr txBox="1"/>
          <p:nvPr/>
        </p:nvSpPr>
        <p:spPr>
          <a:xfrm>
            <a:off x="3036850" y="2667500"/>
            <a:ext cx="241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0.477 is a high number. In this case, the word “matter” is more relevant and unique to Clause 1.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Identification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Given that Clause 1 and 2 are governing law clauses, the AI would think that: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“California”, “North Carolina”, and “New York” are all locations (Entity Extraction)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The first four words have a low TF-IDF score, meaning they are shared across many documents. This means the words appear in documents like those(TF-IDF)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There is usually a word which is a location, and it is usually the answer.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So, the AI would say that Clause 3 is a governing law clause, and that the answer is “California”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775" y="3188275"/>
            <a:ext cx="3365650" cy="16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19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Text Classification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824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A technique to systematically classify a text object such as document or sentence in one of the fixed categories. </a:t>
            </a:r>
            <a:endParaRPr sz="17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A typical natural language </a:t>
            </a:r>
            <a:r>
              <a:rPr lang="en" sz="1700">
                <a:solidFill>
                  <a:srgbClr val="434343"/>
                </a:solidFill>
              </a:rPr>
              <a:t>classifier</a:t>
            </a:r>
            <a:r>
              <a:rPr lang="en" sz="1700">
                <a:solidFill>
                  <a:srgbClr val="434343"/>
                </a:solidFill>
              </a:rPr>
              <a:t> consists of two parts: training and prediction. First the text input is processed and features are created. The machine learning models learn the features and is used for prediction against the new text.</a:t>
            </a:r>
            <a:endParaRPr sz="17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36075"/>
            <a:ext cx="8520601" cy="250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19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Text </a:t>
            </a:r>
            <a:r>
              <a:rPr lang="en">
                <a:solidFill>
                  <a:srgbClr val="000000"/>
                </a:solidFill>
              </a:rPr>
              <a:t>Classification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723475"/>
            <a:ext cx="8520600" cy="3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training_corpus = [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(“This Development Agreement is entered as of this 13th Day of September 2019”, 'Effective Date’),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("Agreement made this 9th Day of March 2020", ‘Effective Date'),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(“This Agreement shall be in effect until March 13, 2021”, 'Expiration Date’),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(“The Term of this Agreement shall commence on the Commencement Date and shall terminate on June 4 2020”, 'Expiration Date')]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test_corpus = [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(“This term of this Agreement shall continue for one (1) year following the Launch Date"), --&gt; 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'Expiration Date'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("This Sponsored Research and and License Agreement is entered into on November 28, 2018"), 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'Effective Date’</a:t>
            </a:r>
            <a:endParaRPr sz="1000">
              <a:solidFill>
                <a:srgbClr val="00000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("The term of this Agreement shall commence on the Effective Date and shall expire on the last day of the Royalty Term"), 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'Expiration Date'</a:t>
            </a:r>
            <a:r>
              <a:rPr lang="en" sz="1000">
                <a:solidFill>
                  <a:srgbClr val="0000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