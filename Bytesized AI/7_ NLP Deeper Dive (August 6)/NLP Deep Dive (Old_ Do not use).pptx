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B071A9-04E6-4BB1-A028-27635F7466DF}">
  <a:tblStyle styleId="{30B071A9-04E6-4BB1-A028-27635F7466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8cae3c99b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8cae3c99b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8ed72ec16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8ed72ec16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8ab925fb62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8ab925fb62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8a241aceb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8a241aceb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8a241ace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8a241ace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8a1d75bbd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8a1d75bbd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8ca5574f0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8ca5574f0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8ca5574f0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8ca5574f0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8ca5574f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8ca5574f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presentation/d/17qn_d-iy4oywQJQ9lZ1VBQrDQ99-6jTEK-ya6skYB5E/edit#slide=id.g8a8042baca_0_96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lang="en">
                <a:solidFill>
                  <a:srgbClr val="000000"/>
                </a:solidFill>
              </a:rPr>
              <a:t>LP Deep Dive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learning how to read like humans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</a:t>
            </a:r>
            <a:r>
              <a:rPr lang="en"/>
              <a:t>NLP</a:t>
            </a:r>
            <a:r>
              <a:rPr lang="en"/>
              <a:t>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943100" y="1615525"/>
            <a:ext cx="7308000" cy="30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From </a:t>
            </a:r>
            <a:r>
              <a:rPr lang="en" sz="2200" u="sng">
                <a:solidFill>
                  <a:schemeClr val="hlink"/>
                </a:solidFill>
                <a:hlinkClick r:id="rId3"/>
              </a:rPr>
              <a:t>previous lessons</a:t>
            </a:r>
            <a:r>
              <a:rPr lang="en" sz="2200"/>
              <a:t>, yo</a:t>
            </a:r>
            <a:r>
              <a:rPr lang="en" sz="2200">
                <a:solidFill>
                  <a:srgbClr val="000000"/>
                </a:solidFill>
              </a:rPr>
              <a:t>u might have learned th</a:t>
            </a:r>
            <a:r>
              <a:rPr lang="en" sz="2200"/>
              <a:t>at </a:t>
            </a:r>
            <a:r>
              <a:rPr lang="en" sz="2200"/>
              <a:t>NLP is AI that is trained to understand language.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NLP will allow the AI to break down human text into something the AI can understand 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NLP Break Down Text?</a:t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3503050" y="1187525"/>
            <a:ext cx="12447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Tokenization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3423850" y="1837825"/>
            <a:ext cx="14031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Noise Removal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3126850" y="2488125"/>
            <a:ext cx="19971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Lexicon Normalization</a:t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1723750" y="3231175"/>
            <a:ext cx="140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of Speech Tagging </a:t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5123950" y="3231225"/>
            <a:ext cx="15189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Entity Extraction</a:t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3126850" y="4345625"/>
            <a:ext cx="19971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 of Words/TF-IDF</a:t>
            </a:r>
            <a:endParaRPr/>
          </a:p>
        </p:txBody>
      </p:sp>
      <p:cxnSp>
        <p:nvCxnSpPr>
          <p:cNvPr id="73" name="Google Shape;73;p15"/>
          <p:cNvCxnSpPr>
            <a:stCxn id="67" idx="2"/>
            <a:endCxn id="68" idx="0"/>
          </p:cNvCxnSpPr>
          <p:nvPr/>
        </p:nvCxnSpPr>
        <p:spPr>
          <a:xfrm>
            <a:off x="4125400" y="1543325"/>
            <a:ext cx="0" cy="29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5"/>
          <p:cNvCxnSpPr>
            <a:stCxn id="68" idx="2"/>
            <a:endCxn id="69" idx="0"/>
          </p:cNvCxnSpPr>
          <p:nvPr/>
        </p:nvCxnSpPr>
        <p:spPr>
          <a:xfrm>
            <a:off x="4125400" y="2193625"/>
            <a:ext cx="0" cy="29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5"/>
          <p:cNvCxnSpPr>
            <a:stCxn id="69" idx="2"/>
            <a:endCxn id="70" idx="0"/>
          </p:cNvCxnSpPr>
          <p:nvPr/>
        </p:nvCxnSpPr>
        <p:spPr>
          <a:xfrm flipH="1">
            <a:off x="2425300" y="2843925"/>
            <a:ext cx="1700100" cy="38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5"/>
          <p:cNvCxnSpPr>
            <a:stCxn id="69" idx="2"/>
            <a:endCxn id="71" idx="0"/>
          </p:cNvCxnSpPr>
          <p:nvPr/>
        </p:nvCxnSpPr>
        <p:spPr>
          <a:xfrm>
            <a:off x="4125400" y="2843925"/>
            <a:ext cx="1758000" cy="38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5"/>
          <p:cNvSpPr txBox="1"/>
          <p:nvPr/>
        </p:nvSpPr>
        <p:spPr>
          <a:xfrm>
            <a:off x="177850" y="3323875"/>
            <a:ext cx="12447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(OPTIONAL)</a:t>
            </a:r>
            <a:endParaRPr/>
          </a:p>
        </p:txBody>
      </p:sp>
      <p:cxnSp>
        <p:nvCxnSpPr>
          <p:cNvPr id="78" name="Google Shape;78;p15"/>
          <p:cNvCxnSpPr>
            <a:stCxn id="69" idx="2"/>
            <a:endCxn id="72" idx="0"/>
          </p:cNvCxnSpPr>
          <p:nvPr/>
        </p:nvCxnSpPr>
        <p:spPr>
          <a:xfrm>
            <a:off x="4125400" y="2843925"/>
            <a:ext cx="0" cy="150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Tokenization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52475"/>
            <a:ext cx="4188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Sentence tokenization: Breaks down a paragraph into sentence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Word tokenization: Breaks down a sentence into words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1354275" y="3548950"/>
            <a:ext cx="15048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Watch how this paragraph gets </a:t>
            </a:r>
            <a:r>
              <a:rPr lang="en"/>
              <a:t>decomposed</a:t>
            </a:r>
            <a:r>
              <a:rPr lang="en"/>
              <a:t>.</a:t>
            </a:r>
            <a:endParaRPr/>
          </a:p>
        </p:txBody>
      </p:sp>
      <p:cxnSp>
        <p:nvCxnSpPr>
          <p:cNvPr id="86" name="Google Shape;86;p16"/>
          <p:cNvCxnSpPr/>
          <p:nvPr/>
        </p:nvCxnSpPr>
        <p:spPr>
          <a:xfrm flipH="1" rot="10800000">
            <a:off x="2859075" y="2366500"/>
            <a:ext cx="1518300" cy="161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87" name="Google Shape;87;p16"/>
          <p:cNvGraphicFramePr/>
          <p:nvPr/>
        </p:nvGraphicFramePr>
        <p:xfrm>
          <a:off x="4500600" y="11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{30B071A9-04E6-4BB1-A028-27635F7466DF}</a:tableStyleId>
              </a:tblPr>
              <a:tblGrid>
                <a:gridCol w="2268875"/>
                <a:gridCol w="2175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Input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Output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8" name="Google Shape;88;p16"/>
          <p:cNvGraphicFramePr/>
          <p:nvPr/>
        </p:nvGraphicFramePr>
        <p:xfrm>
          <a:off x="4495800" y="63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{30B071A9-04E6-4BB1-A028-27635F7466DF}</a:tableStyleId>
              </a:tblPr>
              <a:tblGrid>
                <a:gridCol w="2222300"/>
              </a:tblGrid>
              <a:tr h="447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Sentence Tokenization: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17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50">
                          <a:solidFill>
                            <a:schemeClr val="dk1"/>
                          </a:solidFill>
                        </a:rPr>
                        <a:t>This Agreement will be governed</a:t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50">
                          <a:solidFill>
                            <a:schemeClr val="dk1"/>
                          </a:solidFill>
                        </a:rPr>
                        <a:t>and construed in accordance with the laws of the State of California without giving effect to conflict of laws principles. Both parties submit to personal jurisdiction</a:t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50">
                          <a:solidFill>
                            <a:schemeClr val="dk1"/>
                          </a:solidFill>
                        </a:rPr>
                        <a:t>in California and further agree that any cause of action</a:t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50">
                          <a:solidFill>
                            <a:schemeClr val="dk1"/>
                          </a:solidFill>
                        </a:rPr>
                        <a:t>arising under this Agreement shall be brought in a court</a:t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chemeClr val="dk1"/>
                          </a:solidFill>
                        </a:rPr>
                        <a:t>in Orange County, California.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9" name="Google Shape;89;p16"/>
          <p:cNvGraphicFramePr/>
          <p:nvPr/>
        </p:nvGraphicFramePr>
        <p:xfrm>
          <a:off x="6705600" y="63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{30B071A9-04E6-4BB1-A028-27635F7466DF}</a:tableStyleId>
              </a:tblPr>
              <a:tblGrid>
                <a:gridCol w="2222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chemeClr val="dk1"/>
                          </a:solidFill>
                        </a:rPr>
                        <a:t>“This Agreement will be governed</a:t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chemeClr val="dk1"/>
                          </a:solidFill>
                        </a:rPr>
                        <a:t>and construed in accordance with the laws of the State of California without giving effect to conflict of laws principles.”</a:t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chemeClr val="dk1"/>
                          </a:solidFill>
                        </a:rPr>
                        <a:t>“Both parties submit to personal jurisdiction</a:t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chemeClr val="dk1"/>
                          </a:solidFill>
                        </a:rPr>
                        <a:t>in California and further agree that any cause of action</a:t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chemeClr val="dk1"/>
                          </a:solidFill>
                        </a:rPr>
                        <a:t>arising under this Agreement shall be brought in a court</a:t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chemeClr val="dk1"/>
                          </a:solidFill>
                        </a:rPr>
                        <a:t>in Orange County, California”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0" name="Google Shape;90;p16"/>
          <p:cNvGraphicFramePr/>
          <p:nvPr/>
        </p:nvGraphicFramePr>
        <p:xfrm>
          <a:off x="4495800" y="338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{30B071A9-04E6-4BB1-A028-27635F7466DF}</a:tableStyleId>
              </a:tblPr>
              <a:tblGrid>
                <a:gridCol w="2222300"/>
              </a:tblGrid>
              <a:tr h="28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Word </a:t>
                      </a:r>
                      <a:r>
                        <a:rPr lang="en"/>
                        <a:t>Tokenization: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40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“This Agreement will be governed and construed in accordance with the laws of the State of California without giving effect to conflict of laws principles.”,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1" name="Google Shape;91;p16"/>
          <p:cNvGraphicFramePr/>
          <p:nvPr/>
        </p:nvGraphicFramePr>
        <p:xfrm>
          <a:off x="6705600" y="338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{30B071A9-04E6-4BB1-A028-27635F7466DF}</a:tableStyleId>
              </a:tblPr>
              <a:tblGrid>
                <a:gridCol w="2222300"/>
              </a:tblGrid>
              <a:tr h="336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425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“This”, “Agreement”, “will”, “be”, “governed”, “and”, “construed”, “in”, “accordance”, “with”, “the”, “State”, “of”, ”California”, “without”, “giving”, “effect”, “to”, “conflict”, “of”, “laws”, “principles”.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 Preprocessing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Stop Words (Noise words)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Words</a:t>
            </a:r>
            <a:r>
              <a:rPr lang="en"/>
              <a:t> that have no meaning and only used for human convention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“The”, “a”, “an”, etc. You can choose your stop words list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Lexicon Normalization (word lemming and stemming)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Many words in English have different forms.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process changes words to their base form</a:t>
            </a:r>
            <a:endParaRPr/>
          </a:p>
        </p:txBody>
      </p:sp>
      <p:graphicFrame>
        <p:nvGraphicFramePr>
          <p:cNvPr id="98" name="Google Shape;98;p17"/>
          <p:cNvGraphicFramePr/>
          <p:nvPr/>
        </p:nvGraphicFramePr>
        <p:xfrm>
          <a:off x="4500600" y="11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{30B071A9-04E6-4BB1-A028-27635F7466DF}</a:tableStyleId>
              </a:tblPr>
              <a:tblGrid>
                <a:gridCol w="2268875"/>
                <a:gridCol w="2175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Input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Output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9" name="Google Shape;99;p17"/>
          <p:cNvGraphicFramePr/>
          <p:nvPr/>
        </p:nvGraphicFramePr>
        <p:xfrm>
          <a:off x="4495800" y="63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{30B071A9-04E6-4BB1-A028-27635F7466DF}</a:tableStyleId>
              </a:tblPr>
              <a:tblGrid>
                <a:gridCol w="2222300"/>
              </a:tblGrid>
              <a:tr h="27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Noise Removal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38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“This Agreement will be governed and construed in accordance with the laws of the State of California without giving effect to conflict of laws principles.”, </a:t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0" name="Google Shape;100;p17"/>
          <p:cNvGraphicFramePr/>
          <p:nvPr/>
        </p:nvGraphicFramePr>
        <p:xfrm>
          <a:off x="6705600" y="63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{30B071A9-04E6-4BB1-A028-27635F7466DF}</a:tableStyleId>
              </a:tblPr>
              <a:tblGrid>
                <a:gridCol w="2222300"/>
              </a:tblGrid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461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“This Agreement will be governed and construed in accordance with laws of State of California without giving effect to conflict of laws principles”</a:t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1" name="Google Shape;101;p17"/>
          <p:cNvGraphicFramePr/>
          <p:nvPr/>
        </p:nvGraphicFramePr>
        <p:xfrm>
          <a:off x="4495800" y="259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{30B071A9-04E6-4BB1-A028-27635F7466DF}</a:tableStyleId>
              </a:tblPr>
              <a:tblGrid>
                <a:gridCol w="2222300"/>
              </a:tblGrid>
              <a:tr h="38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Word Tokenization: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819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“This Agreement will be governed and construed in accordance with laws of State of California without giving effect to conflict of laws principles”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2" name="Google Shape;102;p17"/>
          <p:cNvGraphicFramePr/>
          <p:nvPr/>
        </p:nvGraphicFramePr>
        <p:xfrm>
          <a:off x="6705600" y="259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{30B071A9-04E6-4BB1-A028-27635F7466DF}</a:tableStyleId>
              </a:tblPr>
              <a:tblGrid>
                <a:gridCol w="2222300"/>
              </a:tblGrid>
              <a:tr h="336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425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“This Agreement will be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</a:rPr>
                        <a:t>govern 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and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</a:rPr>
                        <a:t>construe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in accord with law of state of California without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</a:rPr>
                        <a:t>give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effect to conflict of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</a:rPr>
                        <a:t>law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</a:rPr>
                        <a:t>principle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”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(Highlighted words were lexically normalized)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109200" y="1152475"/>
            <a:ext cx="532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 of Speech Tagging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Every word gets a tag corresponding to its part of speech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Helps AI group words together</a:t>
            </a:r>
            <a:endParaRPr b="1" sz="165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marR="15240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15240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2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Entity Extraction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Words are grouped based on predefined categories</a:t>
            </a:r>
            <a:endParaRPr/>
          </a:p>
        </p:txBody>
      </p:sp>
      <p:pic>
        <p:nvPicPr>
          <p:cNvPr descr="Extract Custom Keywords using NLTK POS tagger in python - Think Infi"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575" y="2334399"/>
            <a:ext cx="2845325" cy="11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4900" y="4322625"/>
            <a:ext cx="5321705" cy="572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18"/>
          <p:cNvGraphicFramePr/>
          <p:nvPr/>
        </p:nvGraphicFramePr>
        <p:xfrm>
          <a:off x="5306800" y="11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{30B071A9-04E6-4BB1-A028-27635F7466DF}</a:tableStyleId>
              </a:tblPr>
              <a:tblGrid>
                <a:gridCol w="1857325"/>
                <a:gridCol w="1781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Input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Output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2" name="Google Shape;112;p18"/>
          <p:cNvGraphicFramePr/>
          <p:nvPr/>
        </p:nvGraphicFramePr>
        <p:xfrm>
          <a:off x="5306800" y="63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{30B071A9-04E6-4BB1-A028-27635F7466DF}</a:tableStyleId>
              </a:tblPr>
              <a:tblGrid>
                <a:gridCol w="1740200"/>
              </a:tblGrid>
              <a:tr h="58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Part of Speech Tagging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529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“This Agreement will be govern and construe in accord with law of state of California without give effect to conflict of law principle”</a:t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3" name="Google Shape;113;p18"/>
          <p:cNvGraphicFramePr/>
          <p:nvPr/>
        </p:nvGraphicFramePr>
        <p:xfrm>
          <a:off x="7047000" y="63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{30B071A9-04E6-4BB1-A028-27635F7466DF}</a:tableStyleId>
              </a:tblPr>
              <a:tblGrid>
                <a:gridCol w="18982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461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“N: Agreement, laws, accord,  state, California, effect, conflict, laws, principles, giving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V: will, be, govern, construe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Det: This, and, in, with, the, of, the, of, without, to, of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4" name="Google Shape;114;p18"/>
          <p:cNvGraphicFramePr/>
          <p:nvPr/>
        </p:nvGraphicFramePr>
        <p:xfrm>
          <a:off x="5306800" y="297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{30B071A9-04E6-4BB1-A028-27635F7466DF}</a:tableStyleId>
              </a:tblPr>
              <a:tblGrid>
                <a:gridCol w="1690925"/>
              </a:tblGrid>
              <a:tr h="39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Entity Extraction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609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“This Agreement will be govern and construe in accord with law of state of California without give effect to conflict of law principle”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5" name="Google Shape;115;p18"/>
          <p:cNvGraphicFramePr/>
          <p:nvPr/>
        </p:nvGraphicFramePr>
        <p:xfrm>
          <a:off x="7047000" y="2974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{30B071A9-04E6-4BB1-A028-27635F7466DF}</a:tableStyleId>
              </a:tblPr>
              <a:tblGrid>
                <a:gridCol w="18982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425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Item: Agreement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Location: State of California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311700" y="10000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Bag of Words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Keeps track of the number of times a word shows up in a sentence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TF-IDF (Term Frequency - Inverse Document </a:t>
            </a:r>
            <a:r>
              <a:rPr lang="en"/>
              <a:t>Frequency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Similar to Bag of words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Uses a formula to measure relevance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Higher TF - IDF number = more relevance to document.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More unique words.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</a:t>
            </a:r>
            <a:endParaRPr/>
          </a:p>
        </p:txBody>
      </p:sp>
      <p:pic>
        <p:nvPicPr>
          <p:cNvPr descr="miro.medium.com/max/532/0*bHkPdhgfnyTs4un_"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2850" y="3083950"/>
            <a:ext cx="2542701" cy="190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6224175" y="2366825"/>
            <a:ext cx="11901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This is log base 2</a:t>
            </a:r>
            <a:endParaRPr/>
          </a:p>
        </p:txBody>
      </p:sp>
      <p:cxnSp>
        <p:nvCxnSpPr>
          <p:cNvPr id="124" name="Google Shape;124;p19"/>
          <p:cNvCxnSpPr>
            <a:stCxn id="123" idx="1"/>
          </p:cNvCxnSpPr>
          <p:nvPr/>
        </p:nvCxnSpPr>
        <p:spPr>
          <a:xfrm flipH="1">
            <a:off x="4657275" y="2690225"/>
            <a:ext cx="1566900" cy="128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 of Words example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Clause </a:t>
            </a:r>
            <a:r>
              <a:rPr lang="en"/>
              <a:t>1: Laws State New York govern matter arise relate Agreement.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Clause 2: Agreement governed internal law, not law regard conflict law, State North Carolina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Clause 3: Agreement governed construed accordance with laws State California without giving effect conflict laws principles</a:t>
            </a:r>
            <a:endParaRPr/>
          </a:p>
        </p:txBody>
      </p:sp>
      <p:graphicFrame>
        <p:nvGraphicFramePr>
          <p:cNvPr id="131" name="Google Shape;131;p20"/>
          <p:cNvGraphicFramePr/>
          <p:nvPr/>
        </p:nvGraphicFramePr>
        <p:xfrm>
          <a:off x="366425" y="30652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{30B071A9-04E6-4BB1-A028-27635F7466DF}</a:tableStyleId>
              </a:tblPr>
              <a:tblGrid>
                <a:gridCol w="497050"/>
                <a:gridCol w="1041425"/>
                <a:gridCol w="746800"/>
                <a:gridCol w="473850"/>
                <a:gridCol w="626300"/>
                <a:gridCol w="688950"/>
                <a:gridCol w="1015450"/>
                <a:gridCol w="738500"/>
                <a:gridCol w="747025"/>
                <a:gridCol w="736325"/>
                <a:gridCol w="1208925"/>
              </a:tblGrid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agreement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govern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matter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principles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regard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conflict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relate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etc.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TF-IDF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Clause 1: Laws State New York govern matter arise relate Agreement.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Clause 2: Agreement governed internal law, not law regard conflict law, State North Carolina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Clause 3: Agreement governed construed accordance with laws State California without giving effect conflict laws principles</a:t>
            </a:r>
            <a:endParaRPr/>
          </a:p>
        </p:txBody>
      </p:sp>
      <p:graphicFrame>
        <p:nvGraphicFramePr>
          <p:cNvPr id="138" name="Google Shape;138;p21"/>
          <p:cNvGraphicFramePr/>
          <p:nvPr/>
        </p:nvGraphicFramePr>
        <p:xfrm>
          <a:off x="366425" y="33700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{30B071A9-04E6-4BB1-A028-27635F7466DF}</a:tableStyleId>
              </a:tblPr>
              <a:tblGrid>
                <a:gridCol w="497050"/>
                <a:gridCol w="1041425"/>
                <a:gridCol w="746800"/>
                <a:gridCol w="473850"/>
                <a:gridCol w="626300"/>
                <a:gridCol w="688950"/>
                <a:gridCol w="1015450"/>
                <a:gridCol w="738500"/>
                <a:gridCol w="747025"/>
                <a:gridCol w="736325"/>
                <a:gridCol w="1208925"/>
              </a:tblGrid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agreement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govern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matter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principles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regard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conflict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relate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etc.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.477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9" name="Google Shape;139;p21"/>
          <p:cNvSpPr txBox="1"/>
          <p:nvPr/>
        </p:nvSpPr>
        <p:spPr>
          <a:xfrm>
            <a:off x="3036850" y="2667500"/>
            <a:ext cx="241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0.477 is a high number. In this case, the word “matter” is more relevant and unique to Clause 1.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Identification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that Clause 1 and 2 are governing law clauses, the AI would think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“California”, “North Carolina”, and “New York” are all locations (Entity Extraction)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first four words have a low TF-IDF score, meaning they are shared across many documents. This means the words appear in documents like those(TF-IDF)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is usually a word which is a location, and it is usually the answer.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So, the AI would say that Clause 3 is a governing law clause, and that the answer is “California”</a:t>
            </a:r>
            <a:endParaRPr/>
          </a:p>
        </p:txBody>
      </p:sp>
      <p:pic>
        <p:nvPicPr>
          <p:cNvPr id="146" name="Google Shape;14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4775" y="3188275"/>
            <a:ext cx="3365650" cy="16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