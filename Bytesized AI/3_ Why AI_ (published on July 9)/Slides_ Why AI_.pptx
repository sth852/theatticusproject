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cebglobal.com/compliance-legal/smb-legal/contract-management-midsized.html" TargetMode="External"/><Relationship Id="rId3" Type="http://schemas.openxmlformats.org/officeDocument/2006/relationships/hyperlink" Target="https://www.acc.com/sites/default/files/2019-06/ACC_Benchmark_062019.pdf" TargetMode="External"/><Relationship Id="rId4" Type="http://schemas.openxmlformats.org/officeDocument/2006/relationships/hyperlink" Target="https://www.topbots.com/automating-the-law-a-landscape-of-legal-a-i-solutions/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bloomberg.com/news/articles/2017-02-28/jpmorgan-marshals-an-army-of-developers-to-automate-high-finance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orbes.com/sites/bernardmarr/2017/10/03/5-myths-about-artificial-intelligence-ai-you-must-stop-believing/#1129ed992739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ab9fc6443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8ab9fc644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a2e2d24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a2e2d24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ab9fc6443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8ab9fc6443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8ab9fc6443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8ab9fc6443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https://www.cebglobal.com/compliance-legal/smb-legal/contract-management-midsized.html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https://www.acc.com/sites/default/files/2019-06/ACC_Benchmark_062019.pdf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https://www.topbots.com/automating-the-law-a-landscape-of-legal-a-i-solutions/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8b62e5994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8b62e5994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https://www.bloomberg.com/news/articles/2017-02-28/jpmorgan-marshals-an-army-of-developers-to-automate-high-finance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8ab9fc6443_1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8ab9fc6443_1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8b5c3bebc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8b5c3bebc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\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b62e5994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8b62e5994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https://www.forbes.com/sites/bernardmarr/2017/10/03/5-myths-about-artificial-intelligence-ai-you-must-stop-believing/#1129ed992739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b62e5994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b62e5994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8b62e5994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8b62e5994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hyperlink" Target="https://www.google.com/url?sa=i&amp;url=https%3A%2F%2Fwebstockreview.net%2Fexplore%2Fcomputer-clipart-team%2F&amp;psig=AOvVaw2AIRwgUZkgCMLqQIhMivUx&amp;ust=1593722614163000&amp;source=images&amp;cd=vfe&amp;ved=0CAMQjB1qFwoTCIjThMb1rOoCFQAAAAAdAAAAABA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cebglobal.com/compliance-legal/smb-legal/contract-management-midsized.html" TargetMode="External"/><Relationship Id="rId4" Type="http://schemas.openxmlformats.org/officeDocument/2006/relationships/hyperlink" Target="https://www.acc.com/sites/default/files/2019-06/ACC_Benchmark_062019.pdf" TargetMode="External"/><Relationship Id="rId5" Type="http://schemas.openxmlformats.org/officeDocument/2006/relationships/hyperlink" Target="https://www.topbots.com/automating-the-law-a-landscape-of-legal-a-i-solutions/" TargetMode="External"/><Relationship Id="rId6" Type="http://schemas.openxmlformats.org/officeDocument/2006/relationships/hyperlink" Target="https://www.bloomberg.com/news/articles/2017-02-28/jpmorgan-marshals-an-army-of-developers-to-automate-high-finance" TargetMode="External"/><Relationship Id="rId7" Type="http://schemas.openxmlformats.org/officeDocument/2006/relationships/hyperlink" Target="https://www.forbes.com/sites/bernardmarr/2017/10/03/5-myths-about-artificial-intelligence-ai-you-must-stop-believing/#1129ed992739" TargetMode="External"/><Relationship Id="rId8" Type="http://schemas.openxmlformats.org/officeDocument/2006/relationships/hyperlink" Target="https://www.forbes.com/sites/robtoews/2019/12/19/ai-will-transform-the-field-of-law/#11f26b257f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8969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AI?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986525"/>
            <a:ext cx="8520600" cy="11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Reasons to Use AI to Accelerate Contract Review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052600" cy="20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091425" y="4722875"/>
            <a:ext cx="2052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© 2020 The Atticus Project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Review of Last Presentation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/>
              <a:t>Refer to previous presentation on </a:t>
            </a:r>
            <a:r>
              <a:rPr i="1" lang="en" sz="1400" u="sng"/>
              <a:t>How AI is used in Legal</a:t>
            </a:r>
            <a:r>
              <a:rPr i="1" lang="en" sz="1400" u="sng"/>
              <a:t>.</a:t>
            </a:r>
            <a:endParaRPr i="1" sz="1400" u="sng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ML</a:t>
            </a:r>
            <a:r>
              <a:rPr lang="en"/>
              <a:t> can </a:t>
            </a:r>
            <a:r>
              <a:rPr lang="en"/>
              <a:t>detect different clauses of a contract and “read” it much faster than a human can </a:t>
            </a:r>
            <a:r>
              <a:rPr lang="en"/>
              <a:t>manually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ML</a:t>
            </a:r>
            <a:r>
              <a:rPr lang="en"/>
              <a:t> can r</a:t>
            </a:r>
            <a:r>
              <a:rPr lang="en"/>
              <a:t>edact clauses (or portions thereof) such as personal information or confidential provisions in a contract or legal document.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/>
              <a:t>Conclusion: </a:t>
            </a:r>
            <a:r>
              <a:rPr lang="en"/>
              <a:t>Through ML, we can automate the low-level, menial aspects of due diligence.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AI in Contract Review?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Contract Review without AI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228675"/>
            <a:ext cx="838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Law firms spend </a:t>
            </a:r>
            <a:r>
              <a:rPr lang="en" sz="3000"/>
              <a:t>50%</a:t>
            </a:r>
            <a:r>
              <a:rPr lang="en"/>
              <a:t> of time doing contract review</a:t>
            </a:r>
            <a:r>
              <a:rPr baseline="30000" lang="en"/>
              <a:t>1,2</a:t>
            </a:r>
            <a:endParaRPr baseline="30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Average of </a:t>
            </a:r>
            <a:r>
              <a:rPr lang="en" sz="3000"/>
              <a:t>2,198 contracts</a:t>
            </a:r>
            <a:r>
              <a:rPr lang="en"/>
              <a:t> reviewed per company per year</a:t>
            </a:r>
            <a:r>
              <a:rPr baseline="30000" lang="en"/>
              <a:t>2</a:t>
            </a:r>
            <a:endParaRPr baseline="300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Lawyers save </a:t>
            </a:r>
            <a:r>
              <a:rPr lang="en" sz="3000"/>
              <a:t>20-40%</a:t>
            </a:r>
            <a:r>
              <a:rPr lang="en"/>
              <a:t> of </a:t>
            </a:r>
            <a:r>
              <a:rPr lang="en"/>
              <a:t>time</a:t>
            </a:r>
            <a:r>
              <a:rPr lang="en"/>
              <a:t> on contract due diligence using AI</a:t>
            </a:r>
            <a:r>
              <a:rPr baseline="30000" lang="en" sz="1900"/>
              <a:t>3</a:t>
            </a:r>
            <a:endParaRPr baseline="30000"/>
          </a:p>
        </p:txBody>
      </p:sp>
      <p:sp>
        <p:nvSpPr>
          <p:cNvPr id="75" name="Google Shape;75;p16"/>
          <p:cNvSpPr/>
          <p:nvPr/>
        </p:nvSpPr>
        <p:spPr>
          <a:xfrm>
            <a:off x="7763400" y="844225"/>
            <a:ext cx="1068900" cy="1068900"/>
          </a:xfrm>
          <a:prstGeom prst="pie">
            <a:avLst>
              <a:gd fmla="val 5400322" name="adj1"/>
              <a:gd fmla="val 16200000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 flipH="1">
            <a:off x="7763400" y="844225"/>
            <a:ext cx="1068900" cy="1068900"/>
          </a:xfrm>
          <a:prstGeom prst="pie">
            <a:avLst>
              <a:gd fmla="val 5400322" name="adj1"/>
              <a:gd fmla="val 16200000" name="adj2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50%</a:t>
            </a:r>
            <a:endParaRPr/>
          </a:p>
        </p:txBody>
      </p:sp>
      <p:cxnSp>
        <p:nvCxnSpPr>
          <p:cNvPr id="77" name="Google Shape;77;p16"/>
          <p:cNvCxnSpPr/>
          <p:nvPr/>
        </p:nvCxnSpPr>
        <p:spPr>
          <a:xfrm rot="10800000">
            <a:off x="7883975" y="594700"/>
            <a:ext cx="289500" cy="6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6"/>
          <p:cNvSpPr txBox="1"/>
          <p:nvPr/>
        </p:nvSpPr>
        <p:spPr>
          <a:xfrm>
            <a:off x="6984100" y="182800"/>
            <a:ext cx="14583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Contract review</a:t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4427200" y="3874125"/>
            <a:ext cx="1068900" cy="1068900"/>
          </a:xfrm>
          <a:prstGeom prst="pie">
            <a:avLst>
              <a:gd fmla="val 7849061" name="adj1"/>
              <a:gd fmla="val 16200000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 flipH="1">
            <a:off x="4427200" y="3874125"/>
            <a:ext cx="1068900" cy="1068900"/>
          </a:xfrm>
          <a:prstGeom prst="pie">
            <a:avLst>
              <a:gd fmla="val 2837026" name="adj1"/>
              <a:gd fmla="val 16200000" name="adj2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" name="Google Shape;81;p16"/>
          <p:cNvCxnSpPr/>
          <p:nvPr/>
        </p:nvCxnSpPr>
        <p:spPr>
          <a:xfrm rot="10800000">
            <a:off x="4382650" y="3624600"/>
            <a:ext cx="289500" cy="6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6"/>
          <p:cNvSpPr txBox="1"/>
          <p:nvPr/>
        </p:nvSpPr>
        <p:spPr>
          <a:xfrm>
            <a:off x="3647900" y="3288900"/>
            <a:ext cx="1711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saved with AI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Saves Time and Increases Productivity</a:t>
            </a:r>
            <a:endParaRPr sz="2300"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80400" y="1459000"/>
            <a:ext cx="7568100" cy="3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JP Morgan COIN (Contract Intelligence) software reviewed loan agreements:</a:t>
            </a:r>
            <a:r>
              <a:rPr baseline="30000" lang="en"/>
              <a:t>4</a:t>
            </a:r>
            <a:endParaRPr baseline="300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Manual c</a:t>
            </a:r>
            <a:r>
              <a:rPr lang="en"/>
              <a:t>ontract review =</a:t>
            </a:r>
            <a:r>
              <a:rPr lang="en" sz="3000"/>
              <a:t> 360,000</a:t>
            </a:r>
            <a:r>
              <a:rPr lang="en"/>
              <a:t> hours</a:t>
            </a:r>
            <a:endParaRPr baseline="300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AI contract review</a:t>
            </a:r>
            <a:r>
              <a:rPr lang="en"/>
              <a:t> = </a:t>
            </a:r>
            <a:r>
              <a:rPr lang="en" sz="3000"/>
              <a:t>seconds</a:t>
            </a:r>
            <a:endParaRPr baseline="30000" sz="19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3000"/>
              <a:t>360,000 hours</a:t>
            </a:r>
            <a:r>
              <a:rPr b="1" lang="en"/>
              <a:t> of work done in </a:t>
            </a:r>
            <a:r>
              <a:rPr b="1" lang="en" sz="3000"/>
              <a:t>seconds</a:t>
            </a:r>
            <a:endParaRPr b="1"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2375" y="1815350"/>
            <a:ext cx="2497552" cy="2398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2101" y="1815350"/>
            <a:ext cx="2505701" cy="239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Minimizes Human </a:t>
            </a:r>
            <a:r>
              <a:rPr lang="en"/>
              <a:t>Error</a:t>
            </a:r>
            <a:endParaRPr/>
          </a:p>
        </p:txBody>
      </p:sp>
      <p:pic>
        <p:nvPicPr>
          <p:cNvPr descr="Computer clipart team, Computer team Transparent FREE for download ..."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6420" y="1152475"/>
            <a:ext cx="3124730" cy="313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456450" y="1391650"/>
            <a:ext cx="39300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Humans…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make mistakes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cannot work constantly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are inconsistent in their work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AI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can work constantly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produces consistent work quality and product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6794950" y="4417725"/>
            <a:ext cx="1666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Image credit: </a:t>
            </a:r>
            <a:r>
              <a:rPr lang="en" sz="800" u="sng">
                <a:solidFill>
                  <a:schemeClr val="hlink"/>
                </a:solidFill>
                <a:hlinkClick r:id="rId4"/>
              </a:rPr>
              <a:t>WebStockReview</a:t>
            </a:r>
            <a:endParaRPr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</a:t>
            </a:r>
            <a:r>
              <a:rPr lang="en"/>
              <a:t> Benefits of AI in Legal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31425"/>
            <a:ext cx="6508800" cy="38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n">
                <a:solidFill>
                  <a:srgbClr val="666666"/>
                </a:solidFill>
              </a:rPr>
              <a:t>Automate low-level, menial labor</a:t>
            </a:r>
            <a:endParaRPr>
              <a:solidFill>
                <a:srgbClr val="666666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n">
                <a:solidFill>
                  <a:srgbClr val="666666"/>
                </a:solidFill>
              </a:rPr>
              <a:t>Allow early detection of variation and prediction</a:t>
            </a:r>
            <a:endParaRPr>
              <a:solidFill>
                <a:srgbClr val="666666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n">
                <a:solidFill>
                  <a:srgbClr val="666666"/>
                </a:solidFill>
              </a:rPr>
              <a:t>Improve organizational and logical structure</a:t>
            </a:r>
            <a:endParaRPr>
              <a:solidFill>
                <a:srgbClr val="666666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n">
                <a:solidFill>
                  <a:srgbClr val="666666"/>
                </a:solidFill>
              </a:rPr>
              <a:t>Reduce attorney stress &amp; frustration</a:t>
            </a:r>
            <a:endParaRPr strike="sngStrike">
              <a:solidFill>
                <a:srgbClr val="666666"/>
              </a:solidFill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7781763" y="3963650"/>
            <a:ext cx="1182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0500" y="1131425"/>
            <a:ext cx="2018699" cy="2517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Misconceptions of AI</a:t>
            </a:r>
            <a:r>
              <a:rPr baseline="30000" lang="en"/>
              <a:t>5</a:t>
            </a:r>
            <a:endParaRPr baseline="30000"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“AI will replace </a:t>
            </a:r>
            <a:r>
              <a:rPr b="1" lang="en"/>
              <a:t>all</a:t>
            </a:r>
            <a:r>
              <a:rPr lang="en"/>
              <a:t> jobs”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“Only </a:t>
            </a:r>
            <a:r>
              <a:rPr b="1" lang="en"/>
              <a:t>low-skilled</a:t>
            </a:r>
            <a:r>
              <a:rPr lang="en"/>
              <a:t> and </a:t>
            </a:r>
            <a:r>
              <a:rPr b="1" lang="en"/>
              <a:t>manual workers</a:t>
            </a:r>
            <a:r>
              <a:rPr lang="en"/>
              <a:t> will be </a:t>
            </a:r>
            <a:r>
              <a:rPr b="1" lang="en"/>
              <a:t>replaced</a:t>
            </a:r>
            <a:r>
              <a:rPr lang="en"/>
              <a:t> by AI and automation”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</a:t>
            </a:r>
            <a:r>
              <a:rPr b="1" lang="en"/>
              <a:t>Super-intelligent</a:t>
            </a:r>
            <a:r>
              <a:rPr lang="en"/>
              <a:t> computers will become better than humans at doing </a:t>
            </a:r>
            <a:r>
              <a:rPr b="1" lang="en"/>
              <a:t>anything</a:t>
            </a:r>
            <a:r>
              <a:rPr lang="en"/>
              <a:t> we can do”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“Artificial intelligence will quickly </a:t>
            </a:r>
            <a:r>
              <a:rPr b="1" lang="en"/>
              <a:t>overtake</a:t>
            </a:r>
            <a:r>
              <a:rPr lang="en"/>
              <a:t> and </a:t>
            </a:r>
            <a:r>
              <a:rPr b="1" lang="en"/>
              <a:t>outpace</a:t>
            </a:r>
            <a:r>
              <a:rPr lang="en"/>
              <a:t> human intelligence”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 rotWithShape="1">
          <a:blip r:embed="rId3">
            <a:alphaModFix/>
          </a:blip>
          <a:srcRect b="0" l="11698" r="23955" t="0"/>
          <a:stretch/>
        </p:blipFill>
        <p:spPr>
          <a:xfrm>
            <a:off x="7715250" y="0"/>
            <a:ext cx="1428750" cy="222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1315650" y="2126400"/>
            <a:ext cx="6512700" cy="8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AI </a:t>
            </a:r>
            <a:r>
              <a:rPr b="1" lang="en" sz="2800">
                <a:solidFill>
                  <a:schemeClr val="dk1"/>
                </a:solidFill>
              </a:rPr>
              <a:t>cannot </a:t>
            </a:r>
            <a:r>
              <a:rPr lang="en" sz="2800">
                <a:solidFill>
                  <a:schemeClr val="dk1"/>
                </a:solidFill>
              </a:rPr>
              <a:t>replace human lawyers.</a:t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037350" y="2772150"/>
            <a:ext cx="50322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AI is a tool to help humans be more efficient and effective.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520600" cy="3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baseline="30000" lang="en" sz="1100">
                <a:solidFill>
                  <a:schemeClr val="dk1"/>
                </a:solidFill>
              </a:rPr>
              <a:t>1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lang="en" sz="11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https://www.cebglobal.com/compliance-legal/smb-legal/contract-management-midsized.html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baseline="30000" lang="en" sz="1100">
                <a:solidFill>
                  <a:schemeClr val="dk1"/>
                </a:solidFill>
              </a:rPr>
              <a:t>2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lang="en" sz="11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https://www.acc.com/sites/default/files/2019-06/ACC_Benchmark_062019.pdf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baseline="30000" lang="en" sz="1100">
                <a:solidFill>
                  <a:schemeClr val="dk1"/>
                </a:solidFill>
              </a:rPr>
              <a:t>3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https://www.topbots.com/automating-the-law-a-landscape-of-legal-a-i-solutions/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" sz="1100">
                <a:solidFill>
                  <a:schemeClr val="dk1"/>
                </a:solidFill>
              </a:rPr>
              <a:t>4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https://www.bloomberg.com/news/articles/2017-02-28/jpmorgan-marshals-an-army-of-developers-to-automate-high-finance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" sz="1100">
                <a:solidFill>
                  <a:schemeClr val="dk1"/>
                </a:solidFill>
              </a:rPr>
              <a:t>5</a:t>
            </a:r>
            <a:r>
              <a:rPr baseline="30000" lang="en" sz="1100">
                <a:solidFill>
                  <a:schemeClr val="dk1"/>
                </a:solidFill>
              </a:rPr>
              <a:t> </a:t>
            </a:r>
            <a:r>
              <a:rPr lang="en" sz="1100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https://www.forbes.com/sites/bernardmarr/2017/10/03/5-myths-about-artificial-intelligence-ai-you-must-stop-believing/#1129ed992739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Additional material: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https://www.forbes.com/sites/robtoews/2019/12/19/ai-will-transform-the-field-of-law/#11f26b257f01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