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1D5399-30F4-44CB-9BC7-9338B3EAC080}">
  <a:tblStyle styleId="{7D1D5399-30F4-44CB-9BC7-9338B3EAC08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8a8042baca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8a8042baca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ecb399ea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ecb399ea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8ecb399ea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8ecb399ea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8ecb399ea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8ecb399ea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8ecb399ea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8ecb399ea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8edaf6e0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8edaf6e0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8edaf6e06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8edaf6e06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8ecb399eac_14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8ecb399eac_14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8ecb399eac_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8ecb399eac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8ecb399eac_14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8ecb399eac_14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8ecb399eac_1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8ecb399eac_1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8ecb399ea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8ecb399ea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8edaf6e06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8edaf6e06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8edaf6e065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8edaf6e065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8edaf6e065_3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8edaf6e065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8e118ad9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8e118ad9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8e118ad9c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8e118ad9c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8ecb399eac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8ecb399ea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8ed86378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8ed86378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8ed86378c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8ed86378c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8ed86378c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8ed86378c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8ed86378c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8ed86378c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8ed86378c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8ed86378c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8ecb399eac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8ecb399eac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8ecb399eac_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8ecb399eac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atticusprojectai.org/published-labels" TargetMode="External"/><Relationship Id="rId4" Type="http://schemas.openxmlformats.org/officeDocument/2006/relationships/hyperlink" Target="https://www.atticusprojectai.org/published-labels" TargetMode="External"/><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How Atticus Has Used AI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a:t>
            </a:r>
            <a:r>
              <a:rPr lang="en"/>
              <a:t>nd How We Hope It Will Be Used in the Future</a:t>
            </a:r>
            <a:endParaRPr/>
          </a:p>
        </p:txBody>
      </p:sp>
      <p:pic>
        <p:nvPicPr>
          <p:cNvPr id="56" name="Google Shape;56;p13"/>
          <p:cNvPicPr preferRelativeResize="0"/>
          <p:nvPr/>
        </p:nvPicPr>
        <p:blipFill>
          <a:blip r:embed="rId3">
            <a:alphaModFix/>
          </a:blip>
          <a:stretch>
            <a:fillRect/>
          </a:stretch>
        </p:blipFill>
        <p:spPr>
          <a:xfrm>
            <a:off x="0" y="0"/>
            <a:ext cx="2052600" cy="2052600"/>
          </a:xfrm>
          <a:prstGeom prst="rect">
            <a:avLst/>
          </a:prstGeom>
          <a:noFill/>
          <a:ln>
            <a:noFill/>
          </a:ln>
        </p:spPr>
      </p:pic>
      <p:sp>
        <p:nvSpPr>
          <p:cNvPr id="57" name="Google Shape;57;p13"/>
          <p:cNvSpPr txBox="1"/>
          <p:nvPr/>
        </p:nvSpPr>
        <p:spPr>
          <a:xfrm>
            <a:off x="7091425" y="4722875"/>
            <a:ext cx="2052600" cy="4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2020 The Atticus Project</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List of Slides (DO NOT DELETE)</a:t>
            </a:r>
            <a:endParaRPr/>
          </a:p>
        </p:txBody>
      </p:sp>
      <p:sp>
        <p:nvSpPr>
          <p:cNvPr id="63" name="Google Shape;63;p14"/>
          <p:cNvSpPr txBox="1"/>
          <p:nvPr>
            <p:ph idx="1" type="body"/>
          </p:nvPr>
        </p:nvSpPr>
        <p:spPr>
          <a:xfrm>
            <a:off x="311700" y="695275"/>
            <a:ext cx="8520600" cy="38406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SzPts val="1000"/>
              <a:buChar char="●"/>
            </a:pPr>
            <a:r>
              <a:rPr lang="en" sz="1000"/>
              <a:t>(Slide 2) Terminology Review-Jing</a:t>
            </a:r>
            <a:endParaRPr sz="1000"/>
          </a:p>
          <a:p>
            <a:pPr indent="-292100" lvl="1" marL="914400" rtl="0" algn="l">
              <a:spcBef>
                <a:spcPts val="0"/>
              </a:spcBef>
              <a:spcAft>
                <a:spcPts val="0"/>
              </a:spcAft>
              <a:buSzPts val="1000"/>
              <a:buChar char="○"/>
            </a:pPr>
            <a:r>
              <a:rPr lang="en" sz="1000"/>
              <a:t>NLP, Training Dataset, supervised/unsupervised (refer to Module 1)</a:t>
            </a:r>
            <a:endParaRPr sz="1000"/>
          </a:p>
          <a:p>
            <a:pPr indent="-292100" lvl="0" marL="457200" rtl="0" algn="l">
              <a:spcBef>
                <a:spcPts val="0"/>
              </a:spcBef>
              <a:spcAft>
                <a:spcPts val="0"/>
              </a:spcAft>
              <a:buSzPts val="1000"/>
              <a:buChar char="●"/>
            </a:pPr>
            <a:r>
              <a:rPr lang="en" sz="1000"/>
              <a:t>(Slide 3-4) Atticus overview-Jing</a:t>
            </a:r>
            <a:endParaRPr sz="1000"/>
          </a:p>
          <a:p>
            <a:pPr indent="-292100" lvl="2" marL="1371600" rtl="0" algn="l">
              <a:spcBef>
                <a:spcPts val="0"/>
              </a:spcBef>
              <a:spcAft>
                <a:spcPts val="0"/>
              </a:spcAft>
              <a:buSzPts val="1000"/>
              <a:buChar char="■"/>
            </a:pPr>
            <a:r>
              <a:rPr lang="en" sz="1000"/>
              <a:t>What is Atticus working on?</a:t>
            </a:r>
            <a:endParaRPr sz="1000"/>
          </a:p>
          <a:p>
            <a:pPr indent="-292100" lvl="3" marL="1828800" rtl="0" algn="l">
              <a:spcBef>
                <a:spcPts val="0"/>
              </a:spcBef>
              <a:spcAft>
                <a:spcPts val="0"/>
              </a:spcAft>
              <a:buSzPts val="1000"/>
              <a:buChar char="●"/>
            </a:pPr>
            <a:r>
              <a:rPr lang="en" sz="1000"/>
              <a:t>Training Dataset</a:t>
            </a:r>
            <a:endParaRPr sz="1000"/>
          </a:p>
          <a:p>
            <a:pPr indent="-292100" lvl="3" marL="1828800" rtl="0" algn="l">
              <a:spcBef>
                <a:spcPts val="0"/>
              </a:spcBef>
              <a:spcAft>
                <a:spcPts val="0"/>
              </a:spcAft>
              <a:buSzPts val="1000"/>
              <a:buChar char="●"/>
            </a:pPr>
            <a:r>
              <a:rPr lang="en" sz="1000"/>
              <a:t>not product or code/AI model</a:t>
            </a:r>
            <a:endParaRPr sz="1000"/>
          </a:p>
          <a:p>
            <a:pPr indent="-292100" lvl="2" marL="1371600" rtl="0" algn="l">
              <a:spcBef>
                <a:spcPts val="0"/>
              </a:spcBef>
              <a:spcAft>
                <a:spcPts val="0"/>
              </a:spcAft>
              <a:buSzPts val="1000"/>
              <a:buChar char="■"/>
            </a:pPr>
            <a:r>
              <a:rPr lang="en" sz="1000"/>
              <a:t>How does Atticus do it?</a:t>
            </a:r>
            <a:endParaRPr sz="1000"/>
          </a:p>
          <a:p>
            <a:pPr indent="-292100" lvl="3" marL="1828800" rtl="0" algn="l">
              <a:spcBef>
                <a:spcPts val="0"/>
              </a:spcBef>
              <a:spcAft>
                <a:spcPts val="0"/>
              </a:spcAft>
              <a:buSzPts val="1000"/>
              <a:buChar char="●"/>
            </a:pPr>
            <a:r>
              <a:rPr lang="en" sz="1000"/>
              <a:t>Use eBrevia to annotate/label selected clauses [Link to Published Labels on Atticus Website)</a:t>
            </a:r>
            <a:endParaRPr sz="1000"/>
          </a:p>
          <a:p>
            <a:pPr indent="-292100" lvl="3" marL="1828800" rtl="0" algn="l">
              <a:spcBef>
                <a:spcPts val="0"/>
              </a:spcBef>
              <a:spcAft>
                <a:spcPts val="0"/>
              </a:spcAft>
              <a:buSzPts val="1000"/>
              <a:buChar char="●"/>
            </a:pPr>
            <a:r>
              <a:rPr lang="en" sz="1000"/>
              <a:t>Labeling inside peek - Screenshots from eBrevia </a:t>
            </a:r>
            <a:endParaRPr sz="1000"/>
          </a:p>
          <a:p>
            <a:pPr indent="-317500" lvl="0" marL="457200" rtl="0" algn="l">
              <a:spcBef>
                <a:spcPts val="0"/>
              </a:spcBef>
              <a:spcAft>
                <a:spcPts val="0"/>
              </a:spcAft>
              <a:buSzPts val="1400"/>
              <a:buChar char="●"/>
            </a:pPr>
            <a:r>
              <a:rPr lang="en" sz="1400"/>
              <a:t>Science behind atticus</a:t>
            </a:r>
            <a:endParaRPr sz="1400"/>
          </a:p>
          <a:p>
            <a:pPr indent="-317500" lvl="1" marL="914400" rtl="0" algn="l">
              <a:spcBef>
                <a:spcPts val="0"/>
              </a:spcBef>
              <a:spcAft>
                <a:spcPts val="0"/>
              </a:spcAft>
              <a:buSzPts val="1400"/>
              <a:buChar char="○"/>
            </a:pPr>
            <a:r>
              <a:rPr lang="en"/>
              <a:t>1</a:t>
            </a:r>
            <a:r>
              <a:rPr lang="en"/>
              <a:t>. More documents, higher accuracy (Anya)</a:t>
            </a:r>
            <a:endParaRPr/>
          </a:p>
          <a:p>
            <a:pPr indent="-317500" lvl="1" marL="914400" rtl="0" algn="l">
              <a:spcBef>
                <a:spcPts val="0"/>
              </a:spcBef>
              <a:spcAft>
                <a:spcPts val="0"/>
              </a:spcAft>
              <a:buSzPts val="1400"/>
              <a:buChar char="○"/>
            </a:pPr>
            <a:r>
              <a:rPr lang="en"/>
              <a:t>2. Should be a # of documents where it will guarantee a good f-score (0.80) (Andrew)</a:t>
            </a:r>
            <a:endParaRPr/>
          </a:p>
          <a:p>
            <a:pPr indent="-317500" lvl="1" marL="914400" rtl="0" algn="l">
              <a:spcBef>
                <a:spcPts val="0"/>
              </a:spcBef>
              <a:spcAft>
                <a:spcPts val="0"/>
              </a:spcAft>
              <a:buSzPts val="1400"/>
              <a:buChar char="○"/>
            </a:pPr>
            <a:r>
              <a:rPr lang="en"/>
              <a:t>3. We can find out when AI reaches a consistent accuracy and reallocate human labelling (based on f-score) (Tagir)</a:t>
            </a:r>
            <a:endParaRPr/>
          </a:p>
          <a:p>
            <a:pPr indent="-317500" lvl="2" marL="1371600" rtl="0" algn="l">
              <a:spcBef>
                <a:spcPts val="0"/>
              </a:spcBef>
              <a:spcAft>
                <a:spcPts val="0"/>
              </a:spcAft>
              <a:buSzPts val="1400"/>
              <a:buChar char="■"/>
            </a:pPr>
            <a:r>
              <a:rPr lang="en"/>
              <a:t>We can look at multiple algorithms and find out which ones are generally easy or hard</a:t>
            </a:r>
            <a:endParaRPr/>
          </a:p>
          <a:p>
            <a:pPr indent="-317500" lvl="2" marL="1371600" rtl="0" algn="l">
              <a:spcBef>
                <a:spcPts val="0"/>
              </a:spcBef>
              <a:spcAft>
                <a:spcPts val="0"/>
              </a:spcAft>
              <a:buSzPts val="1400"/>
              <a:buChar char="■"/>
            </a:pPr>
            <a:r>
              <a:rPr lang="en"/>
              <a:t>Different algorithms will produce different results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Concept Review</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what was covered in module 1</a:t>
            </a:r>
            <a:endParaRPr/>
          </a:p>
          <a:p>
            <a:pPr indent="0" lvl="0" marL="0" rtl="0" algn="l">
              <a:spcBef>
                <a:spcPts val="1600"/>
              </a:spcBef>
              <a:spcAft>
                <a:spcPts val="1600"/>
              </a:spcAft>
              <a:buNone/>
            </a:pPr>
            <a:r>
              <a:rPr lang="en"/>
              <a:t>Format based on modules 2 and 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Atticus Overview</a:t>
            </a:r>
            <a:endParaRPr/>
          </a:p>
        </p:txBody>
      </p:sp>
      <p:sp>
        <p:nvSpPr>
          <p:cNvPr id="75" name="Google Shape;75;p16"/>
          <p:cNvSpPr txBox="1"/>
          <p:nvPr>
            <p:ph idx="1" type="body"/>
          </p:nvPr>
        </p:nvSpPr>
        <p:spPr>
          <a:xfrm>
            <a:off x="311700" y="1152475"/>
            <a:ext cx="8520600" cy="135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Atticus working on?</a:t>
            </a:r>
            <a:endParaRPr/>
          </a:p>
          <a:p>
            <a:pPr indent="-342900" lvl="0" marL="457200" rtl="0" algn="l">
              <a:spcBef>
                <a:spcPts val="0"/>
              </a:spcBef>
              <a:spcAft>
                <a:spcPts val="0"/>
              </a:spcAft>
              <a:buSzPts val="1800"/>
              <a:buChar char="●"/>
            </a:pPr>
            <a:r>
              <a:rPr lang="en"/>
              <a:t>We are training a dataset, not making a product</a:t>
            </a:r>
            <a:endParaRPr/>
          </a:p>
          <a:p>
            <a:pPr indent="0" lvl="0" marL="0" rtl="0" algn="l">
              <a:spcBef>
                <a:spcPts val="0"/>
              </a:spcBef>
              <a:spcAft>
                <a:spcPts val="0"/>
              </a:spcAft>
              <a:buNone/>
            </a:pPr>
            <a:r>
              <a:rPr lang="en"/>
              <a:t>How does Atticus do it?</a:t>
            </a:r>
            <a:endParaRPr/>
          </a:p>
          <a:p>
            <a:pPr indent="-342900" lvl="0" marL="457200" rtl="0" algn="l">
              <a:spcBef>
                <a:spcPts val="0"/>
              </a:spcBef>
              <a:spcAft>
                <a:spcPts val="0"/>
              </a:spcAft>
              <a:buSzPts val="1800"/>
              <a:buChar char="●"/>
            </a:pPr>
            <a:r>
              <a:rPr lang="en"/>
              <a:t>We use eBrevia to annotate and label </a:t>
            </a:r>
            <a:r>
              <a:rPr lang="en" u="sng">
                <a:solidFill>
                  <a:schemeClr val="hlink"/>
                </a:solidFill>
                <a:hlinkClick r:id="rId3"/>
              </a:rPr>
              <a:t>certain clause</a:t>
            </a:r>
            <a:r>
              <a:rPr lang="en" u="sng">
                <a:solidFill>
                  <a:schemeClr val="hlink"/>
                </a:solidFill>
                <a:hlinkClick r:id="rId4"/>
              </a:rPr>
              <a:t>s</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6" name="Google Shape;76;p16"/>
          <p:cNvPicPr preferRelativeResize="0"/>
          <p:nvPr/>
        </p:nvPicPr>
        <p:blipFill>
          <a:blip r:embed="rId5">
            <a:alphaModFix/>
          </a:blip>
          <a:stretch>
            <a:fillRect/>
          </a:stretch>
        </p:blipFill>
        <p:spPr>
          <a:xfrm>
            <a:off x="0" y="2504875"/>
            <a:ext cx="5079085" cy="2638750"/>
          </a:xfrm>
          <a:prstGeom prst="rect">
            <a:avLst/>
          </a:prstGeom>
          <a:noFill/>
          <a:ln>
            <a:noFill/>
          </a:ln>
        </p:spPr>
      </p:pic>
      <p:sp>
        <p:nvSpPr>
          <p:cNvPr id="77" name="Google Shape;77;p16"/>
          <p:cNvSpPr txBox="1"/>
          <p:nvPr/>
        </p:nvSpPr>
        <p:spPr>
          <a:xfrm>
            <a:off x="5216475" y="3185800"/>
            <a:ext cx="4122000" cy="66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rPr>
              <a:t>Here’s a sneak peek inside eBrevia!</a:t>
            </a:r>
            <a:endParaRPr sz="1800">
              <a:solidFill>
                <a:schemeClr val="dk2"/>
              </a:solidFill>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Science Behind Atticus</a:t>
            </a:r>
            <a:r>
              <a:rPr lang="en"/>
              <a:t> - Hypothesis 1</a:t>
            </a:r>
            <a:endParaRPr/>
          </a:p>
        </p:txBody>
      </p:sp>
      <p:sp>
        <p:nvSpPr>
          <p:cNvPr id="83" name="Google Shape;83;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Hypothesis: More examples = higher f-score/accuracy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1: More Examples = Higher Accuracy</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Purpose</a:t>
            </a:r>
            <a:r>
              <a:rPr lang="en"/>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1: More Examples = Higher Accuracy</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Background / Research</a:t>
            </a:r>
            <a:r>
              <a:rPr lang="en"/>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1: More Examples = Higher Accuracy</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Procedures:</a:t>
            </a:r>
            <a:endParaRPr/>
          </a:p>
          <a:p>
            <a:pPr indent="-342900" lvl="0" marL="457200" rtl="0" algn="l">
              <a:spcBef>
                <a:spcPts val="1600"/>
              </a:spcBef>
              <a:spcAft>
                <a:spcPts val="0"/>
              </a:spcAft>
              <a:buSzPts val="1800"/>
              <a:buChar char="●"/>
            </a:pPr>
            <a:r>
              <a:rPr lang="en"/>
              <a:t>Checked automatic trendline created by Google Sheets.</a:t>
            </a:r>
            <a:endParaRPr/>
          </a:p>
          <a:p>
            <a:pPr indent="-342900" lvl="0" marL="457200" rtl="0" algn="l">
              <a:spcBef>
                <a:spcPts val="0"/>
              </a:spcBef>
              <a:spcAft>
                <a:spcPts val="0"/>
              </a:spcAft>
              <a:buSzPts val="1800"/>
              <a:buChar char="●"/>
            </a:pPr>
            <a:r>
              <a:rPr lang="en"/>
              <a:t>Differences that either I didn't notice, or ones with net difference equal to or less than .01, were considered "same".</a:t>
            </a:r>
            <a:endParaRPr/>
          </a:p>
        </p:txBody>
      </p:sp>
      <p:grpSp>
        <p:nvGrpSpPr>
          <p:cNvPr id="102" name="Google Shape;102;p20"/>
          <p:cNvGrpSpPr/>
          <p:nvPr/>
        </p:nvGrpSpPr>
        <p:grpSpPr>
          <a:xfrm>
            <a:off x="4102550" y="2640700"/>
            <a:ext cx="4286251" cy="2502799"/>
            <a:chOff x="3960609" y="2341438"/>
            <a:chExt cx="4311690" cy="2802059"/>
          </a:xfrm>
        </p:grpSpPr>
        <p:pic>
          <p:nvPicPr>
            <p:cNvPr id="103" name="Google Shape;103;p20" title="Chart"/>
            <p:cNvPicPr preferRelativeResize="0"/>
            <p:nvPr/>
          </p:nvPicPr>
          <p:blipFill rotWithShape="1">
            <a:blip r:embed="rId3">
              <a:alphaModFix/>
            </a:blip>
            <a:srcRect b="0" l="0" r="4852" t="0"/>
            <a:stretch/>
          </p:blipFill>
          <p:spPr>
            <a:xfrm>
              <a:off x="3960609" y="2341438"/>
              <a:ext cx="4311690" cy="2802059"/>
            </a:xfrm>
            <a:prstGeom prst="rect">
              <a:avLst/>
            </a:prstGeom>
            <a:noFill/>
            <a:ln>
              <a:noFill/>
            </a:ln>
          </p:spPr>
        </p:pic>
        <p:sp>
          <p:nvSpPr>
            <p:cNvPr id="104" name="Google Shape;104;p20"/>
            <p:cNvSpPr/>
            <p:nvPr/>
          </p:nvSpPr>
          <p:spPr>
            <a:xfrm>
              <a:off x="6859211" y="2410135"/>
              <a:ext cx="571500" cy="21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1: More Examples = Higher Accuracy</a:t>
            </a:r>
            <a:endParaRPr/>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Data</a:t>
            </a:r>
            <a:endParaRPr/>
          </a:p>
        </p:txBody>
      </p:sp>
      <p:graphicFrame>
        <p:nvGraphicFramePr>
          <p:cNvPr id="111" name="Google Shape;111;p21"/>
          <p:cNvGraphicFramePr/>
          <p:nvPr/>
        </p:nvGraphicFramePr>
        <p:xfrm>
          <a:off x="1760850" y="1262650"/>
          <a:ext cx="3000000" cy="3000000"/>
        </p:xfrm>
        <a:graphic>
          <a:graphicData uri="http://schemas.openxmlformats.org/drawingml/2006/table">
            <a:tbl>
              <a:tblPr>
                <a:noFill/>
                <a:tableStyleId>{7D1D5399-30F4-44CB-9BC7-9338B3EAC080}</a:tableStyleId>
              </a:tblPr>
              <a:tblGrid>
                <a:gridCol w="2610550"/>
                <a:gridCol w="2288825"/>
                <a:gridCol w="1978250"/>
              </a:tblGrid>
              <a:tr h="303500">
                <a:tc>
                  <a:txBody>
                    <a:bodyPr/>
                    <a:lstStyle/>
                    <a:p>
                      <a:pPr indent="0" lvl="0" marL="0" rtl="0" algn="l">
                        <a:spcBef>
                          <a:spcPts val="0"/>
                        </a:spcBef>
                        <a:spcAft>
                          <a:spcPts val="0"/>
                        </a:spcAft>
                        <a:buNone/>
                      </a:pPr>
                      <a:r>
                        <a:rPr lang="en" sz="1200"/>
                        <a:t>Yes</a:t>
                      </a:r>
                      <a:endParaRPr sz="1200"/>
                    </a:p>
                  </a:txBody>
                  <a:tcPr marT="91425" marB="91425" marR="91425" marL="91425"/>
                </a:tc>
                <a:tc>
                  <a:txBody>
                    <a:bodyPr/>
                    <a:lstStyle/>
                    <a:p>
                      <a:pPr indent="0" lvl="0" marL="0" rtl="0" algn="l">
                        <a:spcBef>
                          <a:spcPts val="0"/>
                        </a:spcBef>
                        <a:spcAft>
                          <a:spcPts val="0"/>
                        </a:spcAft>
                        <a:buNone/>
                      </a:pPr>
                      <a:r>
                        <a:rPr lang="en" sz="1200"/>
                        <a:t>Same</a:t>
                      </a:r>
                      <a:endParaRPr sz="1200"/>
                    </a:p>
                  </a:txBody>
                  <a:tcPr marT="91425" marB="91425" marR="91425" marL="91425"/>
                </a:tc>
                <a:tc>
                  <a:txBody>
                    <a:bodyPr/>
                    <a:lstStyle/>
                    <a:p>
                      <a:pPr indent="0" lvl="0" marL="0" rtl="0" algn="l">
                        <a:spcBef>
                          <a:spcPts val="0"/>
                        </a:spcBef>
                        <a:spcAft>
                          <a:spcPts val="0"/>
                        </a:spcAft>
                        <a:buNone/>
                      </a:pPr>
                      <a:r>
                        <a:rPr lang="en" sz="1200"/>
                        <a:t>No</a:t>
                      </a:r>
                      <a:endParaRPr sz="1200"/>
                    </a:p>
                  </a:txBody>
                  <a:tcPr marT="91425" marB="91425" marR="91425" marL="91425"/>
                </a:tc>
              </a:tr>
              <a:tr h="3058825">
                <a:tc>
                  <a:txBody>
                    <a:bodyPr/>
                    <a:lstStyle/>
                    <a:p>
                      <a:pPr indent="0" lvl="0" marL="0" rtl="0" algn="l">
                        <a:spcBef>
                          <a:spcPts val="0"/>
                        </a:spcBef>
                        <a:spcAft>
                          <a:spcPts val="0"/>
                        </a:spcAft>
                        <a:buNone/>
                      </a:pPr>
                      <a:r>
                        <a:rPr lang="en" sz="1200"/>
                        <a:t>Anti-Assignment</a:t>
                      </a:r>
                      <a:endParaRPr sz="1200"/>
                    </a:p>
                    <a:p>
                      <a:pPr indent="0" lvl="0" marL="0" rtl="0" algn="l">
                        <a:spcBef>
                          <a:spcPts val="0"/>
                        </a:spcBef>
                        <a:spcAft>
                          <a:spcPts val="0"/>
                        </a:spcAft>
                        <a:buNone/>
                      </a:pPr>
                      <a:r>
                        <a:rPr lang="en" sz="1200"/>
                        <a:t>Audit Rights</a:t>
                      </a:r>
                      <a:endParaRPr sz="1200"/>
                    </a:p>
                    <a:p>
                      <a:pPr indent="0" lvl="0" marL="0" rtl="0" algn="l">
                        <a:spcBef>
                          <a:spcPts val="0"/>
                        </a:spcBef>
                        <a:spcAft>
                          <a:spcPts val="0"/>
                        </a:spcAft>
                        <a:buNone/>
                      </a:pPr>
                      <a:r>
                        <a:rPr lang="en" sz="1200"/>
                        <a:t>Exclusivity</a:t>
                      </a:r>
                      <a:endParaRPr sz="1200"/>
                    </a:p>
                    <a:p>
                      <a:pPr indent="0" lvl="0" marL="0" rtl="0" algn="l">
                        <a:spcBef>
                          <a:spcPts val="0"/>
                        </a:spcBef>
                        <a:spcAft>
                          <a:spcPts val="0"/>
                        </a:spcAft>
                        <a:buNone/>
                      </a:pPr>
                      <a:r>
                        <a:rPr lang="en" sz="1200"/>
                        <a:t>Insurance</a:t>
                      </a:r>
                      <a:endParaRPr sz="1200"/>
                    </a:p>
                    <a:p>
                      <a:pPr indent="0" lvl="0" marL="0" rtl="0" algn="l">
                        <a:spcBef>
                          <a:spcPts val="0"/>
                        </a:spcBef>
                        <a:spcAft>
                          <a:spcPts val="0"/>
                        </a:spcAft>
                        <a:buNone/>
                      </a:pPr>
                      <a:r>
                        <a:rPr lang="en" sz="1200"/>
                        <a:t>Irrevocable or Perpetual License</a:t>
                      </a:r>
                      <a:endParaRPr sz="1200"/>
                    </a:p>
                    <a:p>
                      <a:pPr indent="0" lvl="0" marL="0" rtl="0" algn="l">
                        <a:spcBef>
                          <a:spcPts val="0"/>
                        </a:spcBef>
                        <a:spcAft>
                          <a:spcPts val="0"/>
                        </a:spcAft>
                        <a:buNone/>
                      </a:pPr>
                      <a:r>
                        <a:rPr lang="en" sz="1200"/>
                        <a:t>Joint IP Ownership</a:t>
                      </a:r>
                      <a:endParaRPr sz="1200"/>
                    </a:p>
                    <a:p>
                      <a:pPr indent="0" lvl="0" marL="0" rtl="0" algn="l">
                        <a:spcBef>
                          <a:spcPts val="0"/>
                        </a:spcBef>
                        <a:spcAft>
                          <a:spcPts val="0"/>
                        </a:spcAft>
                        <a:buNone/>
                      </a:pPr>
                      <a:r>
                        <a:rPr lang="en" sz="1200"/>
                        <a:t>License Grant</a:t>
                      </a:r>
                      <a:endParaRPr sz="1200"/>
                    </a:p>
                    <a:p>
                      <a:pPr indent="0" lvl="0" marL="0" rtl="0" algn="l">
                        <a:spcBef>
                          <a:spcPts val="0"/>
                        </a:spcBef>
                        <a:spcAft>
                          <a:spcPts val="0"/>
                        </a:spcAft>
                        <a:buNone/>
                      </a:pPr>
                      <a:r>
                        <a:rPr lang="en" sz="1200"/>
                        <a:t>Minimum Commitment</a:t>
                      </a:r>
                      <a:endParaRPr sz="1200"/>
                    </a:p>
                    <a:p>
                      <a:pPr indent="0" lvl="0" marL="0" rtl="0" algn="l">
                        <a:spcBef>
                          <a:spcPts val="0"/>
                        </a:spcBef>
                        <a:spcAft>
                          <a:spcPts val="0"/>
                        </a:spcAft>
                        <a:buNone/>
                      </a:pPr>
                      <a:r>
                        <a:rPr lang="en" sz="1200"/>
                        <a:t>Most Favored Nation</a:t>
                      </a:r>
                      <a:endParaRPr sz="1200"/>
                    </a:p>
                    <a:p>
                      <a:pPr indent="0" lvl="0" marL="0" rtl="0" algn="l">
                        <a:spcBef>
                          <a:spcPts val="0"/>
                        </a:spcBef>
                        <a:spcAft>
                          <a:spcPts val="0"/>
                        </a:spcAft>
                        <a:buNone/>
                      </a:pPr>
                      <a:r>
                        <a:rPr lang="en" sz="1200"/>
                        <a:t>Notice Period</a:t>
                      </a:r>
                      <a:endParaRPr sz="1200"/>
                    </a:p>
                    <a:p>
                      <a:pPr indent="0" lvl="0" marL="0" rtl="0" algn="l">
                        <a:spcBef>
                          <a:spcPts val="0"/>
                        </a:spcBef>
                        <a:spcAft>
                          <a:spcPts val="0"/>
                        </a:spcAft>
                        <a:buNone/>
                      </a:pPr>
                      <a:r>
                        <a:rPr lang="en" sz="1200"/>
                        <a:t>Revenue Profit Sharing</a:t>
                      </a:r>
                      <a:endParaRPr sz="1200"/>
                    </a:p>
                    <a:p>
                      <a:pPr indent="0" lvl="0" marL="0" rtl="0" algn="l">
                        <a:spcBef>
                          <a:spcPts val="0"/>
                        </a:spcBef>
                        <a:spcAft>
                          <a:spcPts val="0"/>
                        </a:spcAft>
                        <a:buNone/>
                      </a:pPr>
                      <a:r>
                        <a:rPr lang="en" sz="1200"/>
                        <a:t>ROFR/ROFN/ROFN</a:t>
                      </a:r>
                      <a:endParaRPr sz="1200"/>
                    </a:p>
                    <a:p>
                      <a:pPr indent="0" lvl="0" marL="0" rtl="0" algn="l">
                        <a:spcBef>
                          <a:spcPts val="0"/>
                        </a:spcBef>
                        <a:spcAft>
                          <a:spcPts val="0"/>
                        </a:spcAft>
                        <a:buNone/>
                      </a:pPr>
                      <a:r>
                        <a:rPr lang="en" sz="1200"/>
                        <a:t>Signing Date</a:t>
                      </a:r>
                      <a:endParaRPr sz="1200"/>
                    </a:p>
                    <a:p>
                      <a:pPr indent="0" lvl="0" marL="0" rtl="0" algn="l">
                        <a:spcBef>
                          <a:spcPts val="0"/>
                        </a:spcBef>
                        <a:spcAft>
                          <a:spcPts val="0"/>
                        </a:spcAft>
                        <a:buNone/>
                      </a:pPr>
                      <a:r>
                        <a:rPr lang="en" sz="1200"/>
                        <a:t>Termination for Convenience</a:t>
                      </a:r>
                      <a:endParaRPr sz="1200"/>
                    </a:p>
                    <a:p>
                      <a:pPr indent="0" lvl="0" marL="0" rtl="0" algn="l">
                        <a:spcBef>
                          <a:spcPts val="0"/>
                        </a:spcBef>
                        <a:spcAft>
                          <a:spcPts val="0"/>
                        </a:spcAft>
                        <a:buNone/>
                      </a:pPr>
                      <a:r>
                        <a:rPr lang="en" sz="1200"/>
                        <a:t>Third Party Beneficiary</a:t>
                      </a:r>
                      <a:endParaRPr sz="1200"/>
                    </a:p>
                    <a:p>
                      <a:pPr indent="0" lvl="0" marL="0" rtl="0" algn="l">
                        <a:spcBef>
                          <a:spcPts val="0"/>
                        </a:spcBef>
                        <a:spcAft>
                          <a:spcPts val="0"/>
                        </a:spcAft>
                        <a:buNone/>
                      </a:pPr>
                      <a:r>
                        <a:rPr lang="en" sz="1200"/>
                        <a:t>Uncapped Liability</a:t>
                      </a:r>
                      <a:endParaRPr sz="1200"/>
                    </a:p>
                    <a:p>
                      <a:pPr indent="0" lvl="0" marL="0" rtl="0" algn="l">
                        <a:spcBef>
                          <a:spcPts val="0"/>
                        </a:spcBef>
                        <a:spcAft>
                          <a:spcPts val="0"/>
                        </a:spcAft>
                        <a:buNone/>
                      </a:pPr>
                      <a:r>
                        <a:rPr lang="en" sz="1200"/>
                        <a:t>Volume Restriction</a:t>
                      </a:r>
                      <a:endParaRPr sz="1200"/>
                    </a:p>
                  </a:txBody>
                  <a:tcPr marT="91425" marB="91425" marR="91425" marL="91425"/>
                </a:tc>
                <a:tc>
                  <a:txBody>
                    <a:bodyPr/>
                    <a:lstStyle/>
                    <a:p>
                      <a:pPr indent="0" lvl="0" marL="0" rtl="0" algn="l">
                        <a:spcBef>
                          <a:spcPts val="0"/>
                        </a:spcBef>
                        <a:spcAft>
                          <a:spcPts val="0"/>
                        </a:spcAft>
                        <a:buNone/>
                      </a:pPr>
                      <a:r>
                        <a:rPr lang="en" sz="1200"/>
                        <a:t>Affiliate License - Licensee</a:t>
                      </a:r>
                      <a:endParaRPr sz="1200"/>
                    </a:p>
                    <a:p>
                      <a:pPr indent="0" lvl="0" marL="0" rtl="0" algn="l">
                        <a:spcBef>
                          <a:spcPts val="0"/>
                        </a:spcBef>
                        <a:spcAft>
                          <a:spcPts val="0"/>
                        </a:spcAft>
                        <a:buNone/>
                      </a:pPr>
                      <a:r>
                        <a:rPr lang="en" sz="1200"/>
                        <a:t>Affiliate License - Licensor</a:t>
                      </a:r>
                      <a:endParaRPr sz="1200"/>
                    </a:p>
                    <a:p>
                      <a:pPr indent="0" lvl="0" marL="0" rtl="0" algn="l">
                        <a:spcBef>
                          <a:spcPts val="0"/>
                        </a:spcBef>
                        <a:spcAft>
                          <a:spcPts val="0"/>
                        </a:spcAft>
                        <a:buNone/>
                      </a:pPr>
                      <a:r>
                        <a:rPr lang="en" sz="1200"/>
                        <a:t>Change of Control</a:t>
                      </a:r>
                      <a:endParaRPr sz="1200"/>
                    </a:p>
                    <a:p>
                      <a:pPr indent="0" lvl="0" marL="0" rtl="0" algn="l">
                        <a:spcBef>
                          <a:spcPts val="0"/>
                        </a:spcBef>
                        <a:spcAft>
                          <a:spcPts val="0"/>
                        </a:spcAft>
                        <a:buNone/>
                      </a:pPr>
                      <a:r>
                        <a:rPr lang="en" sz="1200"/>
                        <a:t>Covenant Not to Sue</a:t>
                      </a:r>
                      <a:endParaRPr sz="1200"/>
                    </a:p>
                    <a:p>
                      <a:pPr indent="0" lvl="0" marL="0" rtl="0" algn="l">
                        <a:spcBef>
                          <a:spcPts val="0"/>
                        </a:spcBef>
                        <a:spcAft>
                          <a:spcPts val="0"/>
                        </a:spcAft>
                        <a:buNone/>
                      </a:pPr>
                      <a:r>
                        <a:rPr lang="en" sz="1200"/>
                        <a:t>Effective Date</a:t>
                      </a:r>
                      <a:endParaRPr sz="1200"/>
                    </a:p>
                    <a:p>
                      <a:pPr indent="0" lvl="0" marL="0" rtl="0" algn="l">
                        <a:spcBef>
                          <a:spcPts val="0"/>
                        </a:spcBef>
                        <a:spcAft>
                          <a:spcPts val="0"/>
                        </a:spcAft>
                        <a:buNone/>
                      </a:pPr>
                      <a:r>
                        <a:rPr lang="en" sz="1200"/>
                        <a:t>Governing Law</a:t>
                      </a:r>
                      <a:endParaRPr sz="1200"/>
                    </a:p>
                    <a:p>
                      <a:pPr indent="0" lvl="0" marL="0" rtl="0" algn="l">
                        <a:spcBef>
                          <a:spcPts val="0"/>
                        </a:spcBef>
                        <a:spcAft>
                          <a:spcPts val="0"/>
                        </a:spcAft>
                        <a:buNone/>
                      </a:pPr>
                      <a:r>
                        <a:rPr lang="en" sz="1200"/>
                        <a:t>Post-Termination Covenants</a:t>
                      </a:r>
                      <a:endParaRPr sz="1200"/>
                    </a:p>
                    <a:p>
                      <a:pPr indent="0" lvl="0" marL="0" rtl="0" algn="l">
                        <a:spcBef>
                          <a:spcPts val="0"/>
                        </a:spcBef>
                        <a:spcAft>
                          <a:spcPts val="0"/>
                        </a:spcAft>
                        <a:buNone/>
                      </a:pPr>
                      <a:r>
                        <a:rPr lang="en" sz="1200"/>
                        <a:t>Price Increase Restrictions</a:t>
                      </a:r>
                      <a:endParaRPr sz="1200"/>
                    </a:p>
                    <a:p>
                      <a:pPr indent="0" lvl="0" marL="0" rtl="0" algn="l">
                        <a:spcBef>
                          <a:spcPts val="0"/>
                        </a:spcBef>
                        <a:spcAft>
                          <a:spcPts val="0"/>
                        </a:spcAft>
                        <a:buNone/>
                      </a:pPr>
                      <a:r>
                        <a:rPr lang="en" sz="1200"/>
                        <a:t>Renewal Term</a:t>
                      </a:r>
                      <a:endParaRPr sz="1200"/>
                    </a:p>
                  </a:txBody>
                  <a:tcPr marT="91425" marB="91425" marR="91425" marL="91425"/>
                </a:tc>
                <a:tc>
                  <a:txBody>
                    <a:bodyPr/>
                    <a:lstStyle/>
                    <a:p>
                      <a:pPr indent="0" lvl="0" marL="0" rtl="0" algn="l">
                        <a:spcBef>
                          <a:spcPts val="0"/>
                        </a:spcBef>
                        <a:spcAft>
                          <a:spcPts val="0"/>
                        </a:spcAft>
                        <a:buNone/>
                      </a:pPr>
                      <a:r>
                        <a:rPr lang="en" sz="1200"/>
                        <a:t>IP Assignment</a:t>
                      </a:r>
                      <a:endParaRPr sz="1200"/>
                    </a:p>
                    <a:p>
                      <a:pPr indent="0" lvl="0" marL="0" rtl="0" algn="l">
                        <a:spcBef>
                          <a:spcPts val="0"/>
                        </a:spcBef>
                        <a:spcAft>
                          <a:spcPts val="0"/>
                        </a:spcAft>
                        <a:buNone/>
                      </a:pPr>
                      <a:r>
                        <a:rPr lang="en" sz="1200"/>
                        <a:t>No-Solicit of Customers</a:t>
                      </a:r>
                      <a:endParaRPr sz="1200"/>
                    </a:p>
                    <a:p>
                      <a:pPr indent="0" lvl="0" marL="0" rtl="0" algn="l">
                        <a:spcBef>
                          <a:spcPts val="0"/>
                        </a:spcBef>
                        <a:spcAft>
                          <a:spcPts val="0"/>
                        </a:spcAft>
                        <a:buNone/>
                      </a:pPr>
                      <a:r>
                        <a:rPr lang="en" sz="1200"/>
                        <a:t>No-Solicit of Employees</a:t>
                      </a:r>
                      <a:endParaRPr sz="1200"/>
                    </a:p>
                    <a:p>
                      <a:pPr indent="0" lvl="0" marL="0" rtl="0" algn="l">
                        <a:spcBef>
                          <a:spcPts val="0"/>
                        </a:spcBef>
                        <a:spcAft>
                          <a:spcPts val="0"/>
                        </a:spcAft>
                        <a:buNone/>
                      </a:pPr>
                      <a:r>
                        <a:rPr lang="en" sz="1200"/>
                        <a:t>Non-Compete</a:t>
                      </a:r>
                      <a:endParaRPr sz="1200"/>
                    </a:p>
                    <a:p>
                      <a:pPr indent="0" lvl="0" marL="0" rtl="0" algn="l">
                        <a:spcBef>
                          <a:spcPts val="0"/>
                        </a:spcBef>
                        <a:spcAft>
                          <a:spcPts val="0"/>
                        </a:spcAft>
                        <a:buNone/>
                      </a:pPr>
                      <a:r>
                        <a:rPr lang="en" sz="1200"/>
                        <a:t>Non-disparagement</a:t>
                      </a:r>
                      <a:endParaRPr sz="12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1: More Examples = Higher Accuracy</a:t>
            </a:r>
            <a:endParaRPr/>
          </a:p>
        </p:txBody>
      </p:sp>
      <p:sp>
        <p:nvSpPr>
          <p:cNvPr id="117" name="Google Shape;11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a:p>
            <a:pPr indent="-342900" lvl="0" marL="457200" rtl="0" algn="l">
              <a:spcBef>
                <a:spcPts val="1600"/>
              </a:spcBef>
              <a:spcAft>
                <a:spcPts val="0"/>
              </a:spcAft>
              <a:buSzPts val="1800"/>
              <a:buChar char="●"/>
            </a:pPr>
            <a:r>
              <a:rPr lang="en"/>
              <a:t>True for </a:t>
            </a:r>
            <a:r>
              <a:rPr b="1" lang="en"/>
              <a:t>17/31</a:t>
            </a:r>
            <a:r>
              <a:rPr lang="en"/>
              <a:t> of labels</a:t>
            </a:r>
            <a:endParaRPr/>
          </a:p>
          <a:p>
            <a:pPr indent="-342900" lvl="0" marL="457200" rtl="0" algn="l">
              <a:spcBef>
                <a:spcPts val="0"/>
              </a:spcBef>
              <a:spcAft>
                <a:spcPts val="0"/>
              </a:spcAft>
              <a:buSzPts val="1800"/>
              <a:buChar char="●"/>
            </a:pPr>
            <a:r>
              <a:rPr lang="en"/>
              <a:t>Same for </a:t>
            </a:r>
            <a:r>
              <a:rPr b="1" lang="en"/>
              <a:t>9/31 </a:t>
            </a:r>
            <a:r>
              <a:rPr lang="en"/>
              <a:t>of labels</a:t>
            </a:r>
            <a:endParaRPr/>
          </a:p>
          <a:p>
            <a:pPr indent="-342900" lvl="0" marL="457200" rtl="0" algn="l">
              <a:spcBef>
                <a:spcPts val="0"/>
              </a:spcBef>
              <a:spcAft>
                <a:spcPts val="0"/>
              </a:spcAft>
              <a:buSzPts val="1800"/>
              <a:buChar char="●"/>
            </a:pPr>
            <a:r>
              <a:rPr lang="en"/>
              <a:t>False for </a:t>
            </a:r>
            <a:r>
              <a:rPr b="1" lang="en"/>
              <a:t>5/31</a:t>
            </a:r>
            <a:r>
              <a:rPr lang="en"/>
              <a:t> of labels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Char char="●"/>
            </a:pPr>
            <a:r>
              <a:rPr lang="en"/>
              <a:t>So, only true for an iffy 55% of labels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1: More Examples = Higher Accuracy</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a:p>
            <a:pPr indent="-342900" lvl="0" marL="457200" rtl="0" algn="l">
              <a:spcBef>
                <a:spcPts val="1600"/>
              </a:spcBef>
              <a:spcAft>
                <a:spcPts val="0"/>
              </a:spcAft>
              <a:buSzPts val="1800"/>
              <a:buChar char="●"/>
            </a:pPr>
            <a:r>
              <a:rPr lang="en"/>
              <a:t>Only true for a bit more than half of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(looking into the no's rn)</a:t>
            </a:r>
            <a:endParaRPr/>
          </a:p>
          <a:p>
            <a:pPr indent="-342900" lvl="0" marL="457200" rtl="0" algn="l">
              <a:spcBef>
                <a:spcPts val="0"/>
              </a:spcBef>
              <a:spcAft>
                <a:spcPts val="0"/>
              </a:spcAft>
              <a:buSzPts val="1800"/>
              <a:buChar char="-"/>
            </a:pPr>
            <a:r>
              <a:rPr lang="en"/>
              <a:t>Why is this useful/important/significant?</a:t>
            </a:r>
            <a:endParaRPr/>
          </a:p>
          <a:p>
            <a:pPr indent="-342900" lvl="0" marL="457200" rtl="0" algn="l">
              <a:spcBef>
                <a:spcPts val="0"/>
              </a:spcBef>
              <a:spcAft>
                <a:spcPts val="0"/>
              </a:spcAft>
              <a:buSzPts val="1800"/>
              <a:buChar char="-"/>
            </a:pPr>
            <a:r>
              <a:rPr lang="en"/>
              <a:t>Things learned, learnings will be used for?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Science Behind Atticus - </a:t>
            </a:r>
            <a:r>
              <a:rPr lang="en"/>
              <a:t>Hypothesis 2</a:t>
            </a:r>
            <a:endParaRPr/>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a:t>Hypothesis 2: There is usually a range of number of examples where the best f-scores (hopefully 0.80+) can be reached.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Background and Research</a:t>
            </a:r>
            <a:endParaRPr/>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What we are trying to do in this experiment is to prove that the AI will behave similarly if we give it different models with similar numbers of examples</a:t>
            </a:r>
            <a:endParaRPr/>
          </a:p>
          <a:p>
            <a:pPr indent="-342900" lvl="0" marL="457200" rtl="0" algn="l">
              <a:spcBef>
                <a:spcPts val="0"/>
              </a:spcBef>
              <a:spcAft>
                <a:spcPts val="0"/>
              </a:spcAft>
              <a:buSzPts val="1800"/>
              <a:buChar char="●"/>
            </a:pPr>
            <a:r>
              <a:rPr lang="en"/>
              <a:t>Some of the labels never reach a good f-score, but that doesn’t matter for this hypothesis. </a:t>
            </a:r>
            <a:endParaRPr sz="1400"/>
          </a:p>
        </p:txBody>
      </p:sp>
      <p:sp>
        <p:nvSpPr>
          <p:cNvPr id="136" name="Google Shape;136;p25"/>
          <p:cNvSpPr txBox="1"/>
          <p:nvPr/>
        </p:nvSpPr>
        <p:spPr>
          <a:xfrm>
            <a:off x="279575" y="3158050"/>
            <a:ext cx="2360700" cy="18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taken from the label “Non-Compete”. The green circle marks the sweet spot, where the highest f-scores are seen. Even though they aren’t high, it doesn’t matter for this hypothesis.</a:t>
            </a:r>
            <a:endParaRPr/>
          </a:p>
        </p:txBody>
      </p:sp>
      <p:pic>
        <p:nvPicPr>
          <p:cNvPr id="137" name="Google Shape;137;p25" title="Chart"/>
          <p:cNvPicPr preferRelativeResize="0"/>
          <p:nvPr/>
        </p:nvPicPr>
        <p:blipFill>
          <a:blip r:embed="rId3">
            <a:alphaModFix/>
          </a:blip>
          <a:stretch>
            <a:fillRect/>
          </a:stretch>
        </p:blipFill>
        <p:spPr>
          <a:xfrm>
            <a:off x="3778574" y="2261479"/>
            <a:ext cx="4131825" cy="2554849"/>
          </a:xfrm>
          <a:prstGeom prst="rect">
            <a:avLst/>
          </a:prstGeom>
          <a:noFill/>
          <a:ln>
            <a:noFill/>
          </a:ln>
        </p:spPr>
      </p:pic>
      <p:sp>
        <p:nvSpPr>
          <p:cNvPr id="138" name="Google Shape;138;p25"/>
          <p:cNvSpPr/>
          <p:nvPr/>
        </p:nvSpPr>
        <p:spPr>
          <a:xfrm>
            <a:off x="4013975" y="3097450"/>
            <a:ext cx="634200" cy="478800"/>
          </a:xfrm>
          <a:prstGeom prst="ellipse">
            <a:avLst/>
          </a:prstGeom>
          <a:no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If two or more different models with similar number of examples (at most 10 examples apart) yield consistent results (at most 0.05 apart), the label goes into the “consistent” section</a:t>
            </a:r>
            <a:endParaRPr/>
          </a:p>
          <a:p>
            <a:pPr indent="-317500" lvl="1" marL="914400" rtl="0" algn="l">
              <a:spcBef>
                <a:spcPts val="0"/>
              </a:spcBef>
              <a:spcAft>
                <a:spcPts val="0"/>
              </a:spcAft>
              <a:buSzPts val="1400"/>
              <a:buChar char="○"/>
            </a:pPr>
            <a:r>
              <a:rPr lang="en"/>
              <a:t>Only applies if both f-scores are among the highest. If they are, they are colored green. Otherwise, they are colored orange.</a:t>
            </a:r>
            <a:endParaRPr/>
          </a:p>
          <a:p>
            <a:pPr indent="-342900" lvl="0" marL="457200" rtl="0" algn="l">
              <a:spcBef>
                <a:spcPts val="0"/>
              </a:spcBef>
              <a:spcAft>
                <a:spcPts val="0"/>
              </a:spcAft>
              <a:buSzPts val="1800"/>
              <a:buChar char="●"/>
            </a:pPr>
            <a:r>
              <a:rPr lang="en"/>
              <a:t>If </a:t>
            </a:r>
            <a:r>
              <a:rPr lang="en"/>
              <a:t>all </a:t>
            </a:r>
            <a:r>
              <a:rPr lang="en"/>
              <a:t>models have an f-score of 0 the label goes into the “unreliable data” section</a:t>
            </a:r>
            <a:endParaRPr/>
          </a:p>
          <a:p>
            <a:pPr indent="-317500" lvl="1" marL="914400" rtl="0" algn="l">
              <a:spcBef>
                <a:spcPts val="0"/>
              </a:spcBef>
              <a:spcAft>
                <a:spcPts val="0"/>
              </a:spcAft>
              <a:buSzPts val="1400"/>
              <a:buChar char="○"/>
            </a:pPr>
            <a:r>
              <a:rPr lang="en"/>
              <a:t>Colored red</a:t>
            </a:r>
            <a:endParaRPr/>
          </a:p>
          <a:p>
            <a:pPr indent="-342900" lvl="0" marL="457200" rtl="0" algn="l">
              <a:spcBef>
                <a:spcPts val="0"/>
              </a:spcBef>
              <a:spcAft>
                <a:spcPts val="0"/>
              </a:spcAft>
              <a:buSzPts val="1800"/>
              <a:buChar char="●"/>
            </a:pPr>
            <a:r>
              <a:rPr lang="en"/>
              <a:t>Otherwise, they go into the “tentative” section. The reason is that since there is always one model with the highest score, another future model with a similar number of examples can yield a similarly high score.</a:t>
            </a:r>
            <a:endParaRPr/>
          </a:p>
          <a:p>
            <a:pPr indent="-317500" lvl="1" marL="914400" rtl="0" algn="l">
              <a:spcBef>
                <a:spcPts val="0"/>
              </a:spcBef>
              <a:spcAft>
                <a:spcPts val="0"/>
              </a:spcAft>
              <a:buSzPts val="1400"/>
              <a:buChar char="○"/>
            </a:pPr>
            <a:r>
              <a:rPr lang="en"/>
              <a:t>If a label had no two models that were less than 10 examples apart, it gets colored blue</a:t>
            </a:r>
            <a:endParaRPr/>
          </a:p>
        </p:txBody>
      </p:sp>
      <p:sp>
        <p:nvSpPr>
          <p:cNvPr id="144" name="Google Shape;14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0" y="0"/>
            <a:ext cx="99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a:t>
            </a:r>
            <a:endParaRPr/>
          </a:p>
        </p:txBody>
      </p:sp>
      <p:graphicFrame>
        <p:nvGraphicFramePr>
          <p:cNvPr id="150" name="Google Shape;150;p27"/>
          <p:cNvGraphicFramePr/>
          <p:nvPr/>
        </p:nvGraphicFramePr>
        <p:xfrm>
          <a:off x="952500" y="0"/>
          <a:ext cx="3000000" cy="3000000"/>
        </p:xfrm>
        <a:graphic>
          <a:graphicData uri="http://schemas.openxmlformats.org/drawingml/2006/table">
            <a:tbl>
              <a:tblPr>
                <a:noFill/>
                <a:tableStyleId>{7D1D5399-30F4-44CB-9BC7-9338B3EAC080}</a:tableStyleId>
              </a:tblPr>
              <a:tblGrid>
                <a:gridCol w="2730500"/>
                <a:gridCol w="2730500"/>
                <a:gridCol w="2730500"/>
              </a:tblGrid>
              <a:tr h="773575">
                <a:tc>
                  <a:txBody>
                    <a:bodyPr/>
                    <a:lstStyle/>
                    <a:p>
                      <a:pPr indent="0" lvl="0" marL="0" rtl="0" algn="ctr">
                        <a:spcBef>
                          <a:spcPts val="0"/>
                        </a:spcBef>
                        <a:spcAft>
                          <a:spcPts val="0"/>
                        </a:spcAft>
                        <a:buNone/>
                      </a:pPr>
                      <a:r>
                        <a:rPr lang="en"/>
                        <a:t>Consistent Labels (two models at most 10 examples apart have f-scores differ by less than 0.05)</a:t>
                      </a:r>
                      <a:endParaRPr/>
                    </a:p>
                  </a:txBody>
                  <a:tcPr marT="91425" marB="91425" marR="91425" marL="91425"/>
                </a:tc>
                <a:tc>
                  <a:txBody>
                    <a:bodyPr/>
                    <a:lstStyle/>
                    <a:p>
                      <a:pPr indent="0" lvl="0" marL="0" rtl="0" algn="ctr">
                        <a:spcBef>
                          <a:spcPts val="0"/>
                        </a:spcBef>
                        <a:spcAft>
                          <a:spcPts val="0"/>
                        </a:spcAft>
                        <a:buNone/>
                      </a:pPr>
                      <a:r>
                        <a:rPr lang="en"/>
                        <a:t>Tentative </a:t>
                      </a:r>
                      <a:r>
                        <a:rPr lang="en"/>
                        <a:t>Labels (no two models are at most 10 examples apart or their f-score differs by more than 0.05)</a:t>
                      </a:r>
                      <a:endParaRPr/>
                    </a:p>
                  </a:txBody>
                  <a:tcPr marT="91425" marB="91425" marR="91425" marL="91425"/>
                </a:tc>
                <a:tc>
                  <a:txBody>
                    <a:bodyPr/>
                    <a:lstStyle/>
                    <a:p>
                      <a:pPr indent="0" lvl="0" marL="0" rtl="0" algn="ctr">
                        <a:spcBef>
                          <a:spcPts val="0"/>
                        </a:spcBef>
                        <a:spcAft>
                          <a:spcPts val="0"/>
                        </a:spcAft>
                        <a:buNone/>
                      </a:pPr>
                      <a:r>
                        <a:rPr lang="en"/>
                        <a:t>Unreliable Data (all models stay at f-score of 0)</a:t>
                      </a:r>
                      <a:endParaRPr/>
                    </a:p>
                  </a:txBody>
                  <a:tcPr marT="91425" marB="91425" marR="91425" marL="91425"/>
                </a:tc>
              </a:tr>
              <a:tr h="3797225">
                <a:tc>
                  <a:txBody>
                    <a:bodyPr/>
                    <a:lstStyle/>
                    <a:p>
                      <a:pPr indent="0" lvl="0" marL="0" rtl="0" algn="l">
                        <a:spcBef>
                          <a:spcPts val="0"/>
                        </a:spcBef>
                        <a:spcAft>
                          <a:spcPts val="0"/>
                        </a:spcAft>
                        <a:buNone/>
                      </a:pPr>
                      <a:r>
                        <a:rPr lang="en" sz="1200">
                          <a:solidFill>
                            <a:srgbClr val="FF9900"/>
                          </a:solidFill>
                        </a:rPr>
                        <a:t>Anti-Assignment</a:t>
                      </a:r>
                      <a:endParaRPr sz="1200">
                        <a:solidFill>
                          <a:srgbClr val="FF9900"/>
                        </a:solidFill>
                      </a:endParaRPr>
                    </a:p>
                    <a:p>
                      <a:pPr indent="0" lvl="0" marL="0" rtl="0" algn="l">
                        <a:spcBef>
                          <a:spcPts val="0"/>
                        </a:spcBef>
                        <a:spcAft>
                          <a:spcPts val="0"/>
                        </a:spcAft>
                        <a:buNone/>
                      </a:pPr>
                      <a:r>
                        <a:rPr lang="en" sz="1200">
                          <a:solidFill>
                            <a:srgbClr val="38761D"/>
                          </a:solidFill>
                        </a:rPr>
                        <a:t>Exclusivity</a:t>
                      </a:r>
                      <a:endParaRPr sz="1200">
                        <a:solidFill>
                          <a:srgbClr val="38761D"/>
                        </a:solidFill>
                      </a:endParaRPr>
                    </a:p>
                    <a:p>
                      <a:pPr indent="0" lvl="0" marL="0" rtl="0" algn="l">
                        <a:spcBef>
                          <a:spcPts val="0"/>
                        </a:spcBef>
                        <a:spcAft>
                          <a:spcPts val="0"/>
                        </a:spcAft>
                        <a:buNone/>
                      </a:pPr>
                      <a:r>
                        <a:rPr lang="en" sz="1200">
                          <a:solidFill>
                            <a:srgbClr val="38761D"/>
                          </a:solidFill>
                        </a:rPr>
                        <a:t>Effective Date</a:t>
                      </a:r>
                      <a:endParaRPr sz="1200">
                        <a:solidFill>
                          <a:srgbClr val="38761D"/>
                        </a:solidFill>
                      </a:endParaRPr>
                    </a:p>
                    <a:p>
                      <a:pPr indent="0" lvl="0" marL="0" rtl="0" algn="l">
                        <a:spcBef>
                          <a:spcPts val="0"/>
                        </a:spcBef>
                        <a:spcAft>
                          <a:spcPts val="0"/>
                        </a:spcAft>
                        <a:buNone/>
                      </a:pPr>
                      <a:r>
                        <a:rPr lang="en" sz="1200">
                          <a:solidFill>
                            <a:srgbClr val="38761D"/>
                          </a:solidFill>
                        </a:rPr>
                        <a:t>Joint IP Ownership</a:t>
                      </a:r>
                      <a:endParaRPr sz="1200">
                        <a:solidFill>
                          <a:srgbClr val="38761D"/>
                        </a:solidFill>
                      </a:endParaRPr>
                    </a:p>
                    <a:p>
                      <a:pPr indent="0" lvl="0" marL="0" rtl="0" algn="l">
                        <a:spcBef>
                          <a:spcPts val="0"/>
                        </a:spcBef>
                        <a:spcAft>
                          <a:spcPts val="0"/>
                        </a:spcAft>
                        <a:buNone/>
                      </a:pPr>
                      <a:r>
                        <a:rPr lang="en" sz="1200">
                          <a:solidFill>
                            <a:srgbClr val="38761D"/>
                          </a:solidFill>
                        </a:rPr>
                        <a:t>Signing-Date</a:t>
                      </a:r>
                      <a:endParaRPr sz="1200">
                        <a:solidFill>
                          <a:srgbClr val="38761D"/>
                        </a:solidFill>
                      </a:endParaRPr>
                    </a:p>
                    <a:p>
                      <a:pPr indent="0" lvl="0" marL="0" rtl="0" algn="l">
                        <a:spcBef>
                          <a:spcPts val="0"/>
                        </a:spcBef>
                        <a:spcAft>
                          <a:spcPts val="0"/>
                        </a:spcAft>
                        <a:buNone/>
                      </a:pPr>
                      <a:r>
                        <a:rPr lang="en" sz="1200">
                          <a:solidFill>
                            <a:srgbClr val="38761D"/>
                          </a:solidFill>
                        </a:rPr>
                        <a:t>Minimum Commitment</a:t>
                      </a:r>
                      <a:endParaRPr sz="1200">
                        <a:solidFill>
                          <a:srgbClr val="38761D"/>
                        </a:solidFill>
                      </a:endParaRPr>
                    </a:p>
                    <a:p>
                      <a:pPr indent="0" lvl="0" marL="0" rtl="0" algn="l">
                        <a:spcBef>
                          <a:spcPts val="0"/>
                        </a:spcBef>
                        <a:spcAft>
                          <a:spcPts val="0"/>
                        </a:spcAft>
                        <a:buNone/>
                      </a:pPr>
                      <a:r>
                        <a:rPr lang="en" sz="1200">
                          <a:solidFill>
                            <a:srgbClr val="38761D"/>
                          </a:solidFill>
                        </a:rPr>
                        <a:t>Non-Compete</a:t>
                      </a:r>
                      <a:endParaRPr sz="1200">
                        <a:solidFill>
                          <a:srgbClr val="38761D"/>
                        </a:solidFill>
                      </a:endParaRPr>
                    </a:p>
                    <a:p>
                      <a:pPr indent="0" lvl="0" marL="0" rtl="0" algn="l">
                        <a:spcBef>
                          <a:spcPts val="0"/>
                        </a:spcBef>
                        <a:spcAft>
                          <a:spcPts val="0"/>
                        </a:spcAft>
                        <a:buNone/>
                      </a:pPr>
                      <a:r>
                        <a:rPr lang="en" sz="1200">
                          <a:solidFill>
                            <a:srgbClr val="38761D"/>
                          </a:solidFill>
                        </a:rPr>
                        <a:t>Post-termination Covenants</a:t>
                      </a:r>
                      <a:endParaRPr sz="1200">
                        <a:solidFill>
                          <a:srgbClr val="38761D"/>
                        </a:solidFill>
                      </a:endParaRPr>
                    </a:p>
                    <a:p>
                      <a:pPr indent="0" lvl="0" marL="0" rtl="0" algn="l">
                        <a:spcBef>
                          <a:spcPts val="0"/>
                        </a:spcBef>
                        <a:spcAft>
                          <a:spcPts val="0"/>
                        </a:spcAft>
                        <a:buNone/>
                      </a:pPr>
                      <a:r>
                        <a:rPr lang="en" sz="1200">
                          <a:solidFill>
                            <a:srgbClr val="38761D"/>
                          </a:solidFill>
                        </a:rPr>
                        <a:t>No-Solicit of Customers</a:t>
                      </a:r>
                      <a:endParaRPr sz="1200">
                        <a:solidFill>
                          <a:srgbClr val="38761D"/>
                        </a:solidFill>
                      </a:endParaRPr>
                    </a:p>
                    <a:p>
                      <a:pPr indent="0" lvl="0" marL="0" rtl="0" algn="l">
                        <a:spcBef>
                          <a:spcPts val="0"/>
                        </a:spcBef>
                        <a:spcAft>
                          <a:spcPts val="0"/>
                        </a:spcAft>
                        <a:buNone/>
                      </a:pPr>
                      <a:r>
                        <a:rPr lang="en" sz="1200">
                          <a:solidFill>
                            <a:srgbClr val="E69138"/>
                          </a:solidFill>
                        </a:rPr>
                        <a:t>Revenue/Profit Sharing</a:t>
                      </a:r>
                      <a:endParaRPr sz="1200">
                        <a:solidFill>
                          <a:srgbClr val="E69138"/>
                        </a:solidFill>
                      </a:endParaRPr>
                    </a:p>
                  </a:txBody>
                  <a:tcPr marT="91425" marB="91425" marR="91425" marL="91425"/>
                </a:tc>
                <a:tc>
                  <a:txBody>
                    <a:bodyPr/>
                    <a:lstStyle/>
                    <a:p>
                      <a:pPr indent="0" lvl="0" marL="0" rtl="0" algn="l">
                        <a:spcBef>
                          <a:spcPts val="0"/>
                        </a:spcBef>
                        <a:spcAft>
                          <a:spcPts val="0"/>
                        </a:spcAft>
                        <a:buNone/>
                      </a:pPr>
                      <a:r>
                        <a:rPr lang="en" sz="1200">
                          <a:solidFill>
                            <a:srgbClr val="0000FF"/>
                          </a:solidFill>
                        </a:rPr>
                        <a:t>Audit Rights</a:t>
                      </a:r>
                      <a:endParaRPr sz="1200">
                        <a:solidFill>
                          <a:srgbClr val="0000FF"/>
                        </a:solidFill>
                      </a:endParaRPr>
                    </a:p>
                    <a:p>
                      <a:pPr indent="0" lvl="0" marL="0" rtl="0" algn="l">
                        <a:spcBef>
                          <a:spcPts val="0"/>
                        </a:spcBef>
                        <a:spcAft>
                          <a:spcPts val="0"/>
                        </a:spcAft>
                        <a:buNone/>
                      </a:pPr>
                      <a:r>
                        <a:rPr lang="en" sz="1200"/>
                        <a:t>Change of Control</a:t>
                      </a:r>
                      <a:endParaRPr sz="1200"/>
                    </a:p>
                    <a:p>
                      <a:pPr indent="0" lvl="0" marL="0" rtl="0" algn="l">
                        <a:spcBef>
                          <a:spcPts val="0"/>
                        </a:spcBef>
                        <a:spcAft>
                          <a:spcPts val="0"/>
                        </a:spcAft>
                        <a:buNone/>
                      </a:pPr>
                      <a:r>
                        <a:rPr lang="en" sz="1200">
                          <a:solidFill>
                            <a:srgbClr val="0000FF"/>
                          </a:solidFill>
                        </a:rPr>
                        <a:t>Insurance</a:t>
                      </a:r>
                      <a:endParaRPr sz="1200">
                        <a:solidFill>
                          <a:srgbClr val="0000FF"/>
                        </a:solidFill>
                      </a:endParaRPr>
                    </a:p>
                    <a:p>
                      <a:pPr indent="0" lvl="0" marL="0" rtl="0" algn="l">
                        <a:spcBef>
                          <a:spcPts val="0"/>
                        </a:spcBef>
                        <a:spcAft>
                          <a:spcPts val="0"/>
                        </a:spcAft>
                        <a:buNone/>
                      </a:pPr>
                      <a:r>
                        <a:rPr lang="en" sz="1200">
                          <a:solidFill>
                            <a:srgbClr val="0000FF"/>
                          </a:solidFill>
                        </a:rPr>
                        <a:t>IP-Assignment</a:t>
                      </a:r>
                      <a:endParaRPr sz="1200">
                        <a:solidFill>
                          <a:srgbClr val="0000FF"/>
                        </a:solidFill>
                      </a:endParaRPr>
                    </a:p>
                    <a:p>
                      <a:pPr indent="0" lvl="0" marL="0" rtl="0" algn="l">
                        <a:spcBef>
                          <a:spcPts val="0"/>
                        </a:spcBef>
                        <a:spcAft>
                          <a:spcPts val="0"/>
                        </a:spcAft>
                        <a:buNone/>
                      </a:pPr>
                      <a:r>
                        <a:rPr lang="en" sz="1200">
                          <a:solidFill>
                            <a:srgbClr val="0000FF"/>
                          </a:solidFill>
                        </a:rPr>
                        <a:t>Irrevocable or Perpetual License</a:t>
                      </a:r>
                      <a:endParaRPr sz="1200">
                        <a:solidFill>
                          <a:srgbClr val="0000FF"/>
                        </a:solidFill>
                      </a:endParaRPr>
                    </a:p>
                    <a:p>
                      <a:pPr indent="0" lvl="0" marL="0" rtl="0" algn="l">
                        <a:spcBef>
                          <a:spcPts val="0"/>
                        </a:spcBef>
                        <a:spcAft>
                          <a:spcPts val="0"/>
                        </a:spcAft>
                        <a:buNone/>
                      </a:pPr>
                      <a:r>
                        <a:rPr lang="en" sz="1200">
                          <a:solidFill>
                            <a:srgbClr val="0000FF"/>
                          </a:solidFill>
                        </a:rPr>
                        <a:t>License Grant</a:t>
                      </a:r>
                      <a:endParaRPr sz="1200">
                        <a:solidFill>
                          <a:srgbClr val="0000FF"/>
                        </a:solidFill>
                      </a:endParaRPr>
                    </a:p>
                    <a:p>
                      <a:pPr indent="0" lvl="0" marL="0" rtl="0" algn="l">
                        <a:spcBef>
                          <a:spcPts val="0"/>
                        </a:spcBef>
                        <a:spcAft>
                          <a:spcPts val="0"/>
                        </a:spcAft>
                        <a:buNone/>
                      </a:pPr>
                      <a:r>
                        <a:rPr lang="en" sz="1200">
                          <a:solidFill>
                            <a:srgbClr val="0000FF"/>
                          </a:solidFill>
                        </a:rPr>
                        <a:t>Most Favored Nation</a:t>
                      </a:r>
                      <a:endParaRPr sz="1200">
                        <a:solidFill>
                          <a:srgbClr val="0000FF"/>
                        </a:solidFill>
                      </a:endParaRPr>
                    </a:p>
                    <a:p>
                      <a:pPr indent="0" lvl="0" marL="0" rtl="0" algn="l">
                        <a:spcBef>
                          <a:spcPts val="0"/>
                        </a:spcBef>
                        <a:spcAft>
                          <a:spcPts val="0"/>
                        </a:spcAft>
                        <a:buNone/>
                      </a:pPr>
                      <a:r>
                        <a:rPr lang="en" sz="1200"/>
                        <a:t>No-Solicit of Employees</a:t>
                      </a:r>
                      <a:endParaRPr sz="1200"/>
                    </a:p>
                    <a:p>
                      <a:pPr indent="0" lvl="0" marL="0" rtl="0" algn="l">
                        <a:spcBef>
                          <a:spcPts val="0"/>
                        </a:spcBef>
                        <a:spcAft>
                          <a:spcPts val="0"/>
                        </a:spcAft>
                        <a:buNone/>
                      </a:pPr>
                      <a:r>
                        <a:rPr lang="en" sz="1200">
                          <a:solidFill>
                            <a:srgbClr val="0000FF"/>
                          </a:solidFill>
                        </a:rPr>
                        <a:t>Non-Disparagement</a:t>
                      </a:r>
                      <a:endParaRPr sz="1200">
                        <a:solidFill>
                          <a:srgbClr val="0000FF"/>
                        </a:solidFill>
                      </a:endParaRPr>
                    </a:p>
                    <a:p>
                      <a:pPr indent="0" lvl="0" marL="0" rtl="0" algn="l">
                        <a:spcBef>
                          <a:spcPts val="0"/>
                        </a:spcBef>
                        <a:spcAft>
                          <a:spcPts val="0"/>
                        </a:spcAft>
                        <a:buNone/>
                      </a:pPr>
                      <a:r>
                        <a:rPr lang="en" sz="1200">
                          <a:solidFill>
                            <a:srgbClr val="0000FF"/>
                          </a:solidFill>
                        </a:rPr>
                        <a:t>Notice Period to Terminate Auto-renewal</a:t>
                      </a:r>
                      <a:endParaRPr sz="1200">
                        <a:solidFill>
                          <a:srgbClr val="0000FF"/>
                        </a:solidFill>
                      </a:endParaRPr>
                    </a:p>
                    <a:p>
                      <a:pPr indent="0" lvl="0" marL="0" rtl="0" algn="l">
                        <a:spcBef>
                          <a:spcPts val="0"/>
                        </a:spcBef>
                        <a:spcAft>
                          <a:spcPts val="0"/>
                        </a:spcAft>
                        <a:buNone/>
                      </a:pPr>
                      <a:r>
                        <a:rPr lang="en" sz="1200">
                          <a:solidFill>
                            <a:srgbClr val="0000FF"/>
                          </a:solidFill>
                        </a:rPr>
                        <a:t>Price Increase Restrictions</a:t>
                      </a:r>
                      <a:endParaRPr sz="1200">
                        <a:solidFill>
                          <a:srgbClr val="0000FF"/>
                        </a:solidFill>
                      </a:endParaRPr>
                    </a:p>
                    <a:p>
                      <a:pPr indent="0" lvl="0" marL="0" rtl="0" algn="l">
                        <a:spcBef>
                          <a:spcPts val="0"/>
                        </a:spcBef>
                        <a:spcAft>
                          <a:spcPts val="0"/>
                        </a:spcAft>
                        <a:buNone/>
                      </a:pPr>
                      <a:r>
                        <a:rPr lang="en" sz="1200"/>
                        <a:t>Renewal Term</a:t>
                      </a:r>
                      <a:endParaRPr sz="1200"/>
                    </a:p>
                    <a:p>
                      <a:pPr indent="0" lvl="0" marL="0" rtl="0" algn="l">
                        <a:spcBef>
                          <a:spcPts val="0"/>
                        </a:spcBef>
                        <a:spcAft>
                          <a:spcPts val="0"/>
                        </a:spcAft>
                        <a:buNone/>
                      </a:pPr>
                      <a:r>
                        <a:rPr lang="en" sz="1200">
                          <a:solidFill>
                            <a:srgbClr val="0000FF"/>
                          </a:solidFill>
                        </a:rPr>
                        <a:t>Uncapped Liability</a:t>
                      </a:r>
                      <a:endParaRPr sz="1200">
                        <a:solidFill>
                          <a:srgbClr val="0000FF"/>
                        </a:solidFill>
                      </a:endParaRPr>
                    </a:p>
                    <a:p>
                      <a:pPr indent="0" lvl="0" marL="0" rtl="0" algn="l">
                        <a:spcBef>
                          <a:spcPts val="0"/>
                        </a:spcBef>
                        <a:spcAft>
                          <a:spcPts val="0"/>
                        </a:spcAft>
                        <a:buNone/>
                      </a:pPr>
                      <a:r>
                        <a:rPr lang="en" sz="1200">
                          <a:solidFill>
                            <a:srgbClr val="0000FF"/>
                          </a:solidFill>
                        </a:rPr>
                        <a:t>Volume Restriction</a:t>
                      </a:r>
                      <a:endParaRPr sz="1200">
                        <a:solidFill>
                          <a:srgbClr val="0000FF"/>
                        </a:solidFill>
                      </a:endParaRPr>
                    </a:p>
                    <a:p>
                      <a:pPr indent="0" lvl="0" marL="0" rtl="0" algn="l">
                        <a:spcBef>
                          <a:spcPts val="0"/>
                        </a:spcBef>
                        <a:spcAft>
                          <a:spcPts val="0"/>
                        </a:spcAft>
                        <a:buNone/>
                      </a:pPr>
                      <a:r>
                        <a:rPr lang="en" sz="1200"/>
                        <a:t>Governing Law</a:t>
                      </a:r>
                      <a:endParaRPr sz="1200"/>
                    </a:p>
                    <a:p>
                      <a:pPr indent="0" lvl="0" marL="0" rtl="0" algn="l">
                        <a:spcBef>
                          <a:spcPts val="0"/>
                        </a:spcBef>
                        <a:spcAft>
                          <a:spcPts val="0"/>
                        </a:spcAft>
                        <a:buNone/>
                      </a:pPr>
                      <a:r>
                        <a:rPr lang="en" sz="1200">
                          <a:solidFill>
                            <a:srgbClr val="0000FF"/>
                          </a:solidFill>
                        </a:rPr>
                        <a:t>ROFR/ROFN/ROFN</a:t>
                      </a:r>
                      <a:endParaRPr sz="1200">
                        <a:solidFill>
                          <a:srgbClr val="0000FF"/>
                        </a:solidFill>
                      </a:endParaRPr>
                    </a:p>
                    <a:p>
                      <a:pPr indent="0" lvl="0" marL="0" rtl="0" algn="l">
                        <a:spcBef>
                          <a:spcPts val="0"/>
                        </a:spcBef>
                        <a:spcAft>
                          <a:spcPts val="0"/>
                        </a:spcAft>
                        <a:buNone/>
                      </a:pPr>
                      <a:r>
                        <a:rPr lang="en" sz="1200">
                          <a:solidFill>
                            <a:srgbClr val="0000FF"/>
                          </a:solidFill>
                        </a:rPr>
                        <a:t>Termination for Convenience</a:t>
                      </a:r>
                      <a:endParaRPr sz="1200">
                        <a:solidFill>
                          <a:srgbClr val="0000FF"/>
                        </a:solidFill>
                      </a:endParaRPr>
                    </a:p>
                    <a:p>
                      <a:pPr indent="0" lvl="0" marL="0" rtl="0" algn="l">
                        <a:spcBef>
                          <a:spcPts val="0"/>
                        </a:spcBef>
                        <a:spcAft>
                          <a:spcPts val="0"/>
                        </a:spcAft>
                        <a:buNone/>
                      </a:pPr>
                      <a:r>
                        <a:rPr lang="en" sz="1200">
                          <a:solidFill>
                            <a:srgbClr val="0000FF"/>
                          </a:solidFill>
                        </a:rPr>
                        <a:t>Third Party Beneficiary</a:t>
                      </a:r>
                      <a:endParaRPr sz="1200">
                        <a:solidFill>
                          <a:srgbClr val="0000FF"/>
                        </a:solidFill>
                      </a:endParaRPr>
                    </a:p>
                  </a:txBody>
                  <a:tcPr marT="91425" marB="91425" marR="91425" marL="91425"/>
                </a:tc>
                <a:tc>
                  <a:txBody>
                    <a:bodyPr/>
                    <a:lstStyle/>
                    <a:p>
                      <a:pPr indent="0" lvl="0" marL="0" rtl="0" algn="l">
                        <a:spcBef>
                          <a:spcPts val="0"/>
                        </a:spcBef>
                        <a:spcAft>
                          <a:spcPts val="0"/>
                        </a:spcAft>
                        <a:buNone/>
                      </a:pPr>
                      <a:r>
                        <a:rPr lang="en" sz="1200">
                          <a:solidFill>
                            <a:srgbClr val="FF0000"/>
                          </a:solidFill>
                        </a:rPr>
                        <a:t>Affiliate License-Licensee</a:t>
                      </a:r>
                      <a:endParaRPr sz="1200">
                        <a:solidFill>
                          <a:srgbClr val="FF0000"/>
                        </a:solidFill>
                      </a:endParaRPr>
                    </a:p>
                    <a:p>
                      <a:pPr indent="0" lvl="0" marL="0" rtl="0" algn="l">
                        <a:spcBef>
                          <a:spcPts val="0"/>
                        </a:spcBef>
                        <a:spcAft>
                          <a:spcPts val="0"/>
                        </a:spcAft>
                        <a:buNone/>
                      </a:pPr>
                      <a:r>
                        <a:rPr lang="en" sz="1200">
                          <a:solidFill>
                            <a:srgbClr val="FF0000"/>
                          </a:solidFill>
                        </a:rPr>
                        <a:t>Affiliate License-Licensor ("Magic Hat")</a:t>
                      </a:r>
                      <a:endParaRPr sz="1200">
                        <a:solidFill>
                          <a:srgbClr val="FF0000"/>
                        </a:solidFill>
                      </a:endParaRPr>
                    </a:p>
                    <a:p>
                      <a:pPr indent="0" lvl="0" marL="0" rtl="0" algn="l">
                        <a:spcBef>
                          <a:spcPts val="0"/>
                        </a:spcBef>
                        <a:spcAft>
                          <a:spcPts val="0"/>
                        </a:spcAft>
                        <a:buNone/>
                      </a:pPr>
                      <a:r>
                        <a:rPr lang="en" sz="1200">
                          <a:solidFill>
                            <a:srgbClr val="FF0000"/>
                          </a:solidFill>
                        </a:rPr>
                        <a:t>Covenant Not to Sue</a:t>
                      </a:r>
                      <a:endParaRPr sz="1200">
                        <a:solidFill>
                          <a:srgbClr val="FF0000"/>
                        </a:solidFill>
                      </a:endParaRPr>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Clr>
                          <a:schemeClr val="dk1"/>
                        </a:buClr>
                        <a:buSzPts val="1100"/>
                        <a:buFont typeface="Arial"/>
                        <a:buNone/>
                      </a:pPr>
                      <a:r>
                        <a:t/>
                      </a:r>
                      <a:endParaRPr sz="12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156" name="Google Shape;156;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Requirements met for 9 label</a:t>
            </a:r>
            <a:r>
              <a:rPr lang="en"/>
              <a:t>s</a:t>
            </a:r>
            <a:endParaRPr/>
          </a:p>
          <a:p>
            <a:pPr indent="-317500" lvl="1" marL="914400" rtl="0" algn="l">
              <a:spcBef>
                <a:spcPts val="0"/>
              </a:spcBef>
              <a:spcAft>
                <a:spcPts val="0"/>
              </a:spcAft>
              <a:buSzPts val="1400"/>
              <a:buChar char="○"/>
            </a:pPr>
            <a:r>
              <a:rPr lang="en"/>
              <a:t>7 colored green</a:t>
            </a:r>
            <a:endParaRPr/>
          </a:p>
          <a:p>
            <a:pPr indent="-317500" lvl="1" marL="914400" rtl="0" algn="l">
              <a:spcBef>
                <a:spcPts val="0"/>
              </a:spcBef>
              <a:spcAft>
                <a:spcPts val="0"/>
              </a:spcAft>
              <a:buSzPts val="1400"/>
              <a:buChar char="○"/>
            </a:pPr>
            <a:r>
              <a:rPr lang="en"/>
              <a:t>2 colored orange</a:t>
            </a:r>
            <a:endParaRPr/>
          </a:p>
          <a:p>
            <a:pPr indent="-342900" lvl="0" marL="457200" rtl="0" algn="l">
              <a:spcBef>
                <a:spcPts val="0"/>
              </a:spcBef>
              <a:spcAft>
                <a:spcPts val="0"/>
              </a:spcAft>
              <a:buSzPts val="1800"/>
              <a:buChar char="●"/>
            </a:pPr>
            <a:r>
              <a:rPr lang="en"/>
              <a:t>Requirements yet to be met for 20 labels</a:t>
            </a:r>
            <a:endParaRPr/>
          </a:p>
          <a:p>
            <a:pPr indent="-317500" lvl="1" marL="914400" rtl="0" algn="l">
              <a:spcBef>
                <a:spcPts val="0"/>
              </a:spcBef>
              <a:spcAft>
                <a:spcPts val="0"/>
              </a:spcAft>
              <a:buSzPts val="1400"/>
              <a:buChar char="○"/>
            </a:pPr>
            <a:r>
              <a:rPr lang="en"/>
              <a:t>16 colored blue</a:t>
            </a:r>
            <a:endParaRPr/>
          </a:p>
          <a:p>
            <a:pPr indent="-317500" lvl="1" marL="914400" rtl="0" algn="l">
              <a:spcBef>
                <a:spcPts val="0"/>
              </a:spcBef>
              <a:spcAft>
                <a:spcPts val="0"/>
              </a:spcAft>
              <a:buSzPts val="1400"/>
              <a:buChar char="○"/>
            </a:pPr>
            <a:r>
              <a:rPr lang="en"/>
              <a:t>4 colored red</a:t>
            </a:r>
            <a:endParaRPr/>
          </a:p>
          <a:p>
            <a:pPr indent="-342900" lvl="0" marL="457200" rtl="0" algn="l">
              <a:spcBef>
                <a:spcPts val="0"/>
              </a:spcBef>
              <a:spcAft>
                <a:spcPts val="0"/>
              </a:spcAft>
              <a:buSzPts val="1800"/>
              <a:buChar char="●"/>
            </a:pPr>
            <a:r>
              <a:rPr lang="en"/>
              <a:t>AI consistently fails for 3 labels</a:t>
            </a:r>
            <a:endParaRPr/>
          </a:p>
          <a:p>
            <a:pPr indent="-342900" lvl="0" marL="457200" rtl="0" algn="l">
              <a:spcBef>
                <a:spcPts val="0"/>
              </a:spcBef>
              <a:spcAft>
                <a:spcPts val="0"/>
              </a:spcAft>
              <a:buSzPts val="1800"/>
              <a:buChar char="●"/>
            </a:pPr>
            <a:r>
              <a:rPr lang="en"/>
              <a:t>Total: 32 labels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While most of the labels have yet to satisfy these conditions, we have located the “sweet spot” for some of these already.</a:t>
            </a:r>
            <a:endParaRPr/>
          </a:p>
          <a:p>
            <a:pPr indent="-342900" lvl="0" marL="457200" rtl="0" algn="l">
              <a:spcBef>
                <a:spcPts val="0"/>
              </a:spcBef>
              <a:spcAft>
                <a:spcPts val="0"/>
              </a:spcAft>
              <a:buSzPts val="1800"/>
              <a:buChar char="●"/>
            </a:pPr>
            <a:r>
              <a:rPr lang="en"/>
              <a:t>When we test more and more, we will probably find more of these “sweet spots”.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Science Behind Atticus - Hypothesis 3</a:t>
            </a:r>
            <a:endParaRPr/>
          </a:p>
        </p:txBody>
      </p:sp>
      <p:sp>
        <p:nvSpPr>
          <p:cNvPr id="168" name="Google Shape;168;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457200" rtl="0" algn="ctr">
              <a:spcBef>
                <a:spcPts val="0"/>
              </a:spcBef>
              <a:spcAft>
                <a:spcPts val="1600"/>
              </a:spcAft>
              <a:buNone/>
            </a:pPr>
            <a:r>
              <a:rPr lang="en" sz="2000">
                <a:solidFill>
                  <a:srgbClr val="000000"/>
                </a:solidFill>
              </a:rPr>
              <a:t>We can find out when AI reaches a consistent accuracy and reallocate human labelling (based on f-score)</a:t>
            </a:r>
            <a:endParaRPr sz="20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Background / Research</a:t>
            </a:r>
            <a:endParaRPr/>
          </a:p>
        </p:txBody>
      </p:sp>
      <p:sp>
        <p:nvSpPr>
          <p:cNvPr id="174" name="Google Shape;174;p31"/>
          <p:cNvSpPr txBox="1"/>
          <p:nvPr>
            <p:ph idx="1" type="body"/>
          </p:nvPr>
        </p:nvSpPr>
        <p:spPr>
          <a:xfrm>
            <a:off x="311700" y="1152475"/>
            <a:ext cx="8520600" cy="151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a:solidFill>
                  <a:srgbClr val="000000"/>
                </a:solidFill>
              </a:rPr>
              <a:t>Based on Hypothesis one, if there are more examples, most of the labels will have a higher F-Score.</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Some labels have enough examples, that the F-Score will stabilize, and change more slowly if you keep adding more contract examples.</a:t>
            </a:r>
            <a:endParaRPr>
              <a:solidFill>
                <a:srgbClr val="000000"/>
              </a:solidFill>
            </a:endParaRPr>
          </a:p>
          <a:p>
            <a:pPr indent="0" lvl="0" marL="457200" rtl="0" algn="l">
              <a:spcBef>
                <a:spcPts val="1600"/>
              </a:spcBef>
              <a:spcAft>
                <a:spcPts val="1600"/>
              </a:spcAft>
              <a:buNone/>
            </a:pPr>
            <a:r>
              <a:t/>
            </a:r>
            <a:endParaRPr>
              <a:solidFill>
                <a:srgbClr val="000000"/>
              </a:solidFill>
            </a:endParaRPr>
          </a:p>
        </p:txBody>
      </p:sp>
      <p:pic>
        <p:nvPicPr>
          <p:cNvPr id="175" name="Google Shape;175;p31" title="Chart"/>
          <p:cNvPicPr preferRelativeResize="0"/>
          <p:nvPr/>
        </p:nvPicPr>
        <p:blipFill>
          <a:blip r:embed="rId3">
            <a:alphaModFix/>
          </a:blip>
          <a:stretch>
            <a:fillRect/>
          </a:stretch>
        </p:blipFill>
        <p:spPr>
          <a:xfrm>
            <a:off x="2076300" y="3048400"/>
            <a:ext cx="7067699" cy="2095100"/>
          </a:xfrm>
          <a:prstGeom prst="rect">
            <a:avLst/>
          </a:prstGeom>
          <a:noFill/>
          <a:ln>
            <a:noFill/>
          </a:ln>
        </p:spPr>
      </p:pic>
      <p:sp>
        <p:nvSpPr>
          <p:cNvPr id="176" name="Google Shape;176;p31"/>
          <p:cNvSpPr txBox="1"/>
          <p:nvPr/>
        </p:nvSpPr>
        <p:spPr>
          <a:xfrm>
            <a:off x="133250" y="2487350"/>
            <a:ext cx="2140800" cy="2656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t>As shown in the chart below, the more examples you have for signing date, the more the F-Score Increases, however, it becomes more </a:t>
            </a:r>
            <a:r>
              <a:rPr lang="en"/>
              <a:t>consistent</a:t>
            </a:r>
            <a:r>
              <a:rPr lang="en"/>
              <a:t> and stagnant.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Procedures</a:t>
            </a:r>
            <a:endParaRPr/>
          </a:p>
        </p:txBody>
      </p:sp>
      <p:sp>
        <p:nvSpPr>
          <p:cNvPr id="182" name="Google Shape;182;p32"/>
          <p:cNvSpPr txBox="1"/>
          <p:nvPr>
            <p:ph idx="1" type="body"/>
          </p:nvPr>
        </p:nvSpPr>
        <p:spPr>
          <a:xfrm>
            <a:off x="311700" y="466100"/>
            <a:ext cx="8520600" cy="4677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lang="en">
                <a:solidFill>
                  <a:srgbClr val="000000"/>
                </a:solidFill>
              </a:rPr>
              <a:t>If Label has an f-score higher than 0.6 and is consistent, it will go in the consistent label section.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If Label is either significantly changing in f-score and has at least 3 models with at least 40 examples in the last model, it is in the inconsistent label section.</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If Label has either less than 3 models, less than 40 examples on the last model, or is consistent at a low score (lower than 0.6 f-score), it will go in the Not Enough Models and Examples section.</a:t>
            </a:r>
            <a:endParaRPr>
              <a:solidFill>
                <a:srgbClr val="000000"/>
              </a:solidFill>
            </a:endParaRPr>
          </a:p>
          <a:p>
            <a:pPr indent="0" lvl="0" marL="0" rtl="0" algn="l">
              <a:spcBef>
                <a:spcPts val="1600"/>
              </a:spcBef>
              <a:spcAft>
                <a:spcPts val="0"/>
              </a:spcAft>
              <a:buNone/>
            </a:pPr>
            <a:r>
              <a:rPr b="1" lang="en" u="sng">
                <a:solidFill>
                  <a:srgbClr val="000000"/>
                </a:solidFill>
              </a:rPr>
              <a:t>Not Enough Models and Examples Color Code for Labels:</a:t>
            </a:r>
            <a:endParaRPr b="1" u="sng">
              <a:solidFill>
                <a:srgbClr val="000000"/>
              </a:solidFill>
            </a:endParaRPr>
          </a:p>
          <a:p>
            <a:pPr indent="0" lvl="0" marL="0" rtl="0" algn="l">
              <a:spcBef>
                <a:spcPts val="1600"/>
              </a:spcBef>
              <a:spcAft>
                <a:spcPts val="0"/>
              </a:spcAft>
              <a:buNone/>
            </a:pPr>
            <a:r>
              <a:rPr lang="en">
                <a:solidFill>
                  <a:srgbClr val="38761D"/>
                </a:solidFill>
              </a:rPr>
              <a:t>Green</a:t>
            </a:r>
            <a:r>
              <a:rPr lang="en">
                <a:solidFill>
                  <a:srgbClr val="000000"/>
                </a:solidFill>
              </a:rPr>
              <a:t> = Not Enough Models (but enough Examples).		</a:t>
            </a:r>
            <a:r>
              <a:rPr lang="en">
                <a:solidFill>
                  <a:srgbClr val="9900FF"/>
                </a:solidFill>
              </a:rPr>
              <a:t>Purple </a:t>
            </a:r>
            <a:r>
              <a:rPr lang="en">
                <a:solidFill>
                  <a:srgbClr val="000000"/>
                </a:solidFill>
              </a:rPr>
              <a:t>= </a:t>
            </a:r>
            <a:r>
              <a:rPr lang="en">
                <a:solidFill>
                  <a:srgbClr val="FF0000"/>
                </a:solidFill>
              </a:rPr>
              <a:t>Red </a:t>
            </a:r>
            <a:r>
              <a:rPr lang="en">
                <a:solidFill>
                  <a:srgbClr val="000000"/>
                </a:solidFill>
              </a:rPr>
              <a:t>and </a:t>
            </a:r>
            <a:r>
              <a:rPr lang="en">
                <a:solidFill>
                  <a:srgbClr val="0000FF"/>
                </a:solidFill>
              </a:rPr>
              <a:t>Blue</a:t>
            </a:r>
            <a:r>
              <a:rPr lang="en">
                <a:solidFill>
                  <a:srgbClr val="000000"/>
                </a:solidFill>
              </a:rPr>
              <a:t>.</a:t>
            </a:r>
            <a:endParaRPr>
              <a:solidFill>
                <a:srgbClr val="000000"/>
              </a:solidFill>
            </a:endParaRPr>
          </a:p>
          <a:p>
            <a:pPr indent="0" lvl="0" marL="0" rtl="0" algn="l">
              <a:spcBef>
                <a:spcPts val="1600"/>
              </a:spcBef>
              <a:spcAft>
                <a:spcPts val="0"/>
              </a:spcAft>
              <a:buNone/>
            </a:pPr>
            <a:r>
              <a:rPr lang="en">
                <a:solidFill>
                  <a:srgbClr val="0000FF"/>
                </a:solidFill>
              </a:rPr>
              <a:t>Blue</a:t>
            </a:r>
            <a:r>
              <a:rPr lang="en">
                <a:solidFill>
                  <a:srgbClr val="000000"/>
                </a:solidFill>
              </a:rPr>
              <a:t> = Not Enough Examples and/or Models.</a:t>
            </a:r>
            <a:endParaRPr>
              <a:solidFill>
                <a:srgbClr val="000000"/>
              </a:solidFill>
            </a:endParaRPr>
          </a:p>
          <a:p>
            <a:pPr indent="0" lvl="0" marL="0" rtl="0" algn="l">
              <a:spcBef>
                <a:spcPts val="1600"/>
              </a:spcBef>
              <a:spcAft>
                <a:spcPts val="1600"/>
              </a:spcAft>
              <a:buNone/>
            </a:pPr>
            <a:r>
              <a:rPr lang="en">
                <a:solidFill>
                  <a:srgbClr val="FF0000"/>
                </a:solidFill>
              </a:rPr>
              <a:t>Red</a:t>
            </a:r>
            <a:r>
              <a:rPr lang="en">
                <a:solidFill>
                  <a:srgbClr val="000000"/>
                </a:solidFill>
              </a:rPr>
              <a:t> = Inconsistent at a low F-Score.</a:t>
            </a:r>
            <a:endParaRPr>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0" y="0"/>
            <a:ext cx="1029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a:t>
            </a:r>
            <a:endParaRPr/>
          </a:p>
        </p:txBody>
      </p:sp>
      <p:graphicFrame>
        <p:nvGraphicFramePr>
          <p:cNvPr id="188" name="Google Shape;188;p33"/>
          <p:cNvGraphicFramePr/>
          <p:nvPr/>
        </p:nvGraphicFramePr>
        <p:xfrm>
          <a:off x="952500" y="0"/>
          <a:ext cx="3000000" cy="3000000"/>
        </p:xfrm>
        <a:graphic>
          <a:graphicData uri="http://schemas.openxmlformats.org/drawingml/2006/table">
            <a:tbl>
              <a:tblPr>
                <a:noFill/>
                <a:tableStyleId>{7D1D5399-30F4-44CB-9BC7-9338B3EAC080}</a:tableStyleId>
              </a:tblPr>
              <a:tblGrid>
                <a:gridCol w="2730500"/>
                <a:gridCol w="2730500"/>
                <a:gridCol w="2730500"/>
              </a:tblGrid>
              <a:tr h="773575">
                <a:tc>
                  <a:txBody>
                    <a:bodyPr/>
                    <a:lstStyle/>
                    <a:p>
                      <a:pPr indent="0" lvl="0" marL="0" rtl="0" algn="ctr">
                        <a:spcBef>
                          <a:spcPts val="0"/>
                        </a:spcBef>
                        <a:spcAft>
                          <a:spcPts val="0"/>
                        </a:spcAft>
                        <a:buNone/>
                      </a:pPr>
                      <a:r>
                        <a:rPr lang="en"/>
                        <a:t>Consistent Labels (where more examples will not make much difference)</a:t>
                      </a:r>
                      <a:endParaRPr/>
                    </a:p>
                  </a:txBody>
                  <a:tcPr marT="91425" marB="91425" marR="91425" marL="91425"/>
                </a:tc>
                <a:tc>
                  <a:txBody>
                    <a:bodyPr/>
                    <a:lstStyle/>
                    <a:p>
                      <a:pPr indent="0" lvl="0" marL="0" rtl="0" algn="ctr">
                        <a:spcBef>
                          <a:spcPts val="0"/>
                        </a:spcBef>
                        <a:spcAft>
                          <a:spcPts val="0"/>
                        </a:spcAft>
                        <a:buNone/>
                      </a:pPr>
                      <a:r>
                        <a:rPr lang="en"/>
                        <a:t>Inconsistent</a:t>
                      </a:r>
                      <a:r>
                        <a:rPr lang="en"/>
                        <a:t> Labels (more examples will make a significant difference)</a:t>
                      </a:r>
                      <a:endParaRPr/>
                    </a:p>
                  </a:txBody>
                  <a:tcPr marT="91425" marB="91425" marR="91425" marL="91425"/>
                </a:tc>
                <a:tc>
                  <a:txBody>
                    <a:bodyPr/>
                    <a:lstStyle/>
                    <a:p>
                      <a:pPr indent="0" lvl="0" marL="0" rtl="0" algn="ctr">
                        <a:spcBef>
                          <a:spcPts val="0"/>
                        </a:spcBef>
                        <a:spcAft>
                          <a:spcPts val="0"/>
                        </a:spcAft>
                        <a:buNone/>
                      </a:pPr>
                      <a:r>
                        <a:rPr lang="en"/>
                        <a:t>Not Enough Models and Examples to Know or </a:t>
                      </a:r>
                      <a:r>
                        <a:rPr lang="en"/>
                        <a:t>consistent</a:t>
                      </a:r>
                      <a:r>
                        <a:rPr lang="en"/>
                        <a:t> at a low f-score</a:t>
                      </a:r>
                      <a:endParaRPr/>
                    </a:p>
                  </a:txBody>
                  <a:tcPr marT="91425" marB="91425" marR="91425" marL="91425"/>
                </a:tc>
              </a:tr>
              <a:tr h="3797225">
                <a:tc>
                  <a:txBody>
                    <a:bodyPr/>
                    <a:lstStyle/>
                    <a:p>
                      <a:pPr indent="0" lvl="0" marL="0" rtl="0" algn="l">
                        <a:spcBef>
                          <a:spcPts val="0"/>
                        </a:spcBef>
                        <a:spcAft>
                          <a:spcPts val="0"/>
                        </a:spcAft>
                        <a:buNone/>
                      </a:pPr>
                      <a:r>
                        <a:rPr lang="en" sz="1200"/>
                        <a:t>Anti-Assignment</a:t>
                      </a:r>
                      <a:endParaRPr sz="1200"/>
                    </a:p>
                    <a:p>
                      <a:pPr indent="0" lvl="0" marL="0" rtl="0" algn="l">
                        <a:spcBef>
                          <a:spcPts val="0"/>
                        </a:spcBef>
                        <a:spcAft>
                          <a:spcPts val="0"/>
                        </a:spcAft>
                        <a:buNone/>
                      </a:pPr>
                      <a:r>
                        <a:rPr lang="en" sz="1200"/>
                        <a:t>Effective Date</a:t>
                      </a:r>
                      <a:endParaRPr sz="1200"/>
                    </a:p>
                    <a:p>
                      <a:pPr indent="0" lvl="0" marL="0" rtl="0" algn="l">
                        <a:spcBef>
                          <a:spcPts val="0"/>
                        </a:spcBef>
                        <a:spcAft>
                          <a:spcPts val="0"/>
                        </a:spcAft>
                        <a:buNone/>
                      </a:pPr>
                      <a:r>
                        <a:rPr lang="en" sz="1200"/>
                        <a:t>Governing Law</a:t>
                      </a:r>
                      <a:endParaRPr sz="1200"/>
                    </a:p>
                    <a:p>
                      <a:pPr indent="0" lvl="0" marL="0" rtl="0" algn="l">
                        <a:spcBef>
                          <a:spcPts val="0"/>
                        </a:spcBef>
                        <a:spcAft>
                          <a:spcPts val="0"/>
                        </a:spcAft>
                        <a:buNone/>
                      </a:pPr>
                      <a:r>
                        <a:rPr lang="en" sz="1200"/>
                        <a:t>Signing-Date</a:t>
                      </a:r>
                      <a:endParaRPr sz="1200"/>
                    </a:p>
                  </a:txBody>
                  <a:tcPr marT="91425" marB="91425" marR="91425" marL="91425"/>
                </a:tc>
                <a:tc>
                  <a:txBody>
                    <a:bodyPr/>
                    <a:lstStyle/>
                    <a:p>
                      <a:pPr indent="0" lvl="0" marL="0" rtl="0" algn="l">
                        <a:spcBef>
                          <a:spcPts val="0"/>
                        </a:spcBef>
                        <a:spcAft>
                          <a:spcPts val="0"/>
                        </a:spcAft>
                        <a:buNone/>
                      </a:pPr>
                      <a:r>
                        <a:rPr lang="en" sz="1200"/>
                        <a:t>Change of Control</a:t>
                      </a:r>
                      <a:endParaRPr sz="1200"/>
                    </a:p>
                    <a:p>
                      <a:pPr indent="0" lvl="0" marL="0" rtl="0" algn="l">
                        <a:spcBef>
                          <a:spcPts val="0"/>
                        </a:spcBef>
                        <a:spcAft>
                          <a:spcPts val="0"/>
                        </a:spcAft>
                        <a:buNone/>
                      </a:pPr>
                      <a:r>
                        <a:rPr lang="en" sz="1200"/>
                        <a:t>Exclusivity</a:t>
                      </a:r>
                      <a:endParaRPr sz="1200"/>
                    </a:p>
                    <a:p>
                      <a:pPr indent="0" lvl="0" marL="0" rtl="0" algn="l">
                        <a:spcBef>
                          <a:spcPts val="0"/>
                        </a:spcBef>
                        <a:spcAft>
                          <a:spcPts val="0"/>
                        </a:spcAft>
                        <a:buNone/>
                      </a:pPr>
                      <a:r>
                        <a:rPr lang="en" sz="1200"/>
                        <a:t>Non-Compete</a:t>
                      </a:r>
                      <a:endParaRPr sz="1200"/>
                    </a:p>
                    <a:p>
                      <a:pPr indent="0" lvl="0" marL="0" rtl="0" algn="l">
                        <a:spcBef>
                          <a:spcPts val="0"/>
                        </a:spcBef>
                        <a:spcAft>
                          <a:spcPts val="0"/>
                        </a:spcAft>
                        <a:buNone/>
                      </a:pPr>
                      <a:r>
                        <a:rPr lang="en" sz="1200"/>
                        <a:t>Notice Period to Terminate Auto-renewal</a:t>
                      </a:r>
                      <a:endParaRPr sz="1200"/>
                    </a:p>
                    <a:p>
                      <a:pPr indent="0" lvl="0" marL="0" rtl="0" algn="l">
                        <a:spcBef>
                          <a:spcPts val="0"/>
                        </a:spcBef>
                        <a:spcAft>
                          <a:spcPts val="0"/>
                        </a:spcAft>
                        <a:buNone/>
                      </a:pPr>
                      <a:r>
                        <a:rPr lang="en" sz="1200"/>
                        <a:t>Renewal Term</a:t>
                      </a:r>
                      <a:endParaRPr sz="1200"/>
                    </a:p>
                    <a:p>
                      <a:pPr indent="0" lvl="0" marL="0" rtl="0" algn="l">
                        <a:spcBef>
                          <a:spcPts val="0"/>
                        </a:spcBef>
                        <a:spcAft>
                          <a:spcPts val="0"/>
                        </a:spcAft>
                        <a:buNone/>
                      </a:pPr>
                      <a:r>
                        <a:rPr lang="en" sz="1200"/>
                        <a:t>Revenue/Profit Sharing</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txBody>
                  <a:tcPr marT="91425" marB="91425" marR="91425" marL="91425"/>
                </a:tc>
                <a:tc>
                  <a:txBody>
                    <a:bodyPr/>
                    <a:lstStyle/>
                    <a:p>
                      <a:pPr indent="0" lvl="0" marL="0" rtl="0" algn="l">
                        <a:spcBef>
                          <a:spcPts val="0"/>
                        </a:spcBef>
                        <a:spcAft>
                          <a:spcPts val="0"/>
                        </a:spcAft>
                        <a:buNone/>
                      </a:pPr>
                      <a:r>
                        <a:rPr lang="en" sz="1200">
                          <a:solidFill>
                            <a:srgbClr val="9900FF"/>
                          </a:solidFill>
                        </a:rPr>
                        <a:t>Uncapped Liability</a:t>
                      </a:r>
                      <a:endParaRPr sz="1200">
                        <a:solidFill>
                          <a:srgbClr val="9900FF"/>
                        </a:solidFill>
                      </a:endParaRPr>
                    </a:p>
                    <a:p>
                      <a:pPr indent="0" lvl="0" marL="0" rtl="0" algn="l">
                        <a:spcBef>
                          <a:spcPts val="0"/>
                        </a:spcBef>
                        <a:spcAft>
                          <a:spcPts val="0"/>
                        </a:spcAft>
                        <a:buNone/>
                      </a:pPr>
                      <a:r>
                        <a:rPr lang="en" sz="1200">
                          <a:solidFill>
                            <a:srgbClr val="38761D"/>
                          </a:solidFill>
                        </a:rPr>
                        <a:t>Volume Restriction</a:t>
                      </a:r>
                      <a:endParaRPr sz="1200">
                        <a:solidFill>
                          <a:srgbClr val="38761D"/>
                        </a:solidFill>
                      </a:endParaRPr>
                    </a:p>
                    <a:p>
                      <a:pPr indent="0" lvl="0" marL="0" rtl="0" algn="l">
                        <a:spcBef>
                          <a:spcPts val="0"/>
                        </a:spcBef>
                        <a:spcAft>
                          <a:spcPts val="0"/>
                        </a:spcAft>
                        <a:buNone/>
                      </a:pPr>
                      <a:r>
                        <a:rPr lang="en" sz="1200">
                          <a:solidFill>
                            <a:srgbClr val="9900FF"/>
                          </a:solidFill>
                        </a:rPr>
                        <a:t>Affiliate License-Licensee</a:t>
                      </a:r>
                      <a:endParaRPr sz="1200">
                        <a:solidFill>
                          <a:srgbClr val="9900FF"/>
                        </a:solidFill>
                      </a:endParaRPr>
                    </a:p>
                    <a:p>
                      <a:pPr indent="0" lvl="0" marL="0" rtl="0" algn="l">
                        <a:spcBef>
                          <a:spcPts val="0"/>
                        </a:spcBef>
                        <a:spcAft>
                          <a:spcPts val="0"/>
                        </a:spcAft>
                        <a:buNone/>
                      </a:pPr>
                      <a:r>
                        <a:rPr lang="en" sz="1200">
                          <a:solidFill>
                            <a:srgbClr val="9900FF"/>
                          </a:solidFill>
                        </a:rPr>
                        <a:t>Affiliate</a:t>
                      </a:r>
                      <a:r>
                        <a:rPr lang="en" sz="1200">
                          <a:solidFill>
                            <a:srgbClr val="9900FF"/>
                          </a:solidFill>
                        </a:rPr>
                        <a:t> License-Licensor ("Magic Hat")</a:t>
                      </a:r>
                      <a:endParaRPr sz="1200">
                        <a:solidFill>
                          <a:srgbClr val="9900FF"/>
                        </a:solidFill>
                      </a:endParaRPr>
                    </a:p>
                    <a:p>
                      <a:pPr indent="0" lvl="0" marL="0" rtl="0" algn="l">
                        <a:spcBef>
                          <a:spcPts val="0"/>
                        </a:spcBef>
                        <a:spcAft>
                          <a:spcPts val="0"/>
                        </a:spcAft>
                        <a:buNone/>
                      </a:pPr>
                      <a:r>
                        <a:rPr lang="en" sz="1200">
                          <a:solidFill>
                            <a:srgbClr val="FF0000"/>
                          </a:solidFill>
                        </a:rPr>
                        <a:t>Covenant</a:t>
                      </a:r>
                      <a:r>
                        <a:rPr lang="en" sz="1200">
                          <a:solidFill>
                            <a:srgbClr val="FF0000"/>
                          </a:solidFill>
                        </a:rPr>
                        <a:t> Not to Sue</a:t>
                      </a:r>
                      <a:endParaRPr sz="1200">
                        <a:solidFill>
                          <a:srgbClr val="FF0000"/>
                        </a:solidFill>
                      </a:endParaRPr>
                    </a:p>
                    <a:p>
                      <a:pPr indent="0" lvl="0" marL="0" rtl="0" algn="l">
                        <a:spcBef>
                          <a:spcPts val="0"/>
                        </a:spcBef>
                        <a:spcAft>
                          <a:spcPts val="0"/>
                        </a:spcAft>
                        <a:buNone/>
                      </a:pPr>
                      <a:r>
                        <a:rPr lang="en" sz="1200">
                          <a:solidFill>
                            <a:srgbClr val="38761D"/>
                          </a:solidFill>
                        </a:rPr>
                        <a:t>Insurance</a:t>
                      </a:r>
                      <a:endParaRPr sz="1200">
                        <a:solidFill>
                          <a:srgbClr val="38761D"/>
                        </a:solidFill>
                      </a:endParaRPr>
                    </a:p>
                    <a:p>
                      <a:pPr indent="0" lvl="0" marL="0" rtl="0" algn="l">
                        <a:spcBef>
                          <a:spcPts val="0"/>
                        </a:spcBef>
                        <a:spcAft>
                          <a:spcPts val="0"/>
                        </a:spcAft>
                        <a:buNone/>
                      </a:pPr>
                      <a:r>
                        <a:rPr lang="en" sz="1200">
                          <a:solidFill>
                            <a:srgbClr val="9900FF"/>
                          </a:solidFill>
                        </a:rPr>
                        <a:t>IP-Assignment</a:t>
                      </a:r>
                      <a:endParaRPr sz="1200">
                        <a:solidFill>
                          <a:srgbClr val="9900FF"/>
                        </a:solidFill>
                      </a:endParaRPr>
                    </a:p>
                    <a:p>
                      <a:pPr indent="0" lvl="0" marL="0" rtl="0" algn="l">
                        <a:spcBef>
                          <a:spcPts val="0"/>
                        </a:spcBef>
                        <a:spcAft>
                          <a:spcPts val="0"/>
                        </a:spcAft>
                        <a:buNone/>
                      </a:pPr>
                      <a:r>
                        <a:rPr lang="en" sz="1200">
                          <a:solidFill>
                            <a:srgbClr val="9900FF"/>
                          </a:solidFill>
                        </a:rPr>
                        <a:t>Joint IP Ownership</a:t>
                      </a:r>
                      <a:endParaRPr sz="1200">
                        <a:solidFill>
                          <a:srgbClr val="9900FF"/>
                        </a:solidFill>
                      </a:endParaRPr>
                    </a:p>
                    <a:p>
                      <a:pPr indent="0" lvl="0" marL="0" rtl="0" algn="l">
                        <a:spcBef>
                          <a:spcPts val="0"/>
                        </a:spcBef>
                        <a:spcAft>
                          <a:spcPts val="0"/>
                        </a:spcAft>
                        <a:buNone/>
                      </a:pPr>
                      <a:r>
                        <a:rPr lang="en" sz="1200">
                          <a:solidFill>
                            <a:srgbClr val="FF0000"/>
                          </a:solidFill>
                        </a:rPr>
                        <a:t>Minimum Commitment</a:t>
                      </a:r>
                      <a:endParaRPr sz="1200">
                        <a:solidFill>
                          <a:srgbClr val="FF0000"/>
                        </a:solidFill>
                      </a:endParaRPr>
                    </a:p>
                    <a:p>
                      <a:pPr indent="0" lvl="0" marL="0" rtl="0" algn="l">
                        <a:spcBef>
                          <a:spcPts val="0"/>
                        </a:spcBef>
                        <a:spcAft>
                          <a:spcPts val="0"/>
                        </a:spcAft>
                        <a:buNone/>
                      </a:pPr>
                      <a:r>
                        <a:rPr lang="en" sz="1200">
                          <a:solidFill>
                            <a:srgbClr val="0000FF"/>
                          </a:solidFill>
                        </a:rPr>
                        <a:t>Most Favored Nation</a:t>
                      </a:r>
                      <a:endParaRPr sz="1200">
                        <a:solidFill>
                          <a:srgbClr val="0000FF"/>
                        </a:solidFill>
                      </a:endParaRPr>
                    </a:p>
                    <a:p>
                      <a:pPr indent="0" lvl="0" marL="0" rtl="0" algn="l">
                        <a:spcBef>
                          <a:spcPts val="0"/>
                        </a:spcBef>
                        <a:spcAft>
                          <a:spcPts val="0"/>
                        </a:spcAft>
                        <a:buNone/>
                      </a:pPr>
                      <a:r>
                        <a:rPr lang="en" sz="1200">
                          <a:solidFill>
                            <a:srgbClr val="0000FF"/>
                          </a:solidFill>
                        </a:rPr>
                        <a:t>No-Solicit of Customers</a:t>
                      </a:r>
                      <a:endParaRPr sz="1200">
                        <a:solidFill>
                          <a:srgbClr val="0000FF"/>
                        </a:solidFill>
                      </a:endParaRPr>
                    </a:p>
                    <a:p>
                      <a:pPr indent="0" lvl="0" marL="0" rtl="0" algn="l">
                        <a:spcBef>
                          <a:spcPts val="0"/>
                        </a:spcBef>
                        <a:spcAft>
                          <a:spcPts val="0"/>
                        </a:spcAft>
                        <a:buNone/>
                      </a:pPr>
                      <a:r>
                        <a:rPr lang="en" sz="1200">
                          <a:solidFill>
                            <a:srgbClr val="0000FF"/>
                          </a:solidFill>
                        </a:rPr>
                        <a:t>No-Solicit of Employees</a:t>
                      </a:r>
                      <a:endParaRPr sz="1200">
                        <a:solidFill>
                          <a:srgbClr val="0000FF"/>
                        </a:solidFill>
                      </a:endParaRPr>
                    </a:p>
                    <a:p>
                      <a:pPr indent="0" lvl="0" marL="0" rtl="0" algn="l">
                        <a:spcBef>
                          <a:spcPts val="0"/>
                        </a:spcBef>
                        <a:spcAft>
                          <a:spcPts val="0"/>
                        </a:spcAft>
                        <a:buNone/>
                      </a:pPr>
                      <a:r>
                        <a:rPr lang="en" sz="1200">
                          <a:solidFill>
                            <a:srgbClr val="FF0000"/>
                          </a:solidFill>
                        </a:rPr>
                        <a:t>Post-termination Covenants</a:t>
                      </a:r>
                      <a:endParaRPr sz="1200">
                        <a:solidFill>
                          <a:srgbClr val="FF0000"/>
                        </a:solidFill>
                      </a:endParaRPr>
                    </a:p>
                    <a:p>
                      <a:pPr indent="0" lvl="0" marL="0" rtl="0" algn="l">
                        <a:spcBef>
                          <a:spcPts val="0"/>
                        </a:spcBef>
                        <a:spcAft>
                          <a:spcPts val="0"/>
                        </a:spcAft>
                        <a:buNone/>
                      </a:pPr>
                      <a:r>
                        <a:rPr lang="en" sz="1200">
                          <a:solidFill>
                            <a:srgbClr val="9900FF"/>
                          </a:solidFill>
                        </a:rPr>
                        <a:t>Price Increase Restrictions</a:t>
                      </a:r>
                      <a:endParaRPr sz="1200">
                        <a:solidFill>
                          <a:srgbClr val="9900FF"/>
                        </a:solidFill>
                      </a:endParaRPr>
                    </a:p>
                    <a:p>
                      <a:pPr indent="0" lvl="0" marL="0" rtl="0" algn="l">
                        <a:spcBef>
                          <a:spcPts val="0"/>
                        </a:spcBef>
                        <a:spcAft>
                          <a:spcPts val="0"/>
                        </a:spcAft>
                        <a:buNone/>
                      </a:pPr>
                      <a:r>
                        <a:rPr lang="en" sz="1200">
                          <a:solidFill>
                            <a:srgbClr val="9900FF"/>
                          </a:solidFill>
                        </a:rPr>
                        <a:t>ROFR/ROFN/ROFN</a:t>
                      </a:r>
                      <a:endParaRPr sz="1200">
                        <a:solidFill>
                          <a:srgbClr val="9900FF"/>
                        </a:solidFill>
                      </a:endParaRPr>
                    </a:p>
                    <a:p>
                      <a:pPr indent="0" lvl="0" marL="0" rtl="0" algn="l">
                        <a:spcBef>
                          <a:spcPts val="0"/>
                        </a:spcBef>
                        <a:spcAft>
                          <a:spcPts val="0"/>
                        </a:spcAft>
                        <a:buNone/>
                      </a:pPr>
                      <a:r>
                        <a:rPr lang="en" sz="1200">
                          <a:solidFill>
                            <a:srgbClr val="9900FF"/>
                          </a:solidFill>
                        </a:rPr>
                        <a:t>Third Party Beneficiary</a:t>
                      </a:r>
                      <a:endParaRPr sz="1200">
                        <a:solidFill>
                          <a:srgbClr val="9900FF"/>
                        </a:solidFill>
                      </a:endParaRPr>
                    </a:p>
                    <a:p>
                      <a:pPr indent="0" lvl="0" marL="0" rtl="0" algn="l">
                        <a:spcBef>
                          <a:spcPts val="0"/>
                        </a:spcBef>
                        <a:spcAft>
                          <a:spcPts val="0"/>
                        </a:spcAft>
                        <a:buNone/>
                      </a:pPr>
                      <a:r>
                        <a:rPr lang="en" sz="1200">
                          <a:solidFill>
                            <a:srgbClr val="38761D"/>
                          </a:solidFill>
                        </a:rPr>
                        <a:t>Audit Rights</a:t>
                      </a:r>
                      <a:endParaRPr sz="1200">
                        <a:solidFill>
                          <a:srgbClr val="38761D"/>
                        </a:solidFill>
                      </a:endParaRPr>
                    </a:p>
                    <a:p>
                      <a:pPr indent="0" lvl="0" marL="0" rtl="0" algn="l">
                        <a:spcBef>
                          <a:spcPts val="0"/>
                        </a:spcBef>
                        <a:spcAft>
                          <a:spcPts val="0"/>
                        </a:spcAft>
                        <a:buNone/>
                      </a:pPr>
                      <a:r>
                        <a:rPr lang="en" sz="1200">
                          <a:solidFill>
                            <a:srgbClr val="38761D"/>
                          </a:solidFill>
                        </a:rPr>
                        <a:t>Irrevocable or Perpetual License</a:t>
                      </a:r>
                      <a:endParaRPr sz="1200">
                        <a:solidFill>
                          <a:srgbClr val="38761D"/>
                        </a:solidFill>
                      </a:endParaRPr>
                    </a:p>
                    <a:p>
                      <a:pPr indent="0" lvl="0" marL="0" rtl="0" algn="l">
                        <a:spcBef>
                          <a:spcPts val="0"/>
                        </a:spcBef>
                        <a:spcAft>
                          <a:spcPts val="0"/>
                        </a:spcAft>
                        <a:buNone/>
                      </a:pPr>
                      <a:r>
                        <a:rPr lang="en" sz="1200">
                          <a:solidFill>
                            <a:srgbClr val="38761D"/>
                          </a:solidFill>
                        </a:rPr>
                        <a:t>License Grant</a:t>
                      </a:r>
                      <a:endParaRPr sz="1200">
                        <a:solidFill>
                          <a:srgbClr val="38761D"/>
                        </a:solidFill>
                      </a:endParaRPr>
                    </a:p>
                    <a:p>
                      <a:pPr indent="0" lvl="0" marL="0" rtl="0" algn="l">
                        <a:spcBef>
                          <a:spcPts val="0"/>
                        </a:spcBef>
                        <a:spcAft>
                          <a:spcPts val="0"/>
                        </a:spcAft>
                        <a:buNone/>
                      </a:pPr>
                      <a:r>
                        <a:rPr lang="en" sz="1200">
                          <a:solidFill>
                            <a:srgbClr val="9900FF"/>
                          </a:solidFill>
                        </a:rPr>
                        <a:t>Non-Disparagement</a:t>
                      </a:r>
                      <a:endParaRPr sz="1200">
                        <a:solidFill>
                          <a:srgbClr val="9900FF"/>
                        </a:solidFill>
                      </a:endParaRPr>
                    </a:p>
                    <a:p>
                      <a:pPr indent="0" lvl="0" marL="0" rtl="0" algn="l">
                        <a:spcBef>
                          <a:spcPts val="0"/>
                        </a:spcBef>
                        <a:spcAft>
                          <a:spcPts val="0"/>
                        </a:spcAft>
                        <a:buClr>
                          <a:schemeClr val="dk1"/>
                        </a:buClr>
                        <a:buSzPts val="1100"/>
                        <a:buFont typeface="Arial"/>
                        <a:buNone/>
                      </a:pPr>
                      <a:r>
                        <a:rPr lang="en" sz="1200">
                          <a:solidFill>
                            <a:srgbClr val="38761D"/>
                          </a:solidFill>
                        </a:rPr>
                        <a:t>Termination for Convenience</a:t>
                      </a:r>
                      <a:endParaRPr sz="1200">
                        <a:solidFill>
                          <a:srgbClr val="38761D"/>
                        </a:solidFill>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Results</a:t>
            </a:r>
            <a:endParaRPr/>
          </a:p>
        </p:txBody>
      </p:sp>
      <p:sp>
        <p:nvSpPr>
          <p:cNvPr id="194" name="Google Shape;194;p34"/>
          <p:cNvSpPr txBox="1"/>
          <p:nvPr>
            <p:ph idx="1" type="body"/>
          </p:nvPr>
        </p:nvSpPr>
        <p:spPr>
          <a:xfrm>
            <a:off x="311700" y="572700"/>
            <a:ext cx="8520600" cy="45708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4 Consistent Labels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7 Inconsistent Labels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21 Not Enough Examples/Not Enough Models/ Consistent low F-Score.</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chemeClr val="dk1"/>
                </a:solidFill>
              </a:rPr>
              <a:t>32 Labels Total</a:t>
            </a:r>
            <a:endParaRPr>
              <a:solidFill>
                <a:schemeClr val="dk1"/>
              </a:solidFill>
            </a:endParaRPr>
          </a:p>
          <a:p>
            <a:pPr indent="0" lvl="0" marL="0" rtl="0" algn="l">
              <a:lnSpc>
                <a:spcPct val="150000"/>
              </a:lnSpc>
              <a:spcBef>
                <a:spcPts val="1600"/>
              </a:spcBef>
              <a:spcAft>
                <a:spcPts val="0"/>
              </a:spcAft>
              <a:buNone/>
            </a:pPr>
            <a:r>
              <a:rPr b="1" lang="en" u="sng">
                <a:solidFill>
                  <a:schemeClr val="dk1"/>
                </a:solidFill>
              </a:rPr>
              <a:t>Colored Labels</a:t>
            </a:r>
            <a:endParaRPr b="1" u="sng">
              <a:solidFill>
                <a:schemeClr val="dk1"/>
              </a:solidFill>
            </a:endParaRPr>
          </a:p>
          <a:p>
            <a:pPr indent="-342900" lvl="0" marL="457200" rtl="0" algn="l">
              <a:lnSpc>
                <a:spcPct val="150000"/>
              </a:lnSpc>
              <a:spcBef>
                <a:spcPts val="1600"/>
              </a:spcBef>
              <a:spcAft>
                <a:spcPts val="0"/>
              </a:spcAft>
              <a:buClr>
                <a:srgbClr val="000000"/>
              </a:buClr>
              <a:buSzPts val="1800"/>
              <a:buChar char="●"/>
            </a:pPr>
            <a:r>
              <a:rPr lang="en">
                <a:solidFill>
                  <a:srgbClr val="000000"/>
                </a:solidFill>
              </a:rPr>
              <a:t>6 </a:t>
            </a:r>
            <a:r>
              <a:rPr lang="en">
                <a:solidFill>
                  <a:srgbClr val="38761D"/>
                </a:solidFill>
              </a:rPr>
              <a:t>Green</a:t>
            </a:r>
            <a:r>
              <a:rPr lang="en">
                <a:solidFill>
                  <a:srgbClr val="000000"/>
                </a:solidFill>
              </a:rPr>
              <a:t> Labels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3 </a:t>
            </a:r>
            <a:r>
              <a:rPr lang="en">
                <a:solidFill>
                  <a:srgbClr val="0000FF"/>
                </a:solidFill>
              </a:rPr>
              <a:t>Blue</a:t>
            </a:r>
            <a:r>
              <a:rPr lang="en">
                <a:solidFill>
                  <a:srgbClr val="000000"/>
                </a:solidFill>
              </a:rPr>
              <a:t> Labels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3 </a:t>
            </a:r>
            <a:r>
              <a:rPr lang="en">
                <a:solidFill>
                  <a:srgbClr val="FF0000"/>
                </a:solidFill>
              </a:rPr>
              <a:t>Red</a:t>
            </a:r>
            <a:r>
              <a:rPr lang="en">
                <a:solidFill>
                  <a:srgbClr val="000000"/>
                </a:solidFill>
              </a:rPr>
              <a:t> Labels</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9 </a:t>
            </a:r>
            <a:r>
              <a:rPr lang="en">
                <a:solidFill>
                  <a:srgbClr val="9900FF"/>
                </a:solidFill>
              </a:rPr>
              <a:t>Purple</a:t>
            </a:r>
            <a:r>
              <a:rPr lang="en">
                <a:solidFill>
                  <a:srgbClr val="000000"/>
                </a:solidFill>
              </a:rPr>
              <a:t> Labels</a:t>
            </a:r>
            <a:endParaRPr>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200" name="Google Shape;200;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Clr>
                <a:srgbClr val="000000"/>
              </a:buClr>
              <a:buSzPts val="1800"/>
              <a:buChar char="●"/>
            </a:pPr>
            <a:r>
              <a:rPr lang="en">
                <a:solidFill>
                  <a:srgbClr val="000000"/>
                </a:solidFill>
              </a:rPr>
              <a:t>There are a lot of Labels that need more examples and/or models, it is best to focus human time on those.</a:t>
            </a:r>
            <a:endParaRPr>
              <a:solidFill>
                <a:srgbClr val="000000"/>
              </a:solidFill>
            </a:endParaRPr>
          </a:p>
          <a:p>
            <a:pPr indent="-342900" lvl="0" marL="457200" rtl="0" algn="l">
              <a:lnSpc>
                <a:spcPct val="150000"/>
              </a:lnSpc>
              <a:spcBef>
                <a:spcPts val="0"/>
              </a:spcBef>
              <a:spcAft>
                <a:spcPts val="0"/>
              </a:spcAft>
              <a:buClr>
                <a:srgbClr val="000000"/>
              </a:buClr>
              <a:buSzPts val="1800"/>
              <a:buChar char="●"/>
            </a:pPr>
            <a:r>
              <a:rPr lang="en">
                <a:solidFill>
                  <a:srgbClr val="000000"/>
                </a:solidFill>
              </a:rPr>
              <a:t>Also, there were labels that were consistent at low F-Scores which is most likely due to the NLP system itself. It is better to not focus on those since it is a problem with eBrevia rather than the dataset itself.</a:t>
            </a:r>
            <a:endParaRPr>
              <a:solidFill>
                <a:srgbClr val="00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Ease of Use: Playground</a:t>
            </a:r>
            <a:endParaRPr/>
          </a:p>
        </p:txBody>
      </p:sp>
      <p:sp>
        <p:nvSpPr>
          <p:cNvPr id="206" name="Google Shape;206;p36"/>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GPT-3, currently in beta, is available through an online playground with presets such as a chatbot, Q&amp;A, and “summarize for a 2nd grader.”</a:t>
            </a:r>
            <a:endParaRPr/>
          </a:p>
          <a:p>
            <a:pPr indent="0" lvl="0" marL="0" rtl="0" algn="l">
              <a:spcBef>
                <a:spcPts val="1600"/>
              </a:spcBef>
              <a:spcAft>
                <a:spcPts val="0"/>
              </a:spcAft>
              <a:buNone/>
            </a:pPr>
            <a:r>
              <a:t/>
            </a:r>
            <a:endParaRPr sz="400"/>
          </a:p>
          <a:p>
            <a:pPr indent="0" lvl="0" marL="0" rtl="0" algn="l">
              <a:spcBef>
                <a:spcPts val="1600"/>
              </a:spcBef>
              <a:spcAft>
                <a:spcPts val="1600"/>
              </a:spcAft>
              <a:buNone/>
            </a:pPr>
            <a:r>
              <a:rPr lang="en"/>
              <a:t>In addition, users can give the AI example question and answer pairs to teach it the structure they want the output to look like. The model can learn from just one or two examples.</a:t>
            </a:r>
            <a:endParaRPr/>
          </a:p>
        </p:txBody>
      </p:sp>
      <p:grpSp>
        <p:nvGrpSpPr>
          <p:cNvPr id="207" name="Google Shape;207;p36"/>
          <p:cNvGrpSpPr/>
          <p:nvPr/>
        </p:nvGrpSpPr>
        <p:grpSpPr>
          <a:xfrm>
            <a:off x="4389470" y="954929"/>
            <a:ext cx="4534562" cy="1762741"/>
            <a:chOff x="4609375" y="1195925"/>
            <a:chExt cx="3637252" cy="1413925"/>
          </a:xfrm>
        </p:grpSpPr>
        <p:pic>
          <p:nvPicPr>
            <p:cNvPr id="208" name="Google Shape;208;p36"/>
            <p:cNvPicPr preferRelativeResize="0"/>
            <p:nvPr/>
          </p:nvPicPr>
          <p:blipFill rotWithShape="1">
            <a:blip r:embed="rId3">
              <a:alphaModFix/>
            </a:blip>
            <a:srcRect b="46025" l="0" r="68584" t="19308"/>
            <a:stretch/>
          </p:blipFill>
          <p:spPr>
            <a:xfrm>
              <a:off x="4609375" y="1195925"/>
              <a:ext cx="2277926" cy="1413925"/>
            </a:xfrm>
            <a:prstGeom prst="rect">
              <a:avLst/>
            </a:prstGeom>
            <a:noFill/>
            <a:ln>
              <a:noFill/>
            </a:ln>
          </p:spPr>
        </p:pic>
        <p:pic>
          <p:nvPicPr>
            <p:cNvPr id="209" name="Google Shape;209;p36"/>
            <p:cNvPicPr preferRelativeResize="0"/>
            <p:nvPr/>
          </p:nvPicPr>
          <p:blipFill rotWithShape="1">
            <a:blip r:embed="rId3">
              <a:alphaModFix/>
            </a:blip>
            <a:srcRect b="45852" l="80216" r="1036" t="19482"/>
            <a:stretch/>
          </p:blipFill>
          <p:spPr>
            <a:xfrm>
              <a:off x="6887301" y="1195925"/>
              <a:ext cx="1359326" cy="1413925"/>
            </a:xfrm>
            <a:prstGeom prst="rect">
              <a:avLst/>
            </a:prstGeom>
            <a:noFill/>
            <a:ln>
              <a:noFill/>
            </a:ln>
          </p:spPr>
        </p:pic>
      </p:grpSp>
      <p:pic>
        <p:nvPicPr>
          <p:cNvPr id="210" name="Google Shape;210;p36"/>
          <p:cNvPicPr preferRelativeResize="0"/>
          <p:nvPr/>
        </p:nvPicPr>
        <p:blipFill rotWithShape="1">
          <a:blip r:embed="rId4">
            <a:alphaModFix/>
          </a:blip>
          <a:srcRect b="62005" l="0" r="74851" t="19698"/>
          <a:stretch/>
        </p:blipFill>
        <p:spPr>
          <a:xfrm>
            <a:off x="4389475" y="3070450"/>
            <a:ext cx="2703725" cy="1106425"/>
          </a:xfrm>
          <a:prstGeom prst="rect">
            <a:avLst/>
          </a:prstGeom>
          <a:noFill/>
          <a:ln>
            <a:noFill/>
          </a:ln>
        </p:spPr>
      </p:pic>
      <p:sp>
        <p:nvSpPr>
          <p:cNvPr id="211" name="Google Shape;211;p36"/>
          <p:cNvSpPr/>
          <p:nvPr/>
        </p:nvSpPr>
        <p:spPr>
          <a:xfrm>
            <a:off x="4614325" y="3514350"/>
            <a:ext cx="2363700" cy="289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6"/>
          <p:cNvSpPr txBox="1"/>
          <p:nvPr/>
        </p:nvSpPr>
        <p:spPr>
          <a:xfrm>
            <a:off x="7127400" y="3158550"/>
            <a:ext cx="1890600" cy="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Sample structure provided by user</a:t>
            </a:r>
            <a:endParaRPr/>
          </a:p>
        </p:txBody>
      </p:sp>
      <p:sp>
        <p:nvSpPr>
          <p:cNvPr id="213" name="Google Shape;213;p36"/>
          <p:cNvSpPr txBox="1"/>
          <p:nvPr/>
        </p:nvSpPr>
        <p:spPr>
          <a:xfrm>
            <a:off x="7127400" y="4015825"/>
            <a:ext cx="1959000" cy="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Subsequent output matches the structure</a:t>
            </a:r>
            <a:endParaRPr/>
          </a:p>
        </p:txBody>
      </p:sp>
      <p:sp>
        <p:nvSpPr>
          <p:cNvPr id="214" name="Google Shape;214;p36"/>
          <p:cNvSpPr/>
          <p:nvPr/>
        </p:nvSpPr>
        <p:spPr>
          <a:xfrm>
            <a:off x="4614325" y="3840317"/>
            <a:ext cx="2363700" cy="289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1000"/>
                                        <p:tgtEl>
                                          <p:spTgt spid="211"/>
                                        </p:tgtEl>
                                      </p:cBhvr>
                                    </p:animEffect>
                                  </p:childTnLst>
                                </p:cTn>
                              </p:par>
                              <p:par>
                                <p:cTn fill="hold" nodeType="with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Ease of Use: API</a:t>
            </a:r>
            <a:endParaRPr/>
          </a:p>
        </p:txBody>
      </p:sp>
      <p:sp>
        <p:nvSpPr>
          <p:cNvPr id="220" name="Google Shape;220;p37"/>
          <p:cNvSpPr txBox="1"/>
          <p:nvPr>
            <p:ph idx="1" type="body"/>
          </p:nvPr>
        </p:nvSpPr>
        <p:spPr>
          <a:xfrm>
            <a:off x="311700" y="1152475"/>
            <a:ext cx="4260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Alongside the web interface for GPT-3, OpenAI released an API (application programming interface), which allows users to create their own code that accesses the AI model.</a:t>
            </a:r>
            <a:endParaRPr/>
          </a:p>
          <a:p>
            <a:pPr indent="0" lvl="0" marL="0" rtl="0" algn="l">
              <a:spcBef>
                <a:spcPts val="1600"/>
              </a:spcBef>
              <a:spcAft>
                <a:spcPts val="1600"/>
              </a:spcAft>
              <a:buNone/>
            </a:pPr>
            <a:r>
              <a:rPr lang="en"/>
              <a:t>This allows the model to be applied to any technology and for users to program automated Q&amp;A systems rather than manually typing questions into the web interface.</a:t>
            </a:r>
            <a:endParaRPr/>
          </a:p>
        </p:txBody>
      </p:sp>
      <p:pic>
        <p:nvPicPr>
          <p:cNvPr id="221" name="Google Shape;221;p37"/>
          <p:cNvPicPr preferRelativeResize="0"/>
          <p:nvPr/>
        </p:nvPicPr>
        <p:blipFill rotWithShape="1">
          <a:blip r:embed="rId3">
            <a:alphaModFix/>
          </a:blip>
          <a:srcRect b="0" l="49835" r="28669" t="28561"/>
          <a:stretch/>
        </p:blipFill>
        <p:spPr>
          <a:xfrm>
            <a:off x="4589300" y="733800"/>
            <a:ext cx="2221176" cy="4152651"/>
          </a:xfrm>
          <a:prstGeom prst="rect">
            <a:avLst/>
          </a:prstGeom>
          <a:noFill/>
          <a:ln>
            <a:noFill/>
          </a:ln>
        </p:spPr>
      </p:pic>
      <p:pic>
        <p:nvPicPr>
          <p:cNvPr id="222" name="Google Shape;222;p37"/>
          <p:cNvPicPr preferRelativeResize="0"/>
          <p:nvPr/>
        </p:nvPicPr>
        <p:blipFill rotWithShape="1">
          <a:blip r:embed="rId4">
            <a:alphaModFix/>
          </a:blip>
          <a:srcRect b="8588" l="31870" r="43558" t="21981"/>
          <a:stretch/>
        </p:blipFill>
        <p:spPr>
          <a:xfrm>
            <a:off x="6927650" y="733800"/>
            <a:ext cx="2022077" cy="3571124"/>
          </a:xfrm>
          <a:prstGeom prst="rect">
            <a:avLst/>
          </a:prstGeom>
          <a:noFill/>
          <a:ln>
            <a:noFill/>
          </a:ln>
        </p:spPr>
      </p:pic>
      <p:pic>
        <p:nvPicPr>
          <p:cNvPr id="223" name="Google Shape;223;p37"/>
          <p:cNvPicPr preferRelativeResize="0"/>
          <p:nvPr/>
        </p:nvPicPr>
        <p:blipFill rotWithShape="1">
          <a:blip r:embed="rId4">
            <a:alphaModFix/>
          </a:blip>
          <a:srcRect b="78020" l="31870" r="43558" t="10672"/>
          <a:stretch/>
        </p:blipFill>
        <p:spPr>
          <a:xfrm>
            <a:off x="6927650" y="4295109"/>
            <a:ext cx="2022077" cy="5815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