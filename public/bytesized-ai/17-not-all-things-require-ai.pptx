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srn.com/abstract=2701092" TargetMode="External"/><Relationship Id="rId3" Type="http://schemas.openxmlformats.org/officeDocument/2006/relationships/hyperlink" Target="https://dx.doi.org/10.2139/ssrn.2701092"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srn.com/abstract=2701092" TargetMode="External"/><Relationship Id="rId3" Type="http://schemas.openxmlformats.org/officeDocument/2006/relationships/hyperlink" Target="https://dx.doi.org/10.2139/ssrn.2701092"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srn.com/abstract=2701092" TargetMode="External"/><Relationship Id="rId3" Type="http://schemas.openxmlformats.org/officeDocument/2006/relationships/hyperlink" Target="https://dx.doi.org/10.2139/ssrn.2701092"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srn.com/abstract=2701092" TargetMode="External"/><Relationship Id="rId3" Type="http://schemas.openxmlformats.org/officeDocument/2006/relationships/hyperlink" Target="https://dx.doi.org/10.2139/ssrn.2701092"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8ab9fc644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8ab9fc644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d3b6fde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d3b6fde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8d3b6fde9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8d3b6fde9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8d3b6fde9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8d3b6fde9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8d3b6fde9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8d3b6fde9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aseline="30000" lang="en"/>
              <a:t>1 </a:t>
            </a:r>
            <a:r>
              <a:rPr lang="en" sz="1200">
                <a:solidFill>
                  <a:srgbClr val="505050"/>
                </a:solidFill>
                <a:highlight>
                  <a:srgbClr val="FFFFFF"/>
                </a:highlight>
              </a:rPr>
              <a:t>Remus, Dana and Levy, Frank S., Can Robots Be Lawyers? Computers, Lawyers, and the Practice of Law (November 27, 2016). Available at SSRN: </a:t>
            </a:r>
            <a:r>
              <a:rPr lang="en" sz="1200" u="sng">
                <a:solidFill>
                  <a:srgbClr val="505050"/>
                </a:solidFill>
                <a:hlinkClick r:id="rId2">
                  <a:extLst>
                    <a:ext uri="{A12FA001-AC4F-418D-AE19-62706E023703}">
                      <ahyp:hlinkClr val="tx"/>
                    </a:ext>
                  </a:extLst>
                </a:hlinkClick>
              </a:rPr>
              <a:t>https://ssrn.com/abstract=2701092</a:t>
            </a:r>
            <a:r>
              <a:rPr lang="en" sz="1200">
                <a:solidFill>
                  <a:srgbClr val="505050"/>
                </a:solidFill>
                <a:highlight>
                  <a:srgbClr val="FFFFFF"/>
                </a:highlight>
              </a:rPr>
              <a:t> or </a:t>
            </a:r>
            <a:r>
              <a:rPr lang="en" sz="1200" u="sng">
                <a:solidFill>
                  <a:srgbClr val="505050"/>
                </a:solidFill>
                <a:hlinkClick r:id="rId3">
                  <a:extLst>
                    <a:ext uri="{A12FA001-AC4F-418D-AE19-62706E023703}">
                      <ahyp:hlinkClr val="tx"/>
                    </a:ext>
                  </a:extLst>
                </a:hlinkClick>
              </a:rPr>
              <a:t>http://dx.doi.org/10.2139/ssrn.2701092</a:t>
            </a:r>
            <a:endParaRPr/>
          </a:p>
          <a:p>
            <a:pPr indent="0" lvl="0" marL="0" rtl="0" algn="l">
              <a:spcBef>
                <a:spcPts val="0"/>
              </a:spcBef>
              <a:spcAft>
                <a:spcPts val="0"/>
              </a:spcAft>
              <a:buNone/>
            </a:pPr>
            <a:r>
              <a:rPr baseline="30000" lang="en"/>
              <a:t>2</a:t>
            </a:r>
            <a:r>
              <a:rPr lang="en"/>
              <a:t> Donahue, Lauri, “A Primer on Using Artificial Intelligence in the Legal Profession” (January 03, 2018). Available at: https://jolt.law.harvard.edu/digest/a-primer-on-using-artificial-intelligence-in-the-legal-profession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8d3b6fde9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8d3b6fde9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aseline="30000" lang="en">
                <a:solidFill>
                  <a:schemeClr val="dk1"/>
                </a:solidFill>
              </a:rPr>
              <a:t>1 </a:t>
            </a:r>
            <a:r>
              <a:rPr lang="en" sz="1200">
                <a:solidFill>
                  <a:srgbClr val="505050"/>
                </a:solidFill>
                <a:highlight>
                  <a:srgbClr val="FFFFFF"/>
                </a:highlight>
              </a:rPr>
              <a:t>Remus, Dana and Levy, Frank S., Can Robots Be Lawyers? Computers, Lawyers, and the Practice of Law (November 27, 2016). Available at SSRN: </a:t>
            </a:r>
            <a:r>
              <a:rPr lang="en" sz="1200" u="sng">
                <a:solidFill>
                  <a:srgbClr val="505050"/>
                </a:solidFill>
                <a:hlinkClick r:id="rId2">
                  <a:extLst>
                    <a:ext uri="{A12FA001-AC4F-418D-AE19-62706E023703}">
                      <ahyp:hlinkClr val="tx"/>
                    </a:ext>
                  </a:extLst>
                </a:hlinkClick>
              </a:rPr>
              <a:t>https://ssrn.com/abstract=2701092</a:t>
            </a:r>
            <a:r>
              <a:rPr lang="en" sz="1200">
                <a:solidFill>
                  <a:srgbClr val="505050"/>
                </a:solidFill>
                <a:highlight>
                  <a:srgbClr val="FFFFFF"/>
                </a:highlight>
              </a:rPr>
              <a:t> or </a:t>
            </a:r>
            <a:r>
              <a:rPr lang="en" sz="1200" u="sng">
                <a:solidFill>
                  <a:srgbClr val="505050"/>
                </a:solidFill>
                <a:hlinkClick r:id="rId3">
                  <a:extLst>
                    <a:ext uri="{A12FA001-AC4F-418D-AE19-62706E023703}">
                      <ahyp:hlinkClr val="tx"/>
                    </a:ext>
                  </a:extLst>
                </a:hlinkClick>
              </a:rPr>
              <a:t>http://dx.doi.org/10.2139/ssrn.2701092</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8d3b6fde9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8d3b6fde9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aseline="30000" lang="en">
                <a:solidFill>
                  <a:schemeClr val="dk1"/>
                </a:solidFill>
              </a:rPr>
              <a:t>1 </a:t>
            </a:r>
            <a:r>
              <a:rPr lang="en" sz="1200">
                <a:solidFill>
                  <a:srgbClr val="505050"/>
                </a:solidFill>
                <a:highlight>
                  <a:srgbClr val="FFFFFF"/>
                </a:highlight>
              </a:rPr>
              <a:t>Remus, Dana and Levy, Frank S., Can Robots Be Lawyers? Computers, Lawyers, and the Practice of Law (November 27, 2016). Available at SSRN: </a:t>
            </a:r>
            <a:r>
              <a:rPr lang="en" sz="1200" u="sng">
                <a:solidFill>
                  <a:srgbClr val="505050"/>
                </a:solidFill>
                <a:hlinkClick r:id="rId2">
                  <a:extLst>
                    <a:ext uri="{A12FA001-AC4F-418D-AE19-62706E023703}">
                      <ahyp:hlinkClr val="tx"/>
                    </a:ext>
                  </a:extLst>
                </a:hlinkClick>
              </a:rPr>
              <a:t>https://ssrn.com/abstract=2701092</a:t>
            </a:r>
            <a:r>
              <a:rPr lang="en" sz="1200">
                <a:solidFill>
                  <a:srgbClr val="505050"/>
                </a:solidFill>
                <a:highlight>
                  <a:srgbClr val="FFFFFF"/>
                </a:highlight>
              </a:rPr>
              <a:t> or </a:t>
            </a:r>
            <a:r>
              <a:rPr lang="en" sz="1200" u="sng">
                <a:solidFill>
                  <a:srgbClr val="505050"/>
                </a:solidFill>
                <a:hlinkClick r:id="rId3">
                  <a:extLst>
                    <a:ext uri="{A12FA001-AC4F-418D-AE19-62706E023703}">
                      <ahyp:hlinkClr val="tx"/>
                    </a:ext>
                  </a:extLst>
                </a:hlinkClick>
              </a:rPr>
              <a:t>http://dx.doi.org/10.2139/ssrn.2701092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8d3b6fde9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8d3b6fde9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8d3b6fde9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8d3b6fde9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aseline="30000" lang="en">
                <a:solidFill>
                  <a:schemeClr val="dk1"/>
                </a:solidFill>
              </a:rPr>
              <a:t>1 </a:t>
            </a:r>
            <a:r>
              <a:rPr lang="en" sz="1200">
                <a:solidFill>
                  <a:srgbClr val="505050"/>
                </a:solidFill>
                <a:highlight>
                  <a:srgbClr val="FFFFFF"/>
                </a:highlight>
              </a:rPr>
              <a:t>Remus, Dana and Levy, Frank S., Can Robots Be Lawyers? Computers, Lawyers, and the Practice of Law (November 27, 2016). Available at SSRN: </a:t>
            </a:r>
            <a:r>
              <a:rPr lang="en" sz="1200" u="sng">
                <a:solidFill>
                  <a:srgbClr val="505050"/>
                </a:solidFill>
                <a:hlinkClick r:id="rId2">
                  <a:extLst>
                    <a:ext uri="{A12FA001-AC4F-418D-AE19-62706E023703}">
                      <ahyp:hlinkClr val="tx"/>
                    </a:ext>
                  </a:extLst>
                </a:hlinkClick>
              </a:rPr>
              <a:t>https://ssrn.com/abstract=2701092</a:t>
            </a:r>
            <a:r>
              <a:rPr lang="en" sz="1200">
                <a:solidFill>
                  <a:srgbClr val="505050"/>
                </a:solidFill>
                <a:highlight>
                  <a:srgbClr val="FFFFFF"/>
                </a:highlight>
              </a:rPr>
              <a:t> or </a:t>
            </a:r>
            <a:r>
              <a:rPr lang="en" sz="1200" u="sng">
                <a:solidFill>
                  <a:srgbClr val="505050"/>
                </a:solidFill>
                <a:hlinkClick r:id="rId3">
                  <a:extLst>
                    <a:ext uri="{A12FA001-AC4F-418D-AE19-62706E023703}">
                      <ahyp:hlinkClr val="tx"/>
                    </a:ext>
                  </a:extLst>
                </a:hlinkClick>
              </a:rPr>
              <a:t>http://dx.doi.org/10.2139/ssrn.2701092</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8d3b6fde9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8d3b6fde9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8d3b6fde9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8d3b6fde9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8969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Not all things </a:t>
            </a:r>
            <a:r>
              <a:rPr lang="en"/>
              <a:t>require</a:t>
            </a:r>
            <a:r>
              <a:rPr lang="en"/>
              <a:t> AI</a:t>
            </a:r>
            <a:endParaRPr/>
          </a:p>
        </p:txBody>
      </p:sp>
      <p:sp>
        <p:nvSpPr>
          <p:cNvPr id="55" name="Google Shape;55;p13"/>
          <p:cNvSpPr txBox="1"/>
          <p:nvPr>
            <p:ph idx="1" type="subTitle"/>
          </p:nvPr>
        </p:nvSpPr>
        <p:spPr>
          <a:xfrm>
            <a:off x="311700" y="29865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legal tasks can incorporate AI?</a:t>
            </a:r>
            <a:endParaRPr/>
          </a:p>
        </p:txBody>
      </p:sp>
      <p:pic>
        <p:nvPicPr>
          <p:cNvPr id="56" name="Google Shape;56;p13"/>
          <p:cNvPicPr preferRelativeResize="0"/>
          <p:nvPr/>
        </p:nvPicPr>
        <p:blipFill>
          <a:blip r:embed="rId3">
            <a:alphaModFix/>
          </a:blip>
          <a:stretch>
            <a:fillRect/>
          </a:stretch>
        </p:blipFill>
        <p:spPr>
          <a:xfrm>
            <a:off x="0" y="0"/>
            <a:ext cx="2052600" cy="2052600"/>
          </a:xfrm>
          <a:prstGeom prst="rect">
            <a:avLst/>
          </a:prstGeom>
          <a:noFill/>
          <a:ln>
            <a:noFill/>
          </a:ln>
        </p:spPr>
      </p:pic>
      <p:sp>
        <p:nvSpPr>
          <p:cNvPr id="57" name="Google Shape;57;p13"/>
          <p:cNvSpPr txBox="1"/>
          <p:nvPr/>
        </p:nvSpPr>
        <p:spPr>
          <a:xfrm>
            <a:off x="7091425" y="4722875"/>
            <a:ext cx="2052600" cy="4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2020 The Atticus Project</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143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What legal tasks can incorporate AI?</a:t>
            </a:r>
            <a:endParaRPr sz="3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Due </a:t>
            </a:r>
            <a:r>
              <a:rPr lang="en"/>
              <a:t>Diligence</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AI can be used to identify different kinds of contracts (e.g. supplier contracts, customer agreements, software licenses, leases) through machine learning techniques.</a:t>
            </a:r>
            <a:endParaRPr/>
          </a:p>
          <a:p>
            <a:pPr indent="-342900" lvl="0" marL="457200" rtl="0" algn="l">
              <a:spcBef>
                <a:spcPts val="0"/>
              </a:spcBef>
              <a:spcAft>
                <a:spcPts val="0"/>
              </a:spcAft>
              <a:buSzPts val="1800"/>
              <a:buChar char="●"/>
            </a:pPr>
            <a:r>
              <a:rPr lang="en"/>
              <a:t>AI can be used to identify different provisions within contracts (e.g. anti-assignment, IP assignment, license grant) through machine learning techniques as well.</a:t>
            </a:r>
            <a:endParaRPr/>
          </a:p>
          <a:p>
            <a:pPr indent="-342900" lvl="0" marL="457200" rtl="0" algn="l">
              <a:spcBef>
                <a:spcPts val="0"/>
              </a:spcBef>
              <a:spcAft>
                <a:spcPts val="0"/>
              </a:spcAft>
              <a:buSzPts val="1800"/>
              <a:buChar char="●"/>
            </a:pPr>
            <a:r>
              <a:rPr lang="en"/>
              <a:t>Both of these capabilities require humans to create a large dataset beforehand, manually identifying different types of contracts and provisions.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Legal Analysis and Strategy</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With a large dataset on a specific judge and his/her decisions, AI can be used to predict outcomes in litigation, helping law firms formulate their legal strategies.</a:t>
            </a:r>
            <a:endParaRPr/>
          </a:p>
          <a:p>
            <a:pPr indent="-317500" lvl="1" marL="914400" rtl="0" algn="l">
              <a:spcBef>
                <a:spcPts val="0"/>
              </a:spcBef>
              <a:spcAft>
                <a:spcPts val="0"/>
              </a:spcAft>
              <a:buSzPts val="1400"/>
              <a:buChar char="○"/>
            </a:pPr>
            <a:r>
              <a:rPr lang="en"/>
              <a:t>Limitation</a:t>
            </a:r>
            <a:r>
              <a:rPr lang="en"/>
              <a:t>: This capability is limited to judges with large datasets on their decisions and cannot be applied to jury trials.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Contract </a:t>
            </a:r>
            <a:r>
              <a:rPr lang="en"/>
              <a:t>Administration</a:t>
            </a:r>
            <a:r>
              <a:rPr lang="en"/>
              <a:t> and Management</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AI technology can create basic templates by reviewing all of a company’s contracts in a particular area and extracting the common provision.</a:t>
            </a:r>
            <a:r>
              <a:rPr baseline="30000" lang="en"/>
              <a:t>1</a:t>
            </a:r>
            <a:endParaRPr/>
          </a:p>
          <a:p>
            <a:pPr indent="-292100" lvl="1" marL="914400" rtl="0" algn="l">
              <a:spcBef>
                <a:spcPts val="0"/>
              </a:spcBef>
              <a:spcAft>
                <a:spcPts val="0"/>
              </a:spcAft>
              <a:buSzPts val="1000"/>
              <a:buChar char="○"/>
            </a:pPr>
            <a:r>
              <a:rPr lang="en"/>
              <a:t>Can also highlight discrepancies between the template and contracts proposed by other parties.</a:t>
            </a:r>
            <a:endParaRPr sz="1000"/>
          </a:p>
          <a:p>
            <a:pPr indent="-342900" lvl="0" marL="457200" rtl="0" algn="l">
              <a:spcBef>
                <a:spcPts val="0"/>
              </a:spcBef>
              <a:spcAft>
                <a:spcPts val="0"/>
              </a:spcAft>
              <a:buSzPts val="1800"/>
              <a:buChar char="●"/>
            </a:pPr>
            <a:r>
              <a:rPr lang="en"/>
              <a:t>AI technology can pull analogous provisions from different contracts into summary charts and compare specific provisions.</a:t>
            </a:r>
            <a:r>
              <a:rPr baseline="30000" lang="en"/>
              <a:t>1</a:t>
            </a:r>
            <a:endParaRPr/>
          </a:p>
          <a:p>
            <a:pPr indent="-342900" lvl="0" marL="457200" rtl="0" algn="l">
              <a:spcBef>
                <a:spcPts val="0"/>
              </a:spcBef>
              <a:spcAft>
                <a:spcPts val="0"/>
              </a:spcAft>
              <a:buSzPts val="1800"/>
              <a:buChar char="●"/>
            </a:pPr>
            <a:r>
              <a:rPr lang="en"/>
              <a:t>AI can apply human-defined rules and take action once it has identified a contract.</a:t>
            </a:r>
            <a:r>
              <a:rPr baseline="30000" lang="en"/>
              <a:t>2</a:t>
            </a:r>
            <a:endParaRPr/>
          </a:p>
          <a:p>
            <a:pPr indent="-317500" lvl="1" marL="914400" rtl="0" algn="l">
              <a:spcBef>
                <a:spcPts val="0"/>
              </a:spcBef>
              <a:spcAft>
                <a:spcPts val="0"/>
              </a:spcAft>
              <a:buSzPts val="1400"/>
              <a:buChar char="○"/>
            </a:pPr>
            <a:r>
              <a:rPr lang="en"/>
              <a:t>EX: If this document is an NDA agreement, THEN send it to the legal department for review.</a:t>
            </a:r>
            <a:endParaRPr/>
          </a:p>
          <a:p>
            <a:pPr indent="0" lvl="0" marL="45720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eDiscovery using “Continuous Active Learning”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Early versions of eDiscovery would require lawyers to review a “training sample” of documents from the full data set and classify each document as responsive or not. The software would scan the training sample and estimate a supervised learning model to apply to the rest of the dataset.</a:t>
            </a:r>
            <a:endParaRPr baseline="30000"/>
          </a:p>
          <a:p>
            <a:pPr indent="-342900" lvl="0" marL="457200" rtl="0" algn="l">
              <a:spcBef>
                <a:spcPts val="0"/>
              </a:spcBef>
              <a:spcAft>
                <a:spcPts val="0"/>
              </a:spcAft>
              <a:buSzPts val="1800"/>
              <a:buChar char="●"/>
            </a:pPr>
            <a:r>
              <a:rPr lang="en"/>
              <a:t>With</a:t>
            </a:r>
            <a:r>
              <a:rPr lang="en"/>
              <a:t> “continuous active learning,” lawyers start by using keyword searching to identify an initial set of relevant documents, which are ranked for relevancy. These documents and rankings are then used to create a statistical model to predict responsiveness.</a:t>
            </a:r>
            <a:r>
              <a:rPr baseline="30000" lang="en"/>
              <a:t>1</a:t>
            </a:r>
            <a:endParaRPr/>
          </a:p>
          <a:p>
            <a:pPr indent="-317500" lvl="1" marL="914400" rtl="0" algn="l">
              <a:spcBef>
                <a:spcPts val="0"/>
              </a:spcBef>
              <a:spcAft>
                <a:spcPts val="0"/>
              </a:spcAft>
              <a:buSzPts val="1400"/>
              <a:buChar char="○"/>
            </a:pPr>
            <a:r>
              <a:rPr lang="en"/>
              <a:t>Limitation: “</a:t>
            </a:r>
            <a:r>
              <a:rPr lang="en"/>
              <a:t>continuous</a:t>
            </a:r>
            <a:r>
              <a:rPr lang="en"/>
              <a:t> active learning” still requires human attorneys to classify a set of documents and the train the system’s parameters.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Document Drafting</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AI can be utilized to draft simple legal documents that follow a </a:t>
            </a:r>
            <a:r>
              <a:rPr lang="en"/>
              <a:t>structured</a:t>
            </a:r>
            <a:r>
              <a:rPr lang="en"/>
              <a:t> format.</a:t>
            </a:r>
            <a:endParaRPr/>
          </a:p>
          <a:p>
            <a:pPr indent="-317500" lvl="1" marL="914400" rtl="0" algn="l">
              <a:spcBef>
                <a:spcPts val="0"/>
              </a:spcBef>
              <a:spcAft>
                <a:spcPts val="0"/>
              </a:spcAft>
              <a:buSzPts val="1400"/>
              <a:buChar char="○"/>
            </a:pPr>
            <a:r>
              <a:rPr lang="en"/>
              <a:t>EX: A lawyer can enter information about a client’s wishes regarding disposition of her estate and the computer will produce a customized will for review.</a:t>
            </a:r>
            <a:r>
              <a:rPr baseline="30000" lang="en"/>
              <a:t>1</a:t>
            </a:r>
            <a:endParaRPr/>
          </a:p>
          <a:p>
            <a:pPr indent="-317500" lvl="1" marL="914400" rtl="0" algn="l">
              <a:spcBef>
                <a:spcPts val="0"/>
              </a:spcBef>
              <a:spcAft>
                <a:spcPts val="0"/>
              </a:spcAft>
              <a:buSzPts val="1400"/>
              <a:buChar char="○"/>
            </a:pPr>
            <a:r>
              <a:rPr lang="en"/>
              <a:t>This task can be used for form contracts.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2167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What legal tasks cannot incorporate AI?</a:t>
            </a:r>
            <a:endParaRPr sz="3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Due Diligence (again)</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Although AI can perform basic due diligence through machine learning techniques, there are limits.</a:t>
            </a:r>
            <a:endParaRPr/>
          </a:p>
          <a:p>
            <a:pPr indent="-342900" lvl="0" marL="457200" rtl="0" algn="l">
              <a:spcBef>
                <a:spcPts val="0"/>
              </a:spcBef>
              <a:spcAft>
                <a:spcPts val="0"/>
              </a:spcAft>
              <a:buSzPts val="1800"/>
              <a:buChar char="●"/>
            </a:pPr>
            <a:r>
              <a:rPr lang="en"/>
              <a:t>AI cannot search for unanticipated information.</a:t>
            </a:r>
            <a:r>
              <a:rPr baseline="30000" lang="en"/>
              <a:t>1</a:t>
            </a:r>
            <a:endParaRPr baseline="30000"/>
          </a:p>
          <a:p>
            <a:pPr indent="-342900" lvl="0" marL="457200" rtl="0" algn="l">
              <a:spcBef>
                <a:spcPts val="0"/>
              </a:spcBef>
              <a:spcAft>
                <a:spcPts val="0"/>
              </a:spcAft>
              <a:buSzPts val="1800"/>
              <a:buChar char="●"/>
            </a:pPr>
            <a:r>
              <a:rPr lang="en"/>
              <a:t>Current machine learning software will identify a clause as problematic only if an </a:t>
            </a:r>
            <a:r>
              <a:rPr lang="en"/>
              <a:t>analogous clause in the dataset has been identified as problematic.</a:t>
            </a:r>
            <a:r>
              <a:rPr baseline="30000" lang="en"/>
              <a:t>1</a:t>
            </a: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Legal Writing</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vast majority of legal brief writing is too unstructured to be automated.</a:t>
            </a:r>
            <a:endParaRPr/>
          </a:p>
          <a:p>
            <a:pPr indent="-342900" lvl="0" marL="457200" rtl="0" algn="l">
              <a:spcBef>
                <a:spcPts val="0"/>
              </a:spcBef>
              <a:spcAft>
                <a:spcPts val="0"/>
              </a:spcAft>
              <a:buSzPts val="1800"/>
              <a:buChar char="●"/>
            </a:pPr>
            <a:r>
              <a:rPr lang="en"/>
              <a:t>Analysis in a legal brief requires an understanding of the complex interplay between law and fact. </a:t>
            </a:r>
            <a:endParaRPr/>
          </a:p>
          <a:p>
            <a:pPr indent="-342900" lvl="0" marL="457200" rtl="0" algn="l">
              <a:spcBef>
                <a:spcPts val="0"/>
              </a:spcBef>
              <a:spcAft>
                <a:spcPts val="0"/>
              </a:spcAft>
              <a:buSzPts val="1800"/>
              <a:buChar char="●"/>
            </a:pPr>
            <a:r>
              <a:rPr lang="en"/>
              <a:t>The use of precedent is difficult for AI because a single case can be used to support two opposing positions.</a:t>
            </a:r>
            <a:endParaRPr/>
          </a:p>
          <a:p>
            <a:pPr indent="-317500" lvl="1" marL="914400" rtl="0" algn="l">
              <a:spcBef>
                <a:spcPts val="0"/>
              </a:spcBef>
              <a:spcAft>
                <a:spcPts val="0"/>
              </a:spcAft>
              <a:buSzPts val="1400"/>
              <a:buChar char="○"/>
            </a:pPr>
            <a:r>
              <a:rPr lang="en"/>
              <a:t>Humans are necessary to “contextualize the case in a line of precedent and to distinguish between binding holding and non-binding dicta.”</a:t>
            </a:r>
            <a:r>
              <a:rPr baseline="30000" lang="en"/>
              <a:t>1</a:t>
            </a:r>
            <a:endParaRPr baseline="30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Advising Clients</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Lawyers must routinely predict things that are outside of the scope of courts and case law.</a:t>
            </a:r>
            <a:endParaRPr baseline="30000"/>
          </a:p>
          <a:p>
            <a:pPr indent="-317500" lvl="1" marL="914400" rtl="0" algn="l">
              <a:spcBef>
                <a:spcPts val="0"/>
              </a:spcBef>
              <a:spcAft>
                <a:spcPts val="0"/>
              </a:spcAft>
              <a:buSzPts val="1400"/>
              <a:buChar char="○"/>
            </a:pPr>
            <a:r>
              <a:rPr lang="en"/>
              <a:t>EX: How the other party will react to a settlement offer.</a:t>
            </a:r>
            <a:endParaRPr/>
          </a:p>
          <a:p>
            <a:pPr indent="-342900" lvl="0" marL="457200" rtl="0" algn="l">
              <a:spcBef>
                <a:spcPts val="0"/>
              </a:spcBef>
              <a:spcAft>
                <a:spcPts val="0"/>
              </a:spcAft>
              <a:buSzPts val="1800"/>
              <a:buChar char="●"/>
            </a:pPr>
            <a:r>
              <a:rPr lang="en"/>
              <a:t>Advising clients requires more than simple predictions - lawyers must take into account a client’s situation, goals, and interests.</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