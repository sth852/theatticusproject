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d62b8b2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d62b8b2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d62b8b25c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d62b8b25c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8d62b8b25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8d62b8b25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8d62b8b25c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8d62b8b25c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8d62b8b25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8d62b8b25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8d62b8b25c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8d62b8b25c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hyperlink" Target="https://blogs.mathworks.com/steve/2012/12/04/image-effects-part-4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</a:t>
            </a:r>
            <a:r>
              <a:rPr lang="en"/>
              <a:t>Does</a:t>
            </a:r>
            <a:r>
              <a:rPr lang="en"/>
              <a:t> AI Work?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1: Pattern Recognition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52600" cy="20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091425" y="4722875"/>
            <a:ext cx="205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© 2020 The Atticus Project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Steps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131075" y="1132100"/>
            <a:ext cx="2876100" cy="3416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33950" y="1132100"/>
            <a:ext cx="2876100" cy="3416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Machine Learning Model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6136825" y="1132100"/>
            <a:ext cx="2876100" cy="3416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484475" y="1755650"/>
            <a:ext cx="2169300" cy="21693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3487350" y="1755650"/>
            <a:ext cx="2169300" cy="21693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6490225" y="1755650"/>
            <a:ext cx="2169300" cy="21693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25" y="1824975"/>
            <a:ext cx="2630800" cy="2030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4"/>
          <p:cNvCxnSpPr>
            <a:stCxn id="66" idx="6"/>
            <a:endCxn id="67" idx="2"/>
          </p:cNvCxnSpPr>
          <p:nvPr/>
        </p:nvCxnSpPr>
        <p:spPr>
          <a:xfrm>
            <a:off x="2653775" y="2840300"/>
            <a:ext cx="8337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4"/>
          <p:cNvCxnSpPr>
            <a:stCxn id="67" idx="6"/>
            <a:endCxn id="68" idx="2"/>
          </p:cNvCxnSpPr>
          <p:nvPr/>
        </p:nvCxnSpPr>
        <p:spPr>
          <a:xfrm>
            <a:off x="5656650" y="2840300"/>
            <a:ext cx="8337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6600" y="1524900"/>
            <a:ext cx="2630799" cy="263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 rotWithShape="1">
          <a:blip r:embed="rId5">
            <a:alphaModFix/>
          </a:blip>
          <a:srcRect b="1618" l="0" r="0" t="37076"/>
          <a:stretch/>
        </p:blipFill>
        <p:spPr>
          <a:xfrm>
            <a:off x="3716000" y="1936425"/>
            <a:ext cx="1865350" cy="9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2000" y="1599650"/>
            <a:ext cx="2105726" cy="24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 rot="784357">
            <a:off x="7045981" y="2023378"/>
            <a:ext cx="545127" cy="130846"/>
          </a:xfrm>
          <a:prstGeom prst="rect">
            <a:avLst/>
          </a:prstGeom>
          <a:solidFill>
            <a:srgbClr val="FF4141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 rot="782215">
            <a:off x="7611700" y="2493679"/>
            <a:ext cx="304550" cy="130846"/>
          </a:xfrm>
          <a:prstGeom prst="rect">
            <a:avLst/>
          </a:prstGeom>
          <a:solidFill>
            <a:srgbClr val="FF4141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 rot="782484">
            <a:off x="7050561" y="2322939"/>
            <a:ext cx="192772" cy="130846"/>
          </a:xfrm>
          <a:prstGeom prst="rect">
            <a:avLst/>
          </a:prstGeom>
          <a:solidFill>
            <a:srgbClr val="FF4141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 rot="783159">
            <a:off x="7341755" y="3152779"/>
            <a:ext cx="466246" cy="130846"/>
          </a:xfrm>
          <a:prstGeom prst="rect">
            <a:avLst/>
          </a:prstGeom>
          <a:solidFill>
            <a:srgbClr val="FF4141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input is data </a:t>
            </a:r>
            <a:r>
              <a:rPr lang="en"/>
              <a:t>that has been </a:t>
            </a:r>
            <a:r>
              <a:rPr lang="en"/>
              <a:t>"pre-</a:t>
            </a:r>
            <a:r>
              <a:rPr lang="en"/>
              <a:t>processed", or prepared into a format that AI can use, usually by humans using</a:t>
            </a:r>
            <a:br>
              <a:rPr lang="en"/>
            </a:br>
            <a:r>
              <a:rPr lang="en"/>
              <a:t>a simple program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Text is converted into a string of characters or words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Images are converted into </a:t>
            </a:r>
            <a:r>
              <a:rPr lang="en"/>
              <a:t>arrays of pixels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the picture, pixel colors are </a:t>
            </a:r>
            <a:r>
              <a:rPr lang="en"/>
              <a:t>converted</a:t>
            </a:r>
            <a:br>
              <a:rPr lang="en"/>
            </a:br>
            <a:r>
              <a:rPr lang="en"/>
              <a:t>into three values representing red, green,</a:t>
            </a:r>
            <a:br>
              <a:rPr lang="en"/>
            </a:br>
            <a:r>
              <a:rPr lang="en"/>
              <a:t>a</a:t>
            </a:r>
            <a:r>
              <a:rPr lang="en"/>
              <a:t>nd blue (RGB).</a:t>
            </a:r>
            <a:endParaRPr/>
          </a:p>
        </p:txBody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2171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34093" t="5473"/>
          <a:stretch/>
        </p:blipFill>
        <p:spPr>
          <a:xfrm>
            <a:off x="5456850" y="1556675"/>
            <a:ext cx="3357082" cy="319384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5496219" y="4701311"/>
            <a:ext cx="36477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Source: </a:t>
            </a:r>
            <a:r>
              <a:rPr lang="en" sz="800" u="sng">
                <a:hlinkClick r:id="rId4"/>
              </a:rPr>
              <a:t>https://blogs.mathworks.com/steve/2012/12/04/image-effects-part-4/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Model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model </a:t>
            </a:r>
            <a:r>
              <a:rPr lang="en" sz="2400"/>
              <a:t>utilizes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Pattern Recognition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to predict and classify data inputs.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45125"/>
            <a:ext cx="4122975" cy="32983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 Recognition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663350" y="4592400"/>
            <a:ext cx="1148100" cy="19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Effective Date</a:t>
            </a:r>
            <a:endParaRPr b="1" sz="1000"/>
          </a:p>
        </p:txBody>
      </p:sp>
      <p:sp>
        <p:nvSpPr>
          <p:cNvPr id="100" name="Google Shape;100;p17"/>
          <p:cNvSpPr txBox="1"/>
          <p:nvPr/>
        </p:nvSpPr>
        <p:spPr>
          <a:xfrm>
            <a:off x="1102175" y="4897900"/>
            <a:ext cx="1986000" cy="19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Distance from context</a:t>
            </a:r>
            <a:endParaRPr sz="1200"/>
          </a:p>
        </p:txBody>
      </p:sp>
      <p:sp>
        <p:nvSpPr>
          <p:cNvPr id="101" name="Google Shape;101;p17"/>
          <p:cNvSpPr txBox="1"/>
          <p:nvPr/>
        </p:nvSpPr>
        <p:spPr>
          <a:xfrm rot="-5400000">
            <a:off x="-576450" y="3388575"/>
            <a:ext cx="1734900" cy="19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Location in Contract</a:t>
            </a:r>
            <a:endParaRPr sz="1200"/>
          </a:p>
        </p:txBody>
      </p:sp>
      <p:sp>
        <p:nvSpPr>
          <p:cNvPr id="102" name="Google Shape;102;p17"/>
          <p:cNvSpPr/>
          <p:nvPr/>
        </p:nvSpPr>
        <p:spPr>
          <a:xfrm>
            <a:off x="1303700" y="3147200"/>
            <a:ext cx="438000" cy="35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1683950" y="3541875"/>
            <a:ext cx="291900" cy="35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 rot="-1195347">
            <a:off x="1628003" y="3419659"/>
            <a:ext cx="193692" cy="3590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1683950" y="3825400"/>
            <a:ext cx="933600" cy="4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1862450" y="4184350"/>
            <a:ext cx="1446900" cy="4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New Date</a:t>
            </a:r>
            <a:endParaRPr b="1"/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7952" y="3802477"/>
            <a:ext cx="193800" cy="18607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1756850" y="3922588"/>
            <a:ext cx="146100" cy="14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0" y="1890775"/>
            <a:ext cx="552300" cy="359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3574600" y="4815275"/>
            <a:ext cx="1133400" cy="359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3309425" y="4981600"/>
            <a:ext cx="1133400" cy="359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5075" y="3755092"/>
            <a:ext cx="285300" cy="25074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1862450" y="4184325"/>
            <a:ext cx="1631100" cy="28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CF9E"/>
                </a:solidFill>
              </a:rPr>
              <a:t>Effective</a:t>
            </a:r>
            <a:r>
              <a:rPr b="1" lang="en" sz="1600">
                <a:solidFill>
                  <a:srgbClr val="00CF9E"/>
                </a:solidFill>
              </a:rPr>
              <a:t> </a:t>
            </a:r>
            <a:r>
              <a:rPr b="1" lang="en" sz="1600">
                <a:solidFill>
                  <a:srgbClr val="00CF9E"/>
                </a:solidFill>
              </a:rPr>
              <a:t>Date</a:t>
            </a:r>
            <a:endParaRPr b="1" sz="1600">
              <a:solidFill>
                <a:srgbClr val="00CF9E"/>
              </a:solidFill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1877100" y="3397425"/>
            <a:ext cx="1133400" cy="19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115" name="Google Shape;115;p17"/>
          <p:cNvSpPr/>
          <p:nvPr/>
        </p:nvSpPr>
        <p:spPr>
          <a:xfrm>
            <a:off x="519450" y="3471017"/>
            <a:ext cx="1527775" cy="1366925"/>
          </a:xfrm>
          <a:custGeom>
            <a:rect b="b" l="l" r="r" t="t"/>
            <a:pathLst>
              <a:path extrusionOk="0" h="54677" w="61111">
                <a:moveTo>
                  <a:pt x="0" y="15566"/>
                </a:moveTo>
                <a:cubicBezTo>
                  <a:pt x="1630" y="15430"/>
                  <a:pt x="5567" y="17263"/>
                  <a:pt x="9777" y="14751"/>
                </a:cubicBezTo>
                <a:cubicBezTo>
                  <a:pt x="13987" y="12239"/>
                  <a:pt x="18197" y="1782"/>
                  <a:pt x="25259" y="492"/>
                </a:cubicBezTo>
                <a:cubicBezTo>
                  <a:pt x="32321" y="-798"/>
                  <a:pt x="47123" y="356"/>
                  <a:pt x="52148" y="7010"/>
                </a:cubicBezTo>
                <a:cubicBezTo>
                  <a:pt x="57173" y="13664"/>
                  <a:pt x="53913" y="32474"/>
                  <a:pt x="55407" y="40418"/>
                </a:cubicBezTo>
                <a:cubicBezTo>
                  <a:pt x="56901" y="48363"/>
                  <a:pt x="60160" y="52301"/>
                  <a:pt x="61111" y="54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cxnSp>
        <p:nvCxnSpPr>
          <p:cNvPr id="116" name="Google Shape;116;p17"/>
          <p:cNvCxnSpPr/>
          <p:nvPr/>
        </p:nvCxnSpPr>
        <p:spPr>
          <a:xfrm rot="10800000">
            <a:off x="1821750" y="3988550"/>
            <a:ext cx="285300" cy="285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7"/>
          <p:cNvSpPr/>
          <p:nvPr/>
        </p:nvSpPr>
        <p:spPr>
          <a:xfrm>
            <a:off x="1652887" y="2570475"/>
            <a:ext cx="1581825" cy="1139475"/>
          </a:xfrm>
          <a:custGeom>
            <a:rect b="b" l="l" r="r" t="t"/>
            <a:pathLst>
              <a:path extrusionOk="0" h="45579" w="63273">
                <a:moveTo>
                  <a:pt x="9903" y="0"/>
                </a:moveTo>
                <a:cubicBezTo>
                  <a:pt x="8341" y="5160"/>
                  <a:pt x="-2456" y="23425"/>
                  <a:pt x="532" y="30962"/>
                </a:cubicBezTo>
                <a:cubicBezTo>
                  <a:pt x="3520" y="38499"/>
                  <a:pt x="17372" y="43796"/>
                  <a:pt x="27829" y="45222"/>
                </a:cubicBezTo>
                <a:cubicBezTo>
                  <a:pt x="38286" y="46648"/>
                  <a:pt x="57366" y="40469"/>
                  <a:pt x="63273" y="39518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18" name="Google Shape;118;p17"/>
          <p:cNvSpPr txBox="1"/>
          <p:nvPr/>
        </p:nvSpPr>
        <p:spPr>
          <a:xfrm>
            <a:off x="2617550" y="3045475"/>
            <a:ext cx="1133400" cy="19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Expiration Date</a:t>
            </a:r>
            <a:endParaRPr b="1" sz="1000"/>
          </a:p>
        </p:txBody>
      </p:sp>
      <p:sp>
        <p:nvSpPr>
          <p:cNvPr id="119" name="Google Shape;119;p17"/>
          <p:cNvSpPr txBox="1"/>
          <p:nvPr/>
        </p:nvSpPr>
        <p:spPr>
          <a:xfrm>
            <a:off x="3980100" y="2266625"/>
            <a:ext cx="3765900" cy="812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 </a:t>
            </a:r>
            <a:r>
              <a:rPr lang="en" sz="1200">
                <a:solidFill>
                  <a:schemeClr val="dk2"/>
                </a:solidFill>
              </a:rPr>
              <a:t>Nearest Neighbor </a:t>
            </a:r>
            <a:r>
              <a:rPr lang="en" sz="1200">
                <a:solidFill>
                  <a:schemeClr val="dk2"/>
                </a:solidFill>
              </a:rPr>
              <a:t>search looks through the existing data points for the closest one to the new data point.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19450" y="3471017"/>
            <a:ext cx="1527775" cy="1366925"/>
          </a:xfrm>
          <a:custGeom>
            <a:rect b="b" l="l" r="r" t="t"/>
            <a:pathLst>
              <a:path extrusionOk="0" h="54677" w="61111">
                <a:moveTo>
                  <a:pt x="0" y="15566"/>
                </a:moveTo>
                <a:cubicBezTo>
                  <a:pt x="1630" y="15430"/>
                  <a:pt x="5567" y="17263"/>
                  <a:pt x="9777" y="14751"/>
                </a:cubicBezTo>
                <a:cubicBezTo>
                  <a:pt x="13987" y="12239"/>
                  <a:pt x="18197" y="1782"/>
                  <a:pt x="25259" y="492"/>
                </a:cubicBezTo>
                <a:cubicBezTo>
                  <a:pt x="32321" y="-798"/>
                  <a:pt x="47123" y="356"/>
                  <a:pt x="52148" y="7010"/>
                </a:cubicBezTo>
                <a:cubicBezTo>
                  <a:pt x="57173" y="13664"/>
                  <a:pt x="53913" y="32474"/>
                  <a:pt x="55407" y="40418"/>
                </a:cubicBezTo>
                <a:cubicBezTo>
                  <a:pt x="56901" y="48363"/>
                  <a:pt x="60160" y="52301"/>
                  <a:pt x="61111" y="54677"/>
                </a:cubicBezTo>
              </a:path>
            </a:pathLst>
          </a:custGeom>
          <a:noFill/>
          <a:ln cap="flat" cmpd="sng" w="76200">
            <a:solidFill>
              <a:srgbClr val="00CF9E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311700" y="1152475"/>
            <a:ext cx="8520600" cy="11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Recognize patterns in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and classify data points based on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type of simple pattern recognition is "Nearest Neighbor"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010500" y="3541916"/>
            <a:ext cx="3437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</a:rPr>
              <a:t>"Is this date in the contract more close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to the text describing an Expiration Date or Effective Date?"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6408275" y="2932600"/>
            <a:ext cx="2286600" cy="1139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Use Cases: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Plagiarism</a:t>
            </a:r>
            <a:r>
              <a:rPr lang="en" sz="1200">
                <a:solidFill>
                  <a:schemeClr val="dk2"/>
                </a:solidFill>
              </a:rPr>
              <a:t> detection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Spell-check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5176575" y="1152475"/>
            <a:ext cx="3707400" cy="3707400"/>
          </a:xfrm>
          <a:prstGeom prst="rect">
            <a:avLst/>
          </a:prstGeom>
          <a:solidFill>
            <a:srgbClr val="E1F4F6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</a:t>
            </a:r>
            <a:r>
              <a:rPr lang="en"/>
              <a:t> Recognition (cont.)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</a:t>
            </a:r>
            <a:br>
              <a:rPr lang="en"/>
            </a:br>
            <a:r>
              <a:rPr lang="en"/>
              <a:t>Classification based on contract clauses</a:t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5379150" y="181372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5663950" y="337167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5999700" y="2648150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5862000" y="123232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6202650" y="406312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6548550" y="332942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379150" y="2592700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6202650" y="1904575"/>
            <a:ext cx="2202644" cy="1509375"/>
          </a:xfrm>
          <a:custGeom>
            <a:rect b="b" l="l" r="r" t="t"/>
            <a:pathLst>
              <a:path extrusionOk="0" h="60375" w="68225">
                <a:moveTo>
                  <a:pt x="6087" y="24509"/>
                </a:moveTo>
                <a:cubicBezTo>
                  <a:pt x="2760" y="16157"/>
                  <a:pt x="-3147" y="7466"/>
                  <a:pt x="2421" y="3731"/>
                </a:cubicBezTo>
                <a:cubicBezTo>
                  <a:pt x="7989" y="-4"/>
                  <a:pt x="28562" y="-1430"/>
                  <a:pt x="39494" y="2101"/>
                </a:cubicBezTo>
                <a:cubicBezTo>
                  <a:pt x="50426" y="5632"/>
                  <a:pt x="66315" y="15614"/>
                  <a:pt x="68013" y="24916"/>
                </a:cubicBezTo>
                <a:cubicBezTo>
                  <a:pt x="69711" y="34219"/>
                  <a:pt x="57285" y="53095"/>
                  <a:pt x="49680" y="57916"/>
                </a:cubicBezTo>
                <a:cubicBezTo>
                  <a:pt x="42075" y="62737"/>
                  <a:pt x="29649" y="59410"/>
                  <a:pt x="22383" y="53842"/>
                </a:cubicBezTo>
                <a:cubicBezTo>
                  <a:pt x="15118" y="48274"/>
                  <a:pt x="9414" y="32861"/>
                  <a:pt x="6087" y="24509"/>
                </a:cubicBezTo>
                <a:close/>
              </a:path>
            </a:pathLst>
          </a:custGeom>
          <a:solidFill>
            <a:srgbClr val="FFF1DE"/>
          </a:solidFill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39" name="Google Shape;139;p18"/>
          <p:cNvSpPr/>
          <p:nvPr/>
        </p:nvSpPr>
        <p:spPr>
          <a:xfrm>
            <a:off x="6633938" y="2516500"/>
            <a:ext cx="429000" cy="4290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499550" y="1975100"/>
            <a:ext cx="429000" cy="4290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7420575" y="2242725"/>
            <a:ext cx="429000" cy="4290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7047650" y="2767175"/>
            <a:ext cx="429000" cy="4290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7420575" y="370137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8350575" y="399072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8278575" y="2945500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8078175" y="158587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6633950" y="131087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6805800" y="392997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161151" y="2567325"/>
            <a:ext cx="17202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Change of Control</a:t>
            </a:r>
            <a:endParaRPr b="1" sz="1600"/>
          </a:p>
        </p:txBody>
      </p:sp>
      <p:sp>
        <p:nvSpPr>
          <p:cNvPr id="150" name="Google Shape;150;p18"/>
          <p:cNvSpPr/>
          <p:nvPr/>
        </p:nvSpPr>
        <p:spPr>
          <a:xfrm>
            <a:off x="7615350" y="4396225"/>
            <a:ext cx="429000" cy="429000"/>
          </a:xfrm>
          <a:prstGeom prst="triangle">
            <a:avLst>
              <a:gd fmla="val 50000" name="adj"/>
            </a:avLst>
          </a:prstGeom>
          <a:solidFill>
            <a:srgbClr val="1FC1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51" name="Google Shape;151;p18"/>
          <p:cNvSpPr txBox="1"/>
          <p:nvPr/>
        </p:nvSpPr>
        <p:spPr>
          <a:xfrm>
            <a:off x="7034400" y="1204675"/>
            <a:ext cx="19737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Anti-Assignment</a:t>
            </a:r>
            <a:endParaRPr b="1" sz="1600"/>
          </a:p>
        </p:txBody>
      </p:sp>
      <p:cxnSp>
        <p:nvCxnSpPr>
          <p:cNvPr id="152" name="Google Shape;152;p18"/>
          <p:cNvCxnSpPr>
            <a:stCxn id="153" idx="3"/>
          </p:cNvCxnSpPr>
          <p:nvPr/>
        </p:nvCxnSpPr>
        <p:spPr>
          <a:xfrm flipH="1" rot="10800000">
            <a:off x="4743300" y="3016325"/>
            <a:ext cx="2251200" cy="93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3" name="Google Shape;153;p18"/>
          <p:cNvSpPr txBox="1"/>
          <p:nvPr/>
        </p:nvSpPr>
        <p:spPr>
          <a:xfrm>
            <a:off x="135900" y="3572075"/>
            <a:ext cx="4607400" cy="768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 Change of Control clause is a type of Anti-Assignment clause where </a:t>
            </a:r>
            <a:r>
              <a:rPr b="1" lang="en">
                <a:solidFill>
                  <a:schemeClr val="dk2"/>
                </a:solidFill>
              </a:rPr>
              <a:t>assignment would include a change in control of a contracting party.</a:t>
            </a:r>
            <a:endParaRPr b="1">
              <a:solidFill>
                <a:schemeClr val="dk2"/>
              </a:solidFill>
            </a:endParaRPr>
          </a:p>
        </p:txBody>
      </p:sp>
      <p:cxnSp>
        <p:nvCxnSpPr>
          <p:cNvPr id="154" name="Google Shape;154;p18"/>
          <p:cNvCxnSpPr>
            <a:stCxn id="155" idx="3"/>
          </p:cNvCxnSpPr>
          <p:nvPr/>
        </p:nvCxnSpPr>
        <p:spPr>
          <a:xfrm>
            <a:off x="4743300" y="2359250"/>
            <a:ext cx="1124700" cy="16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5" name="Google Shape;155;p18"/>
          <p:cNvSpPr txBox="1"/>
          <p:nvPr/>
        </p:nvSpPr>
        <p:spPr>
          <a:xfrm>
            <a:off x="135900" y="1975100"/>
            <a:ext cx="4607400" cy="768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An Anti-Assignment clause means the contract can't be assigned without consent or notice.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