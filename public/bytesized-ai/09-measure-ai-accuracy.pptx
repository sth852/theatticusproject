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E11D8ED-B9B1-414E-8822-7586E1A21119}">
  <a:tblStyle styleId="{BE11D8ED-B9B1-414E-8822-7586E1A2111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8ab9fc6443_1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8ab9fc6443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8a237f6574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8a237f6574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8a237f6574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8a237f6574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8a237f6574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8a237f6574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8a237f657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8a237f657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8a237f6574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8a237f6574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8a237f6574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8a237f6574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8a237f6574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8a237f6574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90792e4fba_1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90792e4fba_1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8a237f6574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8a237f657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8a237f6574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8a237f6574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90792e4fb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90792e4fb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8a237f6574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8a237f6574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90792e4fba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90792e4fba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deepai.org/machine-learning-glossary-and-terms/f-score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8969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Measuring AI Accuracy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9865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Precision, Recall, F-score, and Beyond</a:t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2052600" cy="20526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7091425" y="4722875"/>
            <a:ext cx="20526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© 2020 The Atticus Project</a:t>
            </a:r>
            <a:endParaRPr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543750" y="1541625"/>
            <a:ext cx="8056500" cy="346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434343"/>
                </a:solidFill>
              </a:rPr>
              <a:t>Short answer</a:t>
            </a:r>
            <a:r>
              <a:rPr lang="en">
                <a:solidFill>
                  <a:srgbClr val="434343"/>
                </a:solidFill>
              </a:rPr>
              <a:t>: by checking against human-labeled contracts.</a:t>
            </a:r>
            <a:endParaRPr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434343"/>
                </a:solidFill>
              </a:rPr>
              <a:t>Example:</a:t>
            </a:r>
            <a:r>
              <a:rPr lang="en" sz="1500">
                <a:solidFill>
                  <a:srgbClr val="434343"/>
                </a:solidFill>
              </a:rPr>
              <a:t> </a:t>
            </a:r>
            <a:endParaRPr sz="15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434343"/>
                </a:solidFill>
              </a:rPr>
              <a:t>Model takes</a:t>
            </a:r>
            <a:r>
              <a:rPr lang="en" sz="1400">
                <a:solidFill>
                  <a:srgbClr val="434343"/>
                </a:solidFill>
              </a:rPr>
              <a:t> 3 human-labeled contracts. </a:t>
            </a:r>
            <a:endParaRPr sz="14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63" name="Google Shape;63;p14"/>
          <p:cNvSpPr/>
          <p:nvPr/>
        </p:nvSpPr>
        <p:spPr>
          <a:xfrm>
            <a:off x="468750" y="3163775"/>
            <a:ext cx="1551300" cy="846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we measure a model's accuracy?</a:t>
            </a:r>
            <a:endParaRPr/>
          </a:p>
        </p:txBody>
      </p:sp>
      <p:sp>
        <p:nvSpPr>
          <p:cNvPr id="65" name="Google Shape;65;p14"/>
          <p:cNvSpPr/>
          <p:nvPr/>
        </p:nvSpPr>
        <p:spPr>
          <a:xfrm>
            <a:off x="592388" y="3300875"/>
            <a:ext cx="577200" cy="5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Contract 1</a:t>
            </a:r>
            <a:endParaRPr sz="800"/>
          </a:p>
        </p:txBody>
      </p:sp>
      <p:sp>
        <p:nvSpPr>
          <p:cNvPr id="66" name="Google Shape;66;p14"/>
          <p:cNvSpPr/>
          <p:nvPr/>
        </p:nvSpPr>
        <p:spPr>
          <a:xfrm>
            <a:off x="1319219" y="3300875"/>
            <a:ext cx="577200" cy="5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</a:rPr>
              <a:t>Contract 2</a:t>
            </a:r>
            <a:endParaRPr/>
          </a:p>
        </p:txBody>
      </p:sp>
      <p:grpSp>
        <p:nvGrpSpPr>
          <p:cNvPr id="67" name="Google Shape;67;p14"/>
          <p:cNvGrpSpPr/>
          <p:nvPr/>
        </p:nvGrpSpPr>
        <p:grpSpPr>
          <a:xfrm>
            <a:off x="4950400" y="3163775"/>
            <a:ext cx="724500" cy="846900"/>
            <a:chOff x="468750" y="4094075"/>
            <a:chExt cx="724500" cy="846900"/>
          </a:xfrm>
        </p:grpSpPr>
        <p:sp>
          <p:nvSpPr>
            <p:cNvPr id="68" name="Google Shape;68;p14"/>
            <p:cNvSpPr/>
            <p:nvPr/>
          </p:nvSpPr>
          <p:spPr>
            <a:xfrm>
              <a:off x="468750" y="4094075"/>
              <a:ext cx="724500" cy="8469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14"/>
            <p:cNvSpPr/>
            <p:nvPr/>
          </p:nvSpPr>
          <p:spPr>
            <a:xfrm>
              <a:off x="542388" y="4231175"/>
              <a:ext cx="577200" cy="5727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800">
                  <a:solidFill>
                    <a:schemeClr val="dk1"/>
                  </a:solidFill>
                </a:rPr>
                <a:t>Contract 3</a:t>
              </a:r>
              <a:endParaRPr/>
            </a:p>
          </p:txBody>
        </p:sp>
      </p:grpSp>
      <p:cxnSp>
        <p:nvCxnSpPr>
          <p:cNvPr id="70" name="Google Shape;70;p14"/>
          <p:cNvCxnSpPr>
            <a:stCxn id="63" idx="3"/>
            <a:endCxn id="71" idx="1"/>
          </p:cNvCxnSpPr>
          <p:nvPr/>
        </p:nvCxnSpPr>
        <p:spPr>
          <a:xfrm>
            <a:off x="2020050" y="3587225"/>
            <a:ext cx="99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1" name="Google Shape;71;p14"/>
          <p:cNvSpPr/>
          <p:nvPr/>
        </p:nvSpPr>
        <p:spPr>
          <a:xfrm>
            <a:off x="2929025" y="3250475"/>
            <a:ext cx="1112400" cy="673500"/>
          </a:xfrm>
          <a:prstGeom prst="trapezoid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</a:t>
            </a:r>
            <a:endParaRPr/>
          </a:p>
        </p:txBody>
      </p:sp>
      <p:cxnSp>
        <p:nvCxnSpPr>
          <p:cNvPr id="72" name="Google Shape;72;p14"/>
          <p:cNvCxnSpPr>
            <a:stCxn id="71" idx="3"/>
            <a:endCxn id="68" idx="1"/>
          </p:cNvCxnSpPr>
          <p:nvPr/>
        </p:nvCxnSpPr>
        <p:spPr>
          <a:xfrm>
            <a:off x="3957238" y="3587225"/>
            <a:ext cx="99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73" name="Google Shape;73;p14"/>
          <p:cNvSpPr txBox="1"/>
          <p:nvPr/>
        </p:nvSpPr>
        <p:spPr>
          <a:xfrm>
            <a:off x="2143125" y="3296325"/>
            <a:ext cx="870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2"/>
                </a:solidFill>
              </a:rPr>
              <a:t>training</a:t>
            </a:r>
            <a:endParaRPr i="1">
              <a:solidFill>
                <a:schemeClr val="dk2"/>
              </a:solidFill>
            </a:endParaRPr>
          </a:p>
        </p:txBody>
      </p:sp>
      <p:sp>
        <p:nvSpPr>
          <p:cNvPr id="74" name="Google Shape;74;p14"/>
          <p:cNvSpPr txBox="1"/>
          <p:nvPr/>
        </p:nvSpPr>
        <p:spPr>
          <a:xfrm>
            <a:off x="4136838" y="3296325"/>
            <a:ext cx="870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2"/>
                </a:solidFill>
              </a:rPr>
              <a:t>testing</a:t>
            </a:r>
            <a:endParaRPr i="1">
              <a:solidFill>
                <a:schemeClr val="dk2"/>
              </a:solidFill>
            </a:endParaRPr>
          </a:p>
        </p:txBody>
      </p:sp>
      <p:sp>
        <p:nvSpPr>
          <p:cNvPr id="75" name="Google Shape;75;p14"/>
          <p:cNvSpPr/>
          <p:nvPr/>
        </p:nvSpPr>
        <p:spPr>
          <a:xfrm>
            <a:off x="6328675" y="3290375"/>
            <a:ext cx="993300" cy="67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recall, precision,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f-score</a:t>
            </a:r>
            <a:endParaRPr/>
          </a:p>
        </p:txBody>
      </p:sp>
      <p:sp>
        <p:nvSpPr>
          <p:cNvPr id="76" name="Google Shape;76;p14"/>
          <p:cNvSpPr/>
          <p:nvPr/>
        </p:nvSpPr>
        <p:spPr>
          <a:xfrm>
            <a:off x="5684375" y="3125375"/>
            <a:ext cx="1112442" cy="426100"/>
          </a:xfrm>
          <a:custGeom>
            <a:rect b="b" l="l" r="r" t="t"/>
            <a:pathLst>
              <a:path extrusionOk="0" h="17044" w="55518">
                <a:moveTo>
                  <a:pt x="0" y="17044"/>
                </a:moveTo>
                <a:cubicBezTo>
                  <a:pt x="4082" y="14255"/>
                  <a:pt x="15240" y="2076"/>
                  <a:pt x="24493" y="307"/>
                </a:cubicBezTo>
                <a:cubicBezTo>
                  <a:pt x="33746" y="-1462"/>
                  <a:pt x="50347" y="5410"/>
                  <a:pt x="55518" y="643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77" name="Google Shape;77;p14"/>
          <p:cNvSpPr txBox="1"/>
          <p:nvPr/>
        </p:nvSpPr>
        <p:spPr>
          <a:xfrm>
            <a:off x="1688225" y="4210875"/>
            <a:ext cx="15969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434343"/>
                </a:solidFill>
              </a:rPr>
              <a:t>Model uses Contracts 1 and 2 to train</a:t>
            </a:r>
            <a:endParaRPr sz="1200">
              <a:solidFill>
                <a:srgbClr val="434343"/>
              </a:solidFill>
            </a:endParaRPr>
          </a:p>
        </p:txBody>
      </p:sp>
      <p:sp>
        <p:nvSpPr>
          <p:cNvPr id="78" name="Google Shape;78;p14"/>
          <p:cNvSpPr txBox="1"/>
          <p:nvPr/>
        </p:nvSpPr>
        <p:spPr>
          <a:xfrm>
            <a:off x="3592075" y="4103950"/>
            <a:ext cx="1918200" cy="3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434343"/>
                </a:solidFill>
              </a:rPr>
              <a:t>The AI tool</a:t>
            </a:r>
            <a:r>
              <a:rPr lang="en" sz="1200">
                <a:solidFill>
                  <a:srgbClr val="434343"/>
                </a:solidFill>
              </a:rPr>
              <a:t> removes the labels in Contract 3, and  asks the model to predict labels on its own</a:t>
            </a:r>
            <a:endParaRPr sz="1200">
              <a:solidFill>
                <a:srgbClr val="434343"/>
              </a:solidFill>
            </a:endParaRPr>
          </a:p>
        </p:txBody>
      </p:sp>
      <p:sp>
        <p:nvSpPr>
          <p:cNvPr id="79" name="Google Shape;79;p14"/>
          <p:cNvSpPr txBox="1"/>
          <p:nvPr/>
        </p:nvSpPr>
        <p:spPr>
          <a:xfrm>
            <a:off x="6368850" y="3982275"/>
            <a:ext cx="2274600" cy="2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434343"/>
                </a:solidFill>
              </a:rPr>
              <a:t>The AI tool compares the labels predicted by the model vs. the labels done by humans, and computes recall, </a:t>
            </a:r>
            <a:r>
              <a:rPr lang="en" sz="1200">
                <a:solidFill>
                  <a:srgbClr val="434343"/>
                </a:solidFill>
              </a:rPr>
              <a:t>precision</a:t>
            </a:r>
            <a:r>
              <a:rPr lang="en" sz="1200">
                <a:solidFill>
                  <a:srgbClr val="434343"/>
                </a:solidFill>
              </a:rPr>
              <a:t>, and f-score</a:t>
            </a:r>
            <a:endParaRPr sz="1200">
              <a:solidFill>
                <a:srgbClr val="434343"/>
              </a:solidFill>
            </a:endParaRPr>
          </a:p>
        </p:txBody>
      </p:sp>
      <p:sp>
        <p:nvSpPr>
          <p:cNvPr id="80" name="Google Shape;80;p14"/>
          <p:cNvSpPr txBox="1"/>
          <p:nvPr/>
        </p:nvSpPr>
        <p:spPr>
          <a:xfrm>
            <a:off x="5860878" y="2789475"/>
            <a:ext cx="1112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2"/>
                </a:solidFill>
              </a:rPr>
              <a:t>compute</a:t>
            </a:r>
            <a:endParaRPr i="1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Metrics of Accuracy</a:t>
            </a:r>
            <a:endParaRPr/>
          </a:p>
        </p:txBody>
      </p:sp>
      <p:sp>
        <p:nvSpPr>
          <p:cNvPr id="86" name="Google Shape;86;p15"/>
          <p:cNvSpPr txBox="1"/>
          <p:nvPr>
            <p:ph idx="1" type="body"/>
          </p:nvPr>
        </p:nvSpPr>
        <p:spPr>
          <a:xfrm>
            <a:off x="351300" y="3282725"/>
            <a:ext cx="8441400" cy="114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are two main metrics of accuracy: precision and recall, which together form a third metric known as F-score.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Char char="●"/>
            </a:pPr>
            <a:r>
              <a:rPr lang="en"/>
              <a:t>All three metrics lie on a scale from 0 to 1, and are calculated based on what the model gets right vs wrong.</a:t>
            </a:r>
            <a:endParaRPr/>
          </a:p>
        </p:txBody>
      </p:sp>
      <p:sp>
        <p:nvSpPr>
          <p:cNvPr id="87" name="Google Shape;87;p15"/>
          <p:cNvSpPr txBox="1"/>
          <p:nvPr>
            <p:ph idx="1" type="body"/>
          </p:nvPr>
        </p:nvSpPr>
        <p:spPr>
          <a:xfrm>
            <a:off x="3217950" y="1538600"/>
            <a:ext cx="1596900" cy="9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BF9000"/>
                </a:solidFill>
              </a:rPr>
              <a:t>Precision</a:t>
            </a:r>
            <a:endParaRPr sz="2400">
              <a:solidFill>
                <a:srgbClr val="BF9000"/>
              </a:solidFill>
            </a:endParaRPr>
          </a:p>
          <a:p>
            <a:pPr indent="0" lvl="0" marL="0" rtl="0" algn="ctr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990000"/>
                </a:solidFill>
              </a:rPr>
              <a:t>Recall</a:t>
            </a:r>
            <a:endParaRPr sz="2400">
              <a:solidFill>
                <a:srgbClr val="990000"/>
              </a:solidFill>
            </a:endParaRPr>
          </a:p>
        </p:txBody>
      </p:sp>
      <p:sp>
        <p:nvSpPr>
          <p:cNvPr id="88" name="Google Shape;88;p15"/>
          <p:cNvSpPr txBox="1"/>
          <p:nvPr>
            <p:ph idx="1" type="body"/>
          </p:nvPr>
        </p:nvSpPr>
        <p:spPr>
          <a:xfrm>
            <a:off x="4984650" y="1768174"/>
            <a:ext cx="1253100" cy="9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F-score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89" name="Google Shape;89;p15"/>
          <p:cNvSpPr/>
          <p:nvPr/>
        </p:nvSpPr>
        <p:spPr>
          <a:xfrm>
            <a:off x="2906250" y="1379650"/>
            <a:ext cx="2078400" cy="1431600"/>
          </a:xfrm>
          <a:prstGeom prst="brace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5"/>
          <p:cNvSpPr/>
          <p:nvPr/>
        </p:nvSpPr>
        <p:spPr>
          <a:xfrm>
            <a:off x="2750675" y="1284125"/>
            <a:ext cx="533400" cy="1656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6"/>
          <p:cNvSpPr txBox="1"/>
          <p:nvPr>
            <p:ph idx="1" type="body"/>
          </p:nvPr>
        </p:nvSpPr>
        <p:spPr>
          <a:xfrm>
            <a:off x="740100" y="1162675"/>
            <a:ext cx="7948800" cy="34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434343"/>
                </a:solidFill>
              </a:rPr>
              <a:t>For each clause, the model is expected to give a true/false prediction, for each label.</a:t>
            </a:r>
            <a:endParaRPr sz="16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434343"/>
              </a:solidFill>
            </a:endParaRPr>
          </a:p>
        </p:txBody>
      </p:sp>
      <p:sp>
        <p:nvSpPr>
          <p:cNvPr id="96" name="Google Shape;9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Binary Classification (True/False)</a:t>
            </a:r>
            <a:endParaRPr/>
          </a:p>
        </p:txBody>
      </p:sp>
      <p:pic>
        <p:nvPicPr>
          <p:cNvPr id="97" name="Google Shape;9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0421" y="1833641"/>
            <a:ext cx="8098475" cy="269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" name="Google Shape;102;p17"/>
          <p:cNvGraphicFramePr/>
          <p:nvPr/>
        </p:nvGraphicFramePr>
        <p:xfrm>
          <a:off x="2016138" y="656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{BE11D8ED-B9B1-414E-8822-7586E1A21119}</a:tableStyleId>
              </a:tblPr>
              <a:tblGrid>
                <a:gridCol w="746700"/>
                <a:gridCol w="2101400"/>
                <a:gridCol w="2228350"/>
              </a:tblGrid>
              <a:tr h="892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True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False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892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True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True Positive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892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False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03" name="Google Shape;103;p17"/>
          <p:cNvSpPr txBox="1"/>
          <p:nvPr/>
        </p:nvSpPr>
        <p:spPr>
          <a:xfrm>
            <a:off x="3922875" y="141100"/>
            <a:ext cx="1764000" cy="6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Human Label</a:t>
            </a:r>
            <a:endParaRPr b="1"/>
          </a:p>
        </p:txBody>
      </p:sp>
      <p:sp>
        <p:nvSpPr>
          <p:cNvPr id="104" name="Google Shape;104;p17"/>
          <p:cNvSpPr txBox="1"/>
          <p:nvPr/>
        </p:nvSpPr>
        <p:spPr>
          <a:xfrm>
            <a:off x="112900" y="1695100"/>
            <a:ext cx="1764000" cy="5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Model</a:t>
            </a:r>
            <a:r>
              <a:rPr b="1" lang="en"/>
              <a:t> Prediction</a:t>
            </a:r>
            <a:endParaRPr b="1"/>
          </a:p>
        </p:txBody>
      </p:sp>
      <p:sp>
        <p:nvSpPr>
          <p:cNvPr id="105" name="Google Shape;105;p17"/>
          <p:cNvSpPr txBox="1"/>
          <p:nvPr/>
        </p:nvSpPr>
        <p:spPr>
          <a:xfrm>
            <a:off x="-50" y="3768150"/>
            <a:ext cx="9144000" cy="8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True Positive: </a:t>
            </a:r>
            <a:r>
              <a:rPr lang="en"/>
              <a:t>a clause</a:t>
            </a:r>
            <a:r>
              <a:rPr lang="en"/>
              <a:t> that a human marks as true and the model also marks as true. </a:t>
            </a:r>
            <a:endParaRPr/>
          </a:p>
        </p:txBody>
      </p:sp>
      <p:cxnSp>
        <p:nvCxnSpPr>
          <p:cNvPr id="106" name="Google Shape;106;p17"/>
          <p:cNvCxnSpPr/>
          <p:nvPr/>
        </p:nvCxnSpPr>
        <p:spPr>
          <a:xfrm>
            <a:off x="3827000" y="1132800"/>
            <a:ext cx="0" cy="571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7" name="Google Shape;107;p17"/>
          <p:cNvCxnSpPr/>
          <p:nvPr/>
        </p:nvCxnSpPr>
        <p:spPr>
          <a:xfrm>
            <a:off x="2591475" y="2000250"/>
            <a:ext cx="4905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2" name="Google Shape;112;p18"/>
          <p:cNvGraphicFramePr/>
          <p:nvPr/>
        </p:nvGraphicFramePr>
        <p:xfrm>
          <a:off x="2016138" y="656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{BE11D8ED-B9B1-414E-8822-7586E1A21119}</a:tableStyleId>
              </a:tblPr>
              <a:tblGrid>
                <a:gridCol w="746700"/>
                <a:gridCol w="2101400"/>
                <a:gridCol w="2228350"/>
              </a:tblGrid>
              <a:tr h="892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True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False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892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True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True Positive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False Positive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FE599"/>
                    </a:solidFill>
                  </a:tcPr>
                </a:tc>
              </a:tr>
              <a:tr h="892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False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13" name="Google Shape;113;p18"/>
          <p:cNvSpPr txBox="1"/>
          <p:nvPr/>
        </p:nvSpPr>
        <p:spPr>
          <a:xfrm>
            <a:off x="3922875" y="141100"/>
            <a:ext cx="1764000" cy="6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Human Label</a:t>
            </a:r>
            <a:endParaRPr b="1"/>
          </a:p>
        </p:txBody>
      </p:sp>
      <p:sp>
        <p:nvSpPr>
          <p:cNvPr id="114" name="Google Shape;114;p18"/>
          <p:cNvSpPr txBox="1"/>
          <p:nvPr/>
        </p:nvSpPr>
        <p:spPr>
          <a:xfrm>
            <a:off x="112900" y="1695100"/>
            <a:ext cx="1764000" cy="5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Model</a:t>
            </a:r>
            <a:r>
              <a:rPr b="1" lang="en"/>
              <a:t> Prediction</a:t>
            </a:r>
            <a:endParaRPr b="1"/>
          </a:p>
        </p:txBody>
      </p:sp>
      <p:sp>
        <p:nvSpPr>
          <p:cNvPr id="115" name="Google Shape;115;p18"/>
          <p:cNvSpPr txBox="1"/>
          <p:nvPr/>
        </p:nvSpPr>
        <p:spPr>
          <a:xfrm>
            <a:off x="-50" y="3768150"/>
            <a:ext cx="9144000" cy="8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False Positive: a</a:t>
            </a:r>
            <a:r>
              <a:rPr lang="en"/>
              <a:t> clause that a human marks as false and the model incorrectly marks as true.</a:t>
            </a:r>
            <a:endParaRPr/>
          </a:p>
        </p:txBody>
      </p:sp>
      <p:cxnSp>
        <p:nvCxnSpPr>
          <p:cNvPr id="116" name="Google Shape;116;p18"/>
          <p:cNvCxnSpPr/>
          <p:nvPr/>
        </p:nvCxnSpPr>
        <p:spPr>
          <a:xfrm>
            <a:off x="6010950" y="1123600"/>
            <a:ext cx="0" cy="571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7" name="Google Shape;117;p18"/>
          <p:cNvCxnSpPr/>
          <p:nvPr/>
        </p:nvCxnSpPr>
        <p:spPr>
          <a:xfrm>
            <a:off x="2637775" y="1744400"/>
            <a:ext cx="24390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2" name="Google Shape;122;p19"/>
          <p:cNvGraphicFramePr/>
          <p:nvPr/>
        </p:nvGraphicFramePr>
        <p:xfrm>
          <a:off x="2016138" y="656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{BE11D8ED-B9B1-414E-8822-7586E1A21119}</a:tableStyleId>
              </a:tblPr>
              <a:tblGrid>
                <a:gridCol w="746700"/>
                <a:gridCol w="2101400"/>
                <a:gridCol w="2228350"/>
              </a:tblGrid>
              <a:tr h="892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True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False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892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True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True Positive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False Positive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FE599"/>
                    </a:solidFill>
                  </a:tcPr>
                </a:tc>
              </a:tr>
              <a:tr h="892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False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False Negative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123" name="Google Shape;123;p19"/>
          <p:cNvSpPr txBox="1"/>
          <p:nvPr/>
        </p:nvSpPr>
        <p:spPr>
          <a:xfrm>
            <a:off x="3922875" y="141100"/>
            <a:ext cx="1764000" cy="6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Human Label</a:t>
            </a:r>
            <a:endParaRPr b="1"/>
          </a:p>
        </p:txBody>
      </p:sp>
      <p:sp>
        <p:nvSpPr>
          <p:cNvPr id="124" name="Google Shape;124;p19"/>
          <p:cNvSpPr txBox="1"/>
          <p:nvPr/>
        </p:nvSpPr>
        <p:spPr>
          <a:xfrm>
            <a:off x="112900" y="1695100"/>
            <a:ext cx="1764000" cy="5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Model</a:t>
            </a:r>
            <a:r>
              <a:rPr b="1" lang="en"/>
              <a:t> Prediction</a:t>
            </a:r>
            <a:endParaRPr b="1"/>
          </a:p>
        </p:txBody>
      </p:sp>
      <p:sp>
        <p:nvSpPr>
          <p:cNvPr id="125" name="Google Shape;125;p19"/>
          <p:cNvSpPr txBox="1"/>
          <p:nvPr/>
        </p:nvSpPr>
        <p:spPr>
          <a:xfrm>
            <a:off x="-50" y="3768150"/>
            <a:ext cx="9144000" cy="8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False Negative: a </a:t>
            </a:r>
            <a:r>
              <a:rPr lang="en">
                <a:solidFill>
                  <a:schemeClr val="dk1"/>
                </a:solidFill>
              </a:rPr>
              <a:t>clause that a human marks as true and the model incorrectly marks as false. </a:t>
            </a:r>
            <a:endParaRPr/>
          </a:p>
        </p:txBody>
      </p:sp>
      <p:cxnSp>
        <p:nvCxnSpPr>
          <p:cNvPr id="126" name="Google Shape;126;p19"/>
          <p:cNvCxnSpPr/>
          <p:nvPr/>
        </p:nvCxnSpPr>
        <p:spPr>
          <a:xfrm>
            <a:off x="3827000" y="1132800"/>
            <a:ext cx="0" cy="1490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7" name="Google Shape;127;p19"/>
          <p:cNvCxnSpPr/>
          <p:nvPr/>
        </p:nvCxnSpPr>
        <p:spPr>
          <a:xfrm>
            <a:off x="2417975" y="2894925"/>
            <a:ext cx="6537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2" name="Google Shape;132;p20"/>
          <p:cNvGraphicFramePr/>
          <p:nvPr/>
        </p:nvGraphicFramePr>
        <p:xfrm>
          <a:off x="2016138" y="656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{BE11D8ED-B9B1-414E-8822-7586E1A21119}</a:tableStyleId>
              </a:tblPr>
              <a:tblGrid>
                <a:gridCol w="746700"/>
                <a:gridCol w="2101400"/>
                <a:gridCol w="2228350"/>
              </a:tblGrid>
              <a:tr h="892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True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False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892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True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True Positive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False Positive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FE599"/>
                    </a:solidFill>
                  </a:tcPr>
                </a:tc>
              </a:tr>
              <a:tr h="892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False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False Negative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True Negative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B4A7D6"/>
                    </a:solidFill>
                  </a:tcPr>
                </a:tc>
              </a:tr>
            </a:tbl>
          </a:graphicData>
        </a:graphic>
      </p:graphicFrame>
      <p:sp>
        <p:nvSpPr>
          <p:cNvPr id="133" name="Google Shape;133;p20"/>
          <p:cNvSpPr txBox="1"/>
          <p:nvPr/>
        </p:nvSpPr>
        <p:spPr>
          <a:xfrm>
            <a:off x="3922875" y="141100"/>
            <a:ext cx="1764000" cy="6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Human Label</a:t>
            </a:r>
            <a:endParaRPr b="1"/>
          </a:p>
        </p:txBody>
      </p:sp>
      <p:sp>
        <p:nvSpPr>
          <p:cNvPr id="134" name="Google Shape;134;p20"/>
          <p:cNvSpPr txBox="1"/>
          <p:nvPr/>
        </p:nvSpPr>
        <p:spPr>
          <a:xfrm>
            <a:off x="112900" y="1695100"/>
            <a:ext cx="1764000" cy="5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Model</a:t>
            </a:r>
            <a:r>
              <a:rPr b="1" lang="en"/>
              <a:t> Prediction</a:t>
            </a:r>
            <a:endParaRPr b="1"/>
          </a:p>
        </p:txBody>
      </p:sp>
      <p:sp>
        <p:nvSpPr>
          <p:cNvPr id="135" name="Google Shape;135;p20"/>
          <p:cNvSpPr txBox="1"/>
          <p:nvPr/>
        </p:nvSpPr>
        <p:spPr>
          <a:xfrm>
            <a:off x="-50" y="3768150"/>
            <a:ext cx="9144000" cy="8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True Negative: a clause that a human marks as false and the model also marks as false. </a:t>
            </a:r>
            <a:endParaRPr/>
          </a:p>
        </p:txBody>
      </p:sp>
      <p:cxnSp>
        <p:nvCxnSpPr>
          <p:cNvPr id="136" name="Google Shape;136;p20"/>
          <p:cNvCxnSpPr/>
          <p:nvPr/>
        </p:nvCxnSpPr>
        <p:spPr>
          <a:xfrm>
            <a:off x="6000725" y="1123600"/>
            <a:ext cx="0" cy="1499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7" name="Google Shape;137;p20"/>
          <p:cNvCxnSpPr/>
          <p:nvPr/>
        </p:nvCxnSpPr>
        <p:spPr>
          <a:xfrm>
            <a:off x="2683325" y="2746625"/>
            <a:ext cx="25011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2" name="Google Shape;142;p21"/>
          <p:cNvGraphicFramePr/>
          <p:nvPr/>
        </p:nvGraphicFramePr>
        <p:xfrm>
          <a:off x="2016138" y="656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{BE11D8ED-B9B1-414E-8822-7586E1A21119}</a:tableStyleId>
              </a:tblPr>
              <a:tblGrid>
                <a:gridCol w="746700"/>
                <a:gridCol w="2101400"/>
                <a:gridCol w="2228350"/>
              </a:tblGrid>
              <a:tr h="892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True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False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892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True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True Positive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False Positive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FE599"/>
                    </a:solidFill>
                  </a:tcPr>
                </a:tc>
              </a:tr>
              <a:tr h="892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False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False Negative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True Negative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B4A7D6"/>
                    </a:solidFill>
                  </a:tcPr>
                </a:tc>
              </a:tr>
            </a:tbl>
          </a:graphicData>
        </a:graphic>
      </p:graphicFrame>
      <p:sp>
        <p:nvSpPr>
          <p:cNvPr id="143" name="Google Shape;143;p21"/>
          <p:cNvSpPr txBox="1"/>
          <p:nvPr/>
        </p:nvSpPr>
        <p:spPr>
          <a:xfrm>
            <a:off x="3922875" y="141100"/>
            <a:ext cx="1764000" cy="6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Human Label</a:t>
            </a:r>
            <a:endParaRPr b="1"/>
          </a:p>
        </p:txBody>
      </p:sp>
      <p:sp>
        <p:nvSpPr>
          <p:cNvPr id="144" name="Google Shape;144;p21"/>
          <p:cNvSpPr txBox="1"/>
          <p:nvPr/>
        </p:nvSpPr>
        <p:spPr>
          <a:xfrm>
            <a:off x="112900" y="1695100"/>
            <a:ext cx="1764000" cy="5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Model</a:t>
            </a:r>
            <a:r>
              <a:rPr b="1" lang="en"/>
              <a:t> Prediction</a:t>
            </a:r>
            <a:endParaRPr b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9" name="Google Shape;149;p22"/>
          <p:cNvGraphicFramePr/>
          <p:nvPr/>
        </p:nvGraphicFramePr>
        <p:xfrm>
          <a:off x="2016138" y="656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{BE11D8ED-B9B1-414E-8822-7586E1A21119}</a:tableStyleId>
              </a:tblPr>
              <a:tblGrid>
                <a:gridCol w="746700"/>
                <a:gridCol w="2101400"/>
                <a:gridCol w="2228350"/>
              </a:tblGrid>
              <a:tr h="892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True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False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892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True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True Positive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False Positive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FE599"/>
                    </a:solidFill>
                  </a:tcPr>
                </a:tc>
              </a:tr>
              <a:tr h="892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False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False Negative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True Negative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B4A7D6"/>
                    </a:solidFill>
                  </a:tcPr>
                </a:tc>
              </a:tr>
            </a:tbl>
          </a:graphicData>
        </a:graphic>
      </p:graphicFrame>
      <p:sp>
        <p:nvSpPr>
          <p:cNvPr id="150" name="Google Shape;150;p22"/>
          <p:cNvSpPr txBox="1"/>
          <p:nvPr/>
        </p:nvSpPr>
        <p:spPr>
          <a:xfrm>
            <a:off x="3922875" y="141100"/>
            <a:ext cx="1764000" cy="6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Human Label</a:t>
            </a:r>
            <a:endParaRPr b="1"/>
          </a:p>
        </p:txBody>
      </p:sp>
      <p:sp>
        <p:nvSpPr>
          <p:cNvPr id="151" name="Google Shape;151;p22"/>
          <p:cNvSpPr txBox="1"/>
          <p:nvPr/>
        </p:nvSpPr>
        <p:spPr>
          <a:xfrm>
            <a:off x="112900" y="1695100"/>
            <a:ext cx="1764000" cy="5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Model</a:t>
            </a:r>
            <a:r>
              <a:rPr b="1" lang="en"/>
              <a:t> Prediction</a:t>
            </a:r>
            <a:endParaRPr b="1"/>
          </a:p>
        </p:txBody>
      </p:sp>
      <p:sp>
        <p:nvSpPr>
          <p:cNvPr id="152" name="Google Shape;152;p22"/>
          <p:cNvSpPr/>
          <p:nvPr/>
        </p:nvSpPr>
        <p:spPr>
          <a:xfrm>
            <a:off x="2801050" y="1055525"/>
            <a:ext cx="1982700" cy="29070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2"/>
          <p:cNvSpPr txBox="1"/>
          <p:nvPr/>
        </p:nvSpPr>
        <p:spPr>
          <a:xfrm>
            <a:off x="3421975" y="4004850"/>
            <a:ext cx="2695200" cy="5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Recall</a:t>
            </a:r>
            <a:endParaRPr b="1"/>
          </a:p>
        </p:txBody>
      </p:sp>
      <p:sp>
        <p:nvSpPr>
          <p:cNvPr id="154" name="Google Shape;154;p22"/>
          <p:cNvSpPr txBox="1"/>
          <p:nvPr/>
        </p:nvSpPr>
        <p:spPr>
          <a:xfrm>
            <a:off x="2016250" y="4343325"/>
            <a:ext cx="29232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True Positives</a:t>
            </a:r>
            <a:endParaRPr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2"/>
          <p:cNvSpPr txBox="1"/>
          <p:nvPr/>
        </p:nvSpPr>
        <p:spPr>
          <a:xfrm>
            <a:off x="2016150" y="4618575"/>
            <a:ext cx="29232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True Positives</a:t>
            </a:r>
            <a:r>
              <a:rPr lang="en"/>
              <a:t> + </a:t>
            </a:r>
            <a:r>
              <a:rPr lang="en">
                <a:solidFill>
                  <a:srgbClr val="CC0000"/>
                </a:solidFill>
              </a:rPr>
              <a:t>False Negatives</a:t>
            </a:r>
            <a:endParaRPr>
              <a:solidFill>
                <a:srgbClr val="CC0000"/>
              </a:solidFill>
            </a:endParaRPr>
          </a:p>
        </p:txBody>
      </p:sp>
      <p:cxnSp>
        <p:nvCxnSpPr>
          <p:cNvPr id="156" name="Google Shape;156;p22"/>
          <p:cNvCxnSpPr/>
          <p:nvPr/>
        </p:nvCxnSpPr>
        <p:spPr>
          <a:xfrm>
            <a:off x="1977800" y="4682100"/>
            <a:ext cx="2875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7" name="Google Shape;157;p22"/>
          <p:cNvSpPr txBox="1"/>
          <p:nvPr/>
        </p:nvSpPr>
        <p:spPr>
          <a:xfrm>
            <a:off x="4989125" y="3654907"/>
            <a:ext cx="3642000" cy="12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Recall is the percentage of clauses labelled “true” by a human, that were also labelled “true” by the model. </a:t>
            </a:r>
            <a:r>
              <a:rPr b="1" lang="en"/>
              <a:t>Intuitively</a:t>
            </a:r>
            <a:r>
              <a:rPr b="1" lang="en"/>
              <a:t>, it measures how well the model was able to “recall” the clauses labeled.</a:t>
            </a:r>
            <a:endParaRPr b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2" name="Google Shape;162;p23"/>
          <p:cNvGraphicFramePr/>
          <p:nvPr/>
        </p:nvGraphicFramePr>
        <p:xfrm>
          <a:off x="2016138" y="656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{BE11D8ED-B9B1-414E-8822-7586E1A21119}</a:tableStyleId>
              </a:tblPr>
              <a:tblGrid>
                <a:gridCol w="746700"/>
                <a:gridCol w="2101400"/>
                <a:gridCol w="2228350"/>
              </a:tblGrid>
              <a:tr h="892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True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False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892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True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True Positive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False Positive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FE599"/>
                    </a:solidFill>
                  </a:tcPr>
                </a:tc>
              </a:tr>
              <a:tr h="892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False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False Negative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True Negative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B4A7D6"/>
                    </a:solidFill>
                  </a:tcPr>
                </a:tc>
              </a:tr>
            </a:tbl>
          </a:graphicData>
        </a:graphic>
      </p:graphicFrame>
      <p:sp>
        <p:nvSpPr>
          <p:cNvPr id="163" name="Google Shape;163;p23"/>
          <p:cNvSpPr txBox="1"/>
          <p:nvPr/>
        </p:nvSpPr>
        <p:spPr>
          <a:xfrm>
            <a:off x="3922875" y="141100"/>
            <a:ext cx="1764000" cy="6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Human Label</a:t>
            </a:r>
            <a:endParaRPr b="1"/>
          </a:p>
        </p:txBody>
      </p:sp>
      <p:sp>
        <p:nvSpPr>
          <p:cNvPr id="164" name="Google Shape;164;p23"/>
          <p:cNvSpPr txBox="1"/>
          <p:nvPr/>
        </p:nvSpPr>
        <p:spPr>
          <a:xfrm>
            <a:off x="112900" y="1695100"/>
            <a:ext cx="1764000" cy="5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Model</a:t>
            </a:r>
            <a:r>
              <a:rPr b="1" lang="en"/>
              <a:t> Prediction</a:t>
            </a:r>
            <a:endParaRPr b="1"/>
          </a:p>
        </p:txBody>
      </p:sp>
      <p:sp>
        <p:nvSpPr>
          <p:cNvPr id="165" name="Google Shape;165;p23"/>
          <p:cNvSpPr/>
          <p:nvPr/>
        </p:nvSpPr>
        <p:spPr>
          <a:xfrm rot="5400000">
            <a:off x="4496432" y="-302895"/>
            <a:ext cx="1051200" cy="4571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3"/>
          <p:cNvSpPr txBox="1"/>
          <p:nvPr/>
        </p:nvSpPr>
        <p:spPr>
          <a:xfrm>
            <a:off x="7339200" y="1697450"/>
            <a:ext cx="11358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Precision</a:t>
            </a:r>
            <a:endParaRPr b="1"/>
          </a:p>
        </p:txBody>
      </p:sp>
      <p:sp>
        <p:nvSpPr>
          <p:cNvPr id="167" name="Google Shape;167;p23"/>
          <p:cNvSpPr txBox="1"/>
          <p:nvPr/>
        </p:nvSpPr>
        <p:spPr>
          <a:xfrm>
            <a:off x="6327600" y="3477200"/>
            <a:ext cx="28164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True Positives</a:t>
            </a:r>
            <a:endParaRPr>
              <a:solidFill>
                <a:srgbClr val="6AA84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3"/>
          <p:cNvSpPr txBox="1"/>
          <p:nvPr/>
        </p:nvSpPr>
        <p:spPr>
          <a:xfrm>
            <a:off x="6327325" y="3752450"/>
            <a:ext cx="28164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True Positives</a:t>
            </a:r>
            <a:r>
              <a:rPr lang="en"/>
              <a:t> + </a:t>
            </a:r>
            <a:r>
              <a:rPr lang="en">
                <a:solidFill>
                  <a:srgbClr val="BF9000"/>
                </a:solidFill>
              </a:rPr>
              <a:t>False Positives</a:t>
            </a:r>
            <a:endParaRPr>
              <a:solidFill>
                <a:srgbClr val="BF9000"/>
              </a:solidFill>
            </a:endParaRPr>
          </a:p>
        </p:txBody>
      </p:sp>
      <p:cxnSp>
        <p:nvCxnSpPr>
          <p:cNvPr id="169" name="Google Shape;169;p23"/>
          <p:cNvCxnSpPr/>
          <p:nvPr/>
        </p:nvCxnSpPr>
        <p:spPr>
          <a:xfrm>
            <a:off x="6255200" y="3815975"/>
            <a:ext cx="2837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0" name="Google Shape;170;p23"/>
          <p:cNvSpPr txBox="1"/>
          <p:nvPr/>
        </p:nvSpPr>
        <p:spPr>
          <a:xfrm>
            <a:off x="2602875" y="3641857"/>
            <a:ext cx="3642000" cy="12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Precision</a:t>
            </a:r>
            <a:r>
              <a:rPr b="1" lang="en"/>
              <a:t> is the percentage of clauses labelled “true” by the model, that were labelled “true” by a human. Intuitively, it measures how “precise” the model was in what it thought were positives.</a:t>
            </a:r>
            <a:endParaRPr b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F-score</a:t>
            </a:r>
            <a:endParaRPr/>
          </a:p>
        </p:txBody>
      </p:sp>
      <p:sp>
        <p:nvSpPr>
          <p:cNvPr id="176" name="Google Shape;176;p24"/>
          <p:cNvSpPr txBox="1"/>
          <p:nvPr>
            <p:ph idx="1" type="body"/>
          </p:nvPr>
        </p:nvSpPr>
        <p:spPr>
          <a:xfrm>
            <a:off x="875725" y="1341725"/>
            <a:ext cx="7956600" cy="352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434343"/>
                </a:solidFill>
                <a:highlight>
                  <a:srgbClr val="FFFFFF"/>
                </a:highlight>
              </a:rPr>
              <a:t>F-score:</a:t>
            </a:r>
            <a:r>
              <a:rPr lang="en" sz="1900">
                <a:solidFill>
                  <a:srgbClr val="434343"/>
                </a:solidFill>
                <a:highlight>
                  <a:srgbClr val="FFFFFF"/>
                </a:highlight>
              </a:rPr>
              <a:t> a number between 0-1, that measures a model’s overall accuracy on a label (e.g., governing law, MFN)</a:t>
            </a:r>
            <a:endParaRPr sz="1900">
              <a:solidFill>
                <a:srgbClr val="43434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43434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43434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434343"/>
              </a:solidFill>
              <a:highlight>
                <a:srgbClr val="FFFFFF"/>
              </a:highlight>
            </a:endParaRPr>
          </a:p>
          <a:p>
            <a:pPr indent="-349250" lvl="0" marL="457200" rtl="0" algn="l">
              <a:spcBef>
                <a:spcPts val="12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●"/>
            </a:pPr>
            <a:r>
              <a:rPr lang="en" sz="1900">
                <a:solidFill>
                  <a:srgbClr val="434343"/>
                </a:solidFill>
                <a:highlight>
                  <a:srgbClr val="FFFFFF"/>
                </a:highlight>
              </a:rPr>
              <a:t>It is a weighted average of a model’s </a:t>
            </a:r>
            <a:r>
              <a:rPr b="1" lang="en" sz="1900">
                <a:solidFill>
                  <a:srgbClr val="434343"/>
                </a:solidFill>
                <a:highlight>
                  <a:srgbClr val="FFFFFF"/>
                </a:highlight>
              </a:rPr>
              <a:t>precision score</a:t>
            </a:r>
            <a:r>
              <a:rPr lang="en" sz="1900">
                <a:solidFill>
                  <a:srgbClr val="434343"/>
                </a:solidFill>
                <a:highlight>
                  <a:srgbClr val="FFFFFF"/>
                </a:highlight>
              </a:rPr>
              <a:t> and </a:t>
            </a:r>
            <a:r>
              <a:rPr b="1" lang="en" sz="1900">
                <a:solidFill>
                  <a:srgbClr val="434343"/>
                </a:solidFill>
                <a:highlight>
                  <a:srgbClr val="FFFFFF"/>
                </a:highlight>
              </a:rPr>
              <a:t>recall score.</a:t>
            </a:r>
            <a:endParaRPr b="1" sz="1900">
              <a:solidFill>
                <a:srgbClr val="434343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900">
              <a:solidFill>
                <a:srgbClr val="434343"/>
              </a:solidFill>
              <a:highlight>
                <a:srgbClr val="FFFFFF"/>
              </a:highlight>
            </a:endParaRPr>
          </a:p>
        </p:txBody>
      </p:sp>
      <p:sp>
        <p:nvSpPr>
          <p:cNvPr id="177" name="Google Shape;177;p24"/>
          <p:cNvSpPr txBox="1"/>
          <p:nvPr/>
        </p:nvSpPr>
        <p:spPr>
          <a:xfrm>
            <a:off x="266125" y="3102100"/>
            <a:ext cx="979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 Accurate</a:t>
            </a:r>
            <a:endParaRPr/>
          </a:p>
        </p:txBody>
      </p:sp>
      <p:sp>
        <p:nvSpPr>
          <p:cNvPr id="178" name="Google Shape;178;p24"/>
          <p:cNvSpPr txBox="1"/>
          <p:nvPr/>
        </p:nvSpPr>
        <p:spPr>
          <a:xfrm>
            <a:off x="8157625" y="3102100"/>
            <a:ext cx="979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Perfectly</a:t>
            </a:r>
            <a:r>
              <a:rPr lang="en"/>
              <a:t> Accurate</a:t>
            </a:r>
            <a:endParaRPr/>
          </a:p>
        </p:txBody>
      </p:sp>
      <p:sp>
        <p:nvSpPr>
          <p:cNvPr id="179" name="Google Shape;179;p24"/>
          <p:cNvSpPr txBox="1"/>
          <p:nvPr/>
        </p:nvSpPr>
        <p:spPr>
          <a:xfrm>
            <a:off x="6152650" y="3102100"/>
            <a:ext cx="979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Enough</a:t>
            </a:r>
            <a:endParaRPr/>
          </a:p>
        </p:txBody>
      </p:sp>
      <p:cxnSp>
        <p:nvCxnSpPr>
          <p:cNvPr id="180" name="Google Shape;180;p24"/>
          <p:cNvCxnSpPr/>
          <p:nvPr/>
        </p:nvCxnSpPr>
        <p:spPr>
          <a:xfrm>
            <a:off x="723325" y="3102100"/>
            <a:ext cx="7956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181" name="Google Shape;181;p24"/>
          <p:cNvSpPr txBox="1"/>
          <p:nvPr/>
        </p:nvSpPr>
        <p:spPr>
          <a:xfrm>
            <a:off x="342325" y="2534675"/>
            <a:ext cx="979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600">
                <a:solidFill>
                  <a:schemeClr val="dk2"/>
                </a:solidFill>
              </a:rPr>
              <a:t>0.00</a:t>
            </a:r>
            <a:endParaRPr/>
          </a:p>
        </p:txBody>
      </p:sp>
      <p:sp>
        <p:nvSpPr>
          <p:cNvPr id="182" name="Google Shape;182;p24"/>
          <p:cNvSpPr txBox="1"/>
          <p:nvPr/>
        </p:nvSpPr>
        <p:spPr>
          <a:xfrm>
            <a:off x="8233825" y="2534675"/>
            <a:ext cx="979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600">
                <a:solidFill>
                  <a:schemeClr val="dk2"/>
                </a:solidFill>
              </a:rPr>
              <a:t>1</a:t>
            </a:r>
            <a:r>
              <a:rPr lang="en" sz="2600">
                <a:solidFill>
                  <a:schemeClr val="dk2"/>
                </a:solidFill>
              </a:rPr>
              <a:t>.00</a:t>
            </a:r>
            <a:endParaRPr/>
          </a:p>
        </p:txBody>
      </p:sp>
      <p:sp>
        <p:nvSpPr>
          <p:cNvPr id="183" name="Google Shape;183;p24"/>
          <p:cNvSpPr txBox="1"/>
          <p:nvPr/>
        </p:nvSpPr>
        <p:spPr>
          <a:xfrm>
            <a:off x="4211875" y="2534675"/>
            <a:ext cx="979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600">
                <a:solidFill>
                  <a:schemeClr val="dk2"/>
                </a:solidFill>
              </a:rPr>
              <a:t>0.50</a:t>
            </a:r>
            <a:endParaRPr/>
          </a:p>
        </p:txBody>
      </p:sp>
      <p:sp>
        <p:nvSpPr>
          <p:cNvPr id="184" name="Google Shape;184;p24"/>
          <p:cNvSpPr txBox="1"/>
          <p:nvPr/>
        </p:nvSpPr>
        <p:spPr>
          <a:xfrm>
            <a:off x="6152650" y="2534675"/>
            <a:ext cx="979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600">
                <a:solidFill>
                  <a:schemeClr val="dk2"/>
                </a:solidFill>
              </a:rPr>
              <a:t>0.80</a:t>
            </a:r>
            <a:endParaRPr/>
          </a:p>
        </p:txBody>
      </p:sp>
      <p:sp>
        <p:nvSpPr>
          <p:cNvPr id="185" name="Google Shape;185;p24"/>
          <p:cNvSpPr/>
          <p:nvPr/>
        </p:nvSpPr>
        <p:spPr>
          <a:xfrm>
            <a:off x="6474150" y="3053650"/>
            <a:ext cx="96900" cy="96900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4"/>
          <p:cNvSpPr txBox="1"/>
          <p:nvPr/>
        </p:nvSpPr>
        <p:spPr>
          <a:xfrm>
            <a:off x="4211875" y="3150550"/>
            <a:ext cx="979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 So </a:t>
            </a:r>
            <a:r>
              <a:rPr lang="en"/>
              <a:t>Good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to Measure in Contract Review?</a:t>
            </a:r>
            <a:endParaRPr/>
          </a:p>
        </p:txBody>
      </p:sp>
      <p:sp>
        <p:nvSpPr>
          <p:cNvPr id="192" name="Google Shape;192;p25"/>
          <p:cNvSpPr txBox="1"/>
          <p:nvPr>
            <p:ph idx="1" type="body"/>
          </p:nvPr>
        </p:nvSpPr>
        <p:spPr>
          <a:xfrm>
            <a:off x="667200" y="1186175"/>
            <a:ext cx="7392900" cy="340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For M&amp;A due diligence, etc., a model's F-score is not the optimal measure</a:t>
            </a:r>
            <a:endParaRPr sz="2100"/>
          </a:p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Recall is often more important than precision, since</a:t>
            </a:r>
            <a:endParaRPr sz="2100"/>
          </a:p>
          <a:p>
            <a:pPr indent="-361950" lvl="1" marL="914400" rtl="0" algn="l">
              <a:spcBef>
                <a:spcPts val="1000"/>
              </a:spcBef>
              <a:spcAft>
                <a:spcPts val="0"/>
              </a:spcAft>
              <a:buSzPts val="2100"/>
              <a:buChar char="○"/>
            </a:pPr>
            <a:r>
              <a:rPr lang="en" sz="2100"/>
              <a:t>We don't want to miss important clauses</a:t>
            </a:r>
            <a:endParaRPr sz="2100"/>
          </a:p>
          <a:p>
            <a:pPr indent="-361950" lvl="1" marL="914400" rtl="0" algn="l">
              <a:spcBef>
                <a:spcPts val="1000"/>
              </a:spcBef>
              <a:spcAft>
                <a:spcPts val="0"/>
              </a:spcAft>
              <a:buSzPts val="2100"/>
              <a:buChar char="○"/>
            </a:pPr>
            <a:r>
              <a:rPr lang="en" sz="2100"/>
              <a:t>Human </a:t>
            </a:r>
            <a:r>
              <a:rPr lang="en" sz="2100"/>
              <a:t>attorneys</a:t>
            </a:r>
            <a:r>
              <a:rPr lang="en" sz="2100"/>
              <a:t> can check for precision</a:t>
            </a:r>
            <a:endParaRPr sz="2100"/>
          </a:p>
          <a:p>
            <a:pPr indent="-361950" lvl="0" marL="457200" rtl="0" algn="l">
              <a:spcBef>
                <a:spcPts val="1000"/>
              </a:spcBef>
              <a:spcAft>
                <a:spcPts val="1000"/>
              </a:spcAft>
              <a:buSzPts val="2100"/>
              <a:buChar char="●"/>
            </a:pPr>
            <a:r>
              <a:rPr lang="en" sz="2100"/>
              <a:t>Therefore, precision at a certain recall threshold will be a very </a:t>
            </a:r>
            <a:r>
              <a:rPr lang="en" sz="2100"/>
              <a:t>relevant</a:t>
            </a:r>
            <a:r>
              <a:rPr lang="en" sz="2100"/>
              <a:t> metric (e.g. Precision when Recall is at least 80%)</a:t>
            </a:r>
            <a:endParaRPr sz="2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</a:t>
            </a:r>
            <a:endParaRPr/>
          </a:p>
        </p:txBody>
      </p:sp>
      <p:sp>
        <p:nvSpPr>
          <p:cNvPr id="198" name="Google Shape;198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hlinkClick r:id="rId3"/>
              </a:rPr>
              <a:t>https://deepai.org/machine-learning-glossary-and-terms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