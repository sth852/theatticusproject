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d62b8b2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d62b8b2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c40f5cf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c40f5cf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d62b8b25c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d62b8b25c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d62b8b25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d62b8b25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d62b8b25c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d62b8b25c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d62b8b25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d62b8b25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d8178b152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d8178b152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atticusprojectai.org/how-does-ai-work-patter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/>
              <a:t>Does</a:t>
            </a:r>
            <a:r>
              <a:rPr lang="en"/>
              <a:t> AI Work?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Neural Networks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5260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91425" y="4722875"/>
            <a:ext cx="20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© 2020 The Atticus Project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Previous Presentation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/>
              <a:t>Previous Presentation on How Does AI Work? Part 1: Pattern Recognition </a:t>
            </a:r>
            <a:r>
              <a:rPr i="1" lang="en" sz="1400" u="sng">
                <a:solidFill>
                  <a:schemeClr val="hlink"/>
                </a:solidFill>
                <a:hlinkClick r:id="rId3"/>
              </a:rPr>
              <a:t>here</a:t>
            </a:r>
            <a:r>
              <a:rPr i="1" lang="en" sz="1400"/>
              <a:t>.</a:t>
            </a:r>
            <a:endParaRPr i="1" sz="14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Input </a:t>
            </a:r>
            <a:r>
              <a:rPr b="1" lang="en"/>
              <a:t>→</a:t>
            </a:r>
            <a:r>
              <a:rPr lang="en"/>
              <a:t> Machine Learning Model </a:t>
            </a:r>
            <a:r>
              <a:rPr b="1" lang="en"/>
              <a:t>→</a:t>
            </a:r>
            <a:r>
              <a:rPr lang="en"/>
              <a:t> Output.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Machine Learning models utilize pattern recognition </a:t>
            </a:r>
            <a:r>
              <a:rPr lang="en"/>
              <a:t>t</a:t>
            </a:r>
            <a:r>
              <a:rPr lang="en"/>
              <a:t>o predict and classify data inputs.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 simple type of pattern recognition is Nearest Neighbor, where input is categorized based on </a:t>
            </a:r>
            <a:r>
              <a:rPr lang="en"/>
              <a:t>its</a:t>
            </a:r>
            <a:r>
              <a:rPr lang="en"/>
              <a:t> proximity to existing data points.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Neural Networks are</a:t>
            </a:r>
            <a:br>
              <a:rPr lang="en" sz="2400"/>
            </a:br>
            <a:r>
              <a:rPr lang="en" sz="2400"/>
              <a:t>f</a:t>
            </a:r>
            <a:r>
              <a:rPr lang="en" sz="2400"/>
              <a:t>undamentally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still a pattern recognition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system.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66400" y="1059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neural network is a type of ML model that consists of a set of connected nodes where each node assigns weights to its inputs.</a:t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(cont.)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157650" y="2028875"/>
            <a:ext cx="2891700" cy="572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Node: a basic building block of neural networks that assigns weights to inputs.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77" name="Google Shape;77;p16"/>
          <p:cNvCxnSpPr>
            <a:stCxn id="76" idx="0"/>
          </p:cNvCxnSpPr>
          <p:nvPr/>
        </p:nvCxnSpPr>
        <p:spPr>
          <a:xfrm rot="10800000">
            <a:off x="1355100" y="1810175"/>
            <a:ext cx="248400" cy="21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6"/>
          <p:cNvSpPr txBox="1"/>
          <p:nvPr/>
        </p:nvSpPr>
        <p:spPr>
          <a:xfrm>
            <a:off x="3193250" y="1989277"/>
            <a:ext cx="3066900" cy="555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Weight: a set of numbers that make up the model.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79" name="Google Shape;79;p16"/>
          <p:cNvCxnSpPr>
            <a:stCxn id="78" idx="0"/>
          </p:cNvCxnSpPr>
          <p:nvPr/>
        </p:nvCxnSpPr>
        <p:spPr>
          <a:xfrm flipH="1" rot="10800000">
            <a:off x="4726700" y="1849777"/>
            <a:ext cx="11400" cy="13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/>
          <p:nvPr/>
        </p:nvCxnSpPr>
        <p:spPr>
          <a:xfrm>
            <a:off x="1019525" y="1803125"/>
            <a:ext cx="621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4311000" y="1833950"/>
            <a:ext cx="82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" name="Google Shape;82;p16"/>
          <p:cNvGrpSpPr/>
          <p:nvPr/>
        </p:nvGrpSpPr>
        <p:grpSpPr>
          <a:xfrm>
            <a:off x="6269463" y="3786950"/>
            <a:ext cx="1182300" cy="511675"/>
            <a:chOff x="6502050" y="3984600"/>
            <a:chExt cx="1182300" cy="511675"/>
          </a:xfrm>
        </p:grpSpPr>
        <p:sp>
          <p:nvSpPr>
            <p:cNvPr id="83" name="Google Shape;83;p16"/>
            <p:cNvSpPr/>
            <p:nvPr/>
          </p:nvSpPr>
          <p:spPr>
            <a:xfrm>
              <a:off x="6502050" y="398460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Output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16"/>
          <p:cNvSpPr/>
          <p:nvPr/>
        </p:nvSpPr>
        <p:spPr>
          <a:xfrm rot="10800000">
            <a:off x="2561800" y="4124300"/>
            <a:ext cx="174000" cy="174000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6"/>
          <p:cNvGrpSpPr/>
          <p:nvPr/>
        </p:nvGrpSpPr>
        <p:grpSpPr>
          <a:xfrm>
            <a:off x="2054563" y="3188300"/>
            <a:ext cx="1182300" cy="493200"/>
            <a:chOff x="2274800" y="2165550"/>
            <a:chExt cx="1182300" cy="493200"/>
          </a:xfrm>
        </p:grpSpPr>
        <p:sp>
          <p:nvSpPr>
            <p:cNvPr id="87" name="Google Shape;87;p16"/>
            <p:cNvSpPr/>
            <p:nvPr/>
          </p:nvSpPr>
          <p:spPr>
            <a:xfrm>
              <a:off x="2274800" y="21655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Input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2785025" y="2484750"/>
              <a:ext cx="174000" cy="174000"/>
            </a:xfrm>
            <a:prstGeom prst="ellipse">
              <a:avLst/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2872563" y="3115700"/>
            <a:ext cx="1182300" cy="565800"/>
            <a:chOff x="2377425" y="3028950"/>
            <a:chExt cx="1182300" cy="565800"/>
          </a:xfrm>
        </p:grpSpPr>
        <p:sp>
          <p:nvSpPr>
            <p:cNvPr id="90" name="Google Shape;90;p16"/>
            <p:cNvSpPr/>
            <p:nvPr/>
          </p:nvSpPr>
          <p:spPr>
            <a:xfrm>
              <a:off x="2377425" y="3028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Weight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2884650" y="3420750"/>
              <a:ext cx="174000" cy="174000"/>
            </a:xfrm>
            <a:prstGeom prst="ellipse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6"/>
          <p:cNvSpPr/>
          <p:nvPr/>
        </p:nvSpPr>
        <p:spPr>
          <a:xfrm>
            <a:off x="3379788" y="4109625"/>
            <a:ext cx="174000" cy="174000"/>
          </a:xfrm>
          <a:prstGeom prst="ellipse">
            <a:avLst/>
          </a:prstGeom>
          <a:solidFill>
            <a:srgbClr val="5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6"/>
          <p:cNvGrpSpPr/>
          <p:nvPr/>
        </p:nvGrpSpPr>
        <p:grpSpPr>
          <a:xfrm>
            <a:off x="4644538" y="3786950"/>
            <a:ext cx="1182300" cy="511675"/>
            <a:chOff x="6419875" y="3984600"/>
            <a:chExt cx="1182300" cy="511675"/>
          </a:xfrm>
        </p:grpSpPr>
        <p:sp>
          <p:nvSpPr>
            <p:cNvPr id="94" name="Google Shape;94;p16"/>
            <p:cNvSpPr/>
            <p:nvPr/>
          </p:nvSpPr>
          <p:spPr>
            <a:xfrm>
              <a:off x="6419875" y="398460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Accumulate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6" name="Google Shape;96;p16"/>
          <p:cNvCxnSpPr>
            <a:stCxn id="88" idx="6"/>
            <a:endCxn id="91" idx="2"/>
          </p:cNvCxnSpPr>
          <p:nvPr/>
        </p:nvCxnSpPr>
        <p:spPr>
          <a:xfrm>
            <a:off x="2738788" y="3594500"/>
            <a:ext cx="6411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6"/>
          <p:cNvCxnSpPr>
            <a:stCxn id="85" idx="2"/>
            <a:endCxn id="92" idx="2"/>
          </p:cNvCxnSpPr>
          <p:nvPr/>
        </p:nvCxnSpPr>
        <p:spPr>
          <a:xfrm flipH="1" rot="10800000">
            <a:off x="2735800" y="419660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6"/>
          <p:cNvCxnSpPr>
            <a:stCxn id="91" idx="6"/>
            <a:endCxn id="95" idx="1"/>
          </p:cNvCxnSpPr>
          <p:nvPr/>
        </p:nvCxnSpPr>
        <p:spPr>
          <a:xfrm>
            <a:off x="3553788" y="3594500"/>
            <a:ext cx="1391100" cy="555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>
            <a:stCxn id="92" idx="6"/>
            <a:endCxn id="95" idx="2"/>
          </p:cNvCxnSpPr>
          <p:nvPr/>
        </p:nvCxnSpPr>
        <p:spPr>
          <a:xfrm>
            <a:off x="3553788" y="4196625"/>
            <a:ext cx="1365600" cy="15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6"/>
          <p:cNvCxnSpPr>
            <a:endCxn id="84" idx="2"/>
          </p:cNvCxnSpPr>
          <p:nvPr/>
        </p:nvCxnSpPr>
        <p:spPr>
          <a:xfrm>
            <a:off x="5093238" y="4211625"/>
            <a:ext cx="13689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/>
          <p:nvPr/>
        </p:nvSpPr>
        <p:spPr>
          <a:xfrm rot="10800000">
            <a:off x="2558725" y="4719550"/>
            <a:ext cx="174000" cy="174000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376713" y="4704875"/>
            <a:ext cx="174000" cy="174000"/>
          </a:xfrm>
          <a:prstGeom prst="ellipse">
            <a:avLst/>
          </a:prstGeom>
          <a:solidFill>
            <a:srgbClr val="5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6"/>
          <p:cNvCxnSpPr>
            <a:stCxn id="101" idx="2"/>
            <a:endCxn id="102" idx="2"/>
          </p:cNvCxnSpPr>
          <p:nvPr/>
        </p:nvCxnSpPr>
        <p:spPr>
          <a:xfrm flipH="1" rot="10800000">
            <a:off x="2732725" y="479185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6"/>
          <p:cNvCxnSpPr>
            <a:stCxn id="102" idx="6"/>
            <a:endCxn id="95" idx="3"/>
          </p:cNvCxnSpPr>
          <p:nvPr/>
        </p:nvCxnSpPr>
        <p:spPr>
          <a:xfrm flipH="1" rot="10800000">
            <a:off x="3550713" y="4273175"/>
            <a:ext cx="1394100" cy="518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6"/>
          <p:cNvSpPr txBox="1"/>
          <p:nvPr/>
        </p:nvSpPr>
        <p:spPr>
          <a:xfrm>
            <a:off x="6567850" y="1989275"/>
            <a:ext cx="2494200" cy="56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E.g. list of words/sentences in the contract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06" name="Google Shape;106;p16"/>
          <p:cNvCxnSpPr>
            <a:stCxn id="105" idx="0"/>
          </p:cNvCxnSpPr>
          <p:nvPr/>
        </p:nvCxnSpPr>
        <p:spPr>
          <a:xfrm rot="10800000">
            <a:off x="6122650" y="1820075"/>
            <a:ext cx="1692300" cy="16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5719800" y="1807325"/>
            <a:ext cx="709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"Deep" learning refers to a type of ML model that uses layers of neural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allows it to make more complex </a:t>
            </a:r>
            <a:r>
              <a:rPr lang="en"/>
              <a:t>decisions, like speech-to-text, sentiment detection, and text summarization.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Nowadays, almost all models have multiple layers, and some have hundreds of layers.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2451550" y="3468075"/>
            <a:ext cx="4477800" cy="1487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</a:t>
            </a:r>
            <a:r>
              <a:rPr lang="en"/>
              <a:t>Neural Networks to Deep Learning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 rot="10800000">
            <a:off x="2556788" y="4124300"/>
            <a:ext cx="174000" cy="174000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7"/>
          <p:cNvGrpSpPr/>
          <p:nvPr/>
        </p:nvGrpSpPr>
        <p:grpSpPr>
          <a:xfrm>
            <a:off x="2872563" y="3115700"/>
            <a:ext cx="1182300" cy="565800"/>
            <a:chOff x="2377425" y="3028950"/>
            <a:chExt cx="1182300" cy="565800"/>
          </a:xfrm>
        </p:grpSpPr>
        <p:sp>
          <p:nvSpPr>
            <p:cNvPr id="117" name="Google Shape;117;p17"/>
            <p:cNvSpPr/>
            <p:nvPr/>
          </p:nvSpPr>
          <p:spPr>
            <a:xfrm>
              <a:off x="2377425" y="3028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Weight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2884650" y="3420750"/>
              <a:ext cx="174000" cy="174000"/>
            </a:xfrm>
            <a:prstGeom prst="ellipse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2054563" y="3188300"/>
            <a:ext cx="1182300" cy="493200"/>
            <a:chOff x="2274800" y="2165550"/>
            <a:chExt cx="1182300" cy="493200"/>
          </a:xfrm>
        </p:grpSpPr>
        <p:sp>
          <p:nvSpPr>
            <p:cNvPr id="120" name="Google Shape;120;p17"/>
            <p:cNvSpPr/>
            <p:nvPr/>
          </p:nvSpPr>
          <p:spPr>
            <a:xfrm>
              <a:off x="2274800" y="21655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Input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2785025" y="2484750"/>
              <a:ext cx="174000" cy="174000"/>
            </a:xfrm>
            <a:prstGeom prst="ellipse">
              <a:avLst/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2" name="Google Shape;122;p17"/>
          <p:cNvCxnSpPr>
            <a:stCxn id="121" idx="6"/>
            <a:endCxn id="118" idx="2"/>
          </p:cNvCxnSpPr>
          <p:nvPr/>
        </p:nvCxnSpPr>
        <p:spPr>
          <a:xfrm>
            <a:off x="2738788" y="3594500"/>
            <a:ext cx="6411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3" name="Google Shape;123;p17"/>
          <p:cNvGrpSpPr/>
          <p:nvPr/>
        </p:nvGrpSpPr>
        <p:grpSpPr>
          <a:xfrm>
            <a:off x="6269463" y="3786950"/>
            <a:ext cx="1182300" cy="511675"/>
            <a:chOff x="6502050" y="3984600"/>
            <a:chExt cx="1182300" cy="511675"/>
          </a:xfrm>
        </p:grpSpPr>
        <p:sp>
          <p:nvSpPr>
            <p:cNvPr id="124" name="Google Shape;124;p17"/>
            <p:cNvSpPr/>
            <p:nvPr/>
          </p:nvSpPr>
          <p:spPr>
            <a:xfrm>
              <a:off x="6502050" y="398460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Output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" name="Google Shape;126;p17"/>
          <p:cNvCxnSpPr>
            <a:stCxn id="118" idx="6"/>
            <a:endCxn id="127" idx="1"/>
          </p:cNvCxnSpPr>
          <p:nvPr/>
        </p:nvCxnSpPr>
        <p:spPr>
          <a:xfrm>
            <a:off x="3553788" y="3594500"/>
            <a:ext cx="1391100" cy="555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7"/>
          <p:cNvSpPr/>
          <p:nvPr/>
        </p:nvSpPr>
        <p:spPr>
          <a:xfrm>
            <a:off x="3379788" y="4109625"/>
            <a:ext cx="174000" cy="174000"/>
          </a:xfrm>
          <a:prstGeom prst="ellipse">
            <a:avLst/>
          </a:prstGeom>
          <a:solidFill>
            <a:srgbClr val="5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644538" y="3786950"/>
            <a:ext cx="1182300" cy="511675"/>
            <a:chOff x="6419875" y="3984600"/>
            <a:chExt cx="1182300" cy="511675"/>
          </a:xfrm>
        </p:grpSpPr>
        <p:sp>
          <p:nvSpPr>
            <p:cNvPr id="130" name="Google Shape;130;p17"/>
            <p:cNvSpPr/>
            <p:nvPr/>
          </p:nvSpPr>
          <p:spPr>
            <a:xfrm>
              <a:off x="6419875" y="398460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Accumulate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1" name="Google Shape;131;p17"/>
          <p:cNvCxnSpPr>
            <a:stCxn id="115" idx="2"/>
            <a:endCxn id="128" idx="2"/>
          </p:cNvCxnSpPr>
          <p:nvPr/>
        </p:nvCxnSpPr>
        <p:spPr>
          <a:xfrm flipH="1" rot="10800000">
            <a:off x="2730788" y="4196600"/>
            <a:ext cx="648900" cy="14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7"/>
          <p:cNvCxnSpPr>
            <a:stCxn id="128" idx="6"/>
            <a:endCxn id="127" idx="2"/>
          </p:cNvCxnSpPr>
          <p:nvPr/>
        </p:nvCxnSpPr>
        <p:spPr>
          <a:xfrm>
            <a:off x="3553788" y="4196625"/>
            <a:ext cx="1365600" cy="15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7"/>
          <p:cNvCxnSpPr>
            <a:endCxn id="125" idx="2"/>
          </p:cNvCxnSpPr>
          <p:nvPr/>
        </p:nvCxnSpPr>
        <p:spPr>
          <a:xfrm>
            <a:off x="5093238" y="4211625"/>
            <a:ext cx="13689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17"/>
          <p:cNvSpPr/>
          <p:nvPr/>
        </p:nvSpPr>
        <p:spPr>
          <a:xfrm rot="10800000">
            <a:off x="2558725" y="4719550"/>
            <a:ext cx="174000" cy="174000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3376713" y="4704875"/>
            <a:ext cx="174000" cy="174000"/>
          </a:xfrm>
          <a:prstGeom prst="ellipse">
            <a:avLst/>
          </a:prstGeom>
          <a:solidFill>
            <a:srgbClr val="5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7"/>
          <p:cNvCxnSpPr>
            <a:stCxn id="134" idx="2"/>
            <a:endCxn id="135" idx="2"/>
          </p:cNvCxnSpPr>
          <p:nvPr/>
        </p:nvCxnSpPr>
        <p:spPr>
          <a:xfrm flipH="1" rot="10800000">
            <a:off x="2732725" y="479185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7"/>
          <p:cNvCxnSpPr>
            <a:stCxn id="135" idx="6"/>
            <a:endCxn id="127" idx="3"/>
          </p:cNvCxnSpPr>
          <p:nvPr/>
        </p:nvCxnSpPr>
        <p:spPr>
          <a:xfrm flipH="1" rot="10800000">
            <a:off x="3550713" y="4273175"/>
            <a:ext cx="1394100" cy="518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7"/>
          <p:cNvSpPr/>
          <p:nvPr/>
        </p:nvSpPr>
        <p:spPr>
          <a:xfrm>
            <a:off x="5762825" y="4632275"/>
            <a:ext cx="1182300" cy="31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Layer 2</a:t>
            </a:r>
            <a:endParaRPr b="1" sz="1600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-162475" y="3468075"/>
            <a:ext cx="2451600" cy="1487100"/>
          </a:xfrm>
          <a:prstGeom prst="rect">
            <a:avLst/>
          </a:prstGeom>
          <a:solidFill>
            <a:srgbClr val="E1F4F6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 rot="10800000">
            <a:off x="-52225" y="4124300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17"/>
          <p:cNvGrpSpPr/>
          <p:nvPr/>
        </p:nvGrpSpPr>
        <p:grpSpPr>
          <a:xfrm>
            <a:off x="258538" y="3115700"/>
            <a:ext cx="1182300" cy="565800"/>
            <a:chOff x="2377425" y="3028950"/>
            <a:chExt cx="1182300" cy="565800"/>
          </a:xfrm>
        </p:grpSpPr>
        <p:sp>
          <p:nvSpPr>
            <p:cNvPr id="142" name="Google Shape;142;p17"/>
            <p:cNvSpPr/>
            <p:nvPr/>
          </p:nvSpPr>
          <p:spPr>
            <a:xfrm>
              <a:off x="2377425" y="3028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Weight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2884650" y="3420750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-559462" y="3188300"/>
            <a:ext cx="1182300" cy="493200"/>
            <a:chOff x="2274800" y="2165550"/>
            <a:chExt cx="1182300" cy="493200"/>
          </a:xfrm>
        </p:grpSpPr>
        <p:sp>
          <p:nvSpPr>
            <p:cNvPr id="145" name="Google Shape;145;p17"/>
            <p:cNvSpPr/>
            <p:nvPr/>
          </p:nvSpPr>
          <p:spPr>
            <a:xfrm>
              <a:off x="2274800" y="21655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Input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2785025" y="2484750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7" name="Google Shape;147;p17"/>
          <p:cNvCxnSpPr>
            <a:stCxn id="146" idx="6"/>
            <a:endCxn id="143" idx="2"/>
          </p:cNvCxnSpPr>
          <p:nvPr/>
        </p:nvCxnSpPr>
        <p:spPr>
          <a:xfrm>
            <a:off x="124763" y="3594500"/>
            <a:ext cx="641100" cy="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8" name="Google Shape;148;p17"/>
          <p:cNvGrpSpPr/>
          <p:nvPr/>
        </p:nvGrpSpPr>
        <p:grpSpPr>
          <a:xfrm>
            <a:off x="1633425" y="4124625"/>
            <a:ext cx="1182300" cy="543900"/>
            <a:chOff x="6420425" y="4322275"/>
            <a:chExt cx="1182300" cy="543900"/>
          </a:xfrm>
        </p:grpSpPr>
        <p:sp>
          <p:nvSpPr>
            <p:cNvPr id="149" name="Google Shape;149;p17"/>
            <p:cNvSpPr/>
            <p:nvPr/>
          </p:nvSpPr>
          <p:spPr>
            <a:xfrm>
              <a:off x="6420425" y="454697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Output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1" name="Google Shape;151;p17"/>
          <p:cNvCxnSpPr>
            <a:stCxn id="143" idx="6"/>
            <a:endCxn id="152" idx="1"/>
          </p:cNvCxnSpPr>
          <p:nvPr/>
        </p:nvCxnSpPr>
        <p:spPr>
          <a:xfrm>
            <a:off x="939763" y="3594500"/>
            <a:ext cx="467400" cy="5556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17"/>
          <p:cNvSpPr/>
          <p:nvPr/>
        </p:nvSpPr>
        <p:spPr>
          <a:xfrm>
            <a:off x="765763" y="4109625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7"/>
          <p:cNvGrpSpPr/>
          <p:nvPr/>
        </p:nvGrpSpPr>
        <p:grpSpPr>
          <a:xfrm>
            <a:off x="1106738" y="3786950"/>
            <a:ext cx="1182300" cy="511675"/>
            <a:chOff x="6419875" y="3984600"/>
            <a:chExt cx="1182300" cy="511675"/>
          </a:xfrm>
        </p:grpSpPr>
        <p:sp>
          <p:nvSpPr>
            <p:cNvPr id="155" name="Google Shape;155;p17"/>
            <p:cNvSpPr/>
            <p:nvPr/>
          </p:nvSpPr>
          <p:spPr>
            <a:xfrm>
              <a:off x="6419875" y="398460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Accumulate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6" name="Google Shape;156;p17"/>
          <p:cNvCxnSpPr>
            <a:stCxn id="140" idx="2"/>
            <a:endCxn id="153" idx="2"/>
          </p:cNvCxnSpPr>
          <p:nvPr/>
        </p:nvCxnSpPr>
        <p:spPr>
          <a:xfrm flipH="1" rot="10800000">
            <a:off x="121775" y="419660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7"/>
          <p:cNvCxnSpPr>
            <a:stCxn id="153" idx="6"/>
            <a:endCxn id="152" idx="2"/>
          </p:cNvCxnSpPr>
          <p:nvPr/>
        </p:nvCxnSpPr>
        <p:spPr>
          <a:xfrm>
            <a:off x="939763" y="4196625"/>
            <a:ext cx="441900" cy="150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7"/>
          <p:cNvCxnSpPr>
            <a:stCxn id="152" idx="6"/>
            <a:endCxn id="150" idx="2"/>
          </p:cNvCxnSpPr>
          <p:nvPr/>
        </p:nvCxnSpPr>
        <p:spPr>
          <a:xfrm>
            <a:off x="1555588" y="4211625"/>
            <a:ext cx="352200" cy="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7"/>
          <p:cNvSpPr/>
          <p:nvPr/>
        </p:nvSpPr>
        <p:spPr>
          <a:xfrm rot="10800000">
            <a:off x="-55300" y="4719550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62688" y="4704875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17"/>
          <p:cNvCxnSpPr>
            <a:stCxn id="159" idx="2"/>
            <a:endCxn id="160" idx="2"/>
          </p:cNvCxnSpPr>
          <p:nvPr/>
        </p:nvCxnSpPr>
        <p:spPr>
          <a:xfrm flipH="1" rot="10800000">
            <a:off x="118700" y="479185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7"/>
          <p:cNvCxnSpPr>
            <a:stCxn id="160" idx="6"/>
            <a:endCxn id="152" idx="3"/>
          </p:cNvCxnSpPr>
          <p:nvPr/>
        </p:nvCxnSpPr>
        <p:spPr>
          <a:xfrm flipH="1" rot="10800000">
            <a:off x="936688" y="4273175"/>
            <a:ext cx="470400" cy="518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7"/>
          <p:cNvCxnSpPr>
            <a:stCxn id="150" idx="6"/>
            <a:endCxn id="121" idx="2"/>
          </p:cNvCxnSpPr>
          <p:nvPr/>
        </p:nvCxnSpPr>
        <p:spPr>
          <a:xfrm flipH="1" rot="10800000">
            <a:off x="2081725" y="3594525"/>
            <a:ext cx="483000" cy="6171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7"/>
          <p:cNvCxnSpPr>
            <a:endCxn id="115" idx="6"/>
          </p:cNvCxnSpPr>
          <p:nvPr/>
        </p:nvCxnSpPr>
        <p:spPr>
          <a:xfrm flipH="1" rot="10800000">
            <a:off x="2082188" y="4211300"/>
            <a:ext cx="474600" cy="11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7"/>
          <p:cNvCxnSpPr>
            <a:stCxn id="150" idx="6"/>
          </p:cNvCxnSpPr>
          <p:nvPr/>
        </p:nvCxnSpPr>
        <p:spPr>
          <a:xfrm>
            <a:off x="2081725" y="4211625"/>
            <a:ext cx="489900" cy="6033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7"/>
          <p:cNvSpPr/>
          <p:nvPr/>
        </p:nvSpPr>
        <p:spPr>
          <a:xfrm>
            <a:off x="7273750" y="3475425"/>
            <a:ext cx="2451600" cy="1487100"/>
          </a:xfrm>
          <a:prstGeom prst="rect">
            <a:avLst/>
          </a:prstGeom>
          <a:solidFill>
            <a:srgbClr val="E1F4F6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 rot="10800000">
            <a:off x="7384000" y="4131650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17"/>
          <p:cNvGrpSpPr/>
          <p:nvPr/>
        </p:nvGrpSpPr>
        <p:grpSpPr>
          <a:xfrm>
            <a:off x="7694763" y="3123050"/>
            <a:ext cx="1182300" cy="565800"/>
            <a:chOff x="2377425" y="3028950"/>
            <a:chExt cx="1182300" cy="565800"/>
          </a:xfrm>
        </p:grpSpPr>
        <p:sp>
          <p:nvSpPr>
            <p:cNvPr id="169" name="Google Shape;169;p17"/>
            <p:cNvSpPr/>
            <p:nvPr/>
          </p:nvSpPr>
          <p:spPr>
            <a:xfrm>
              <a:off x="2377425" y="3028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Weight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2884650" y="3420750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6876763" y="3195650"/>
            <a:ext cx="1182300" cy="493200"/>
            <a:chOff x="2274800" y="2165550"/>
            <a:chExt cx="1182300" cy="493200"/>
          </a:xfrm>
        </p:grpSpPr>
        <p:sp>
          <p:nvSpPr>
            <p:cNvPr id="172" name="Google Shape;172;p17"/>
            <p:cNvSpPr/>
            <p:nvPr/>
          </p:nvSpPr>
          <p:spPr>
            <a:xfrm>
              <a:off x="2274800" y="21655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Input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2785025" y="2484750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4" name="Google Shape;174;p17"/>
          <p:cNvCxnSpPr>
            <a:stCxn id="173" idx="6"/>
            <a:endCxn id="170" idx="2"/>
          </p:cNvCxnSpPr>
          <p:nvPr/>
        </p:nvCxnSpPr>
        <p:spPr>
          <a:xfrm>
            <a:off x="7560988" y="3601850"/>
            <a:ext cx="641100" cy="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5" name="Google Shape;175;p17"/>
          <p:cNvGrpSpPr/>
          <p:nvPr/>
        </p:nvGrpSpPr>
        <p:grpSpPr>
          <a:xfrm>
            <a:off x="9069650" y="4131975"/>
            <a:ext cx="1182300" cy="543900"/>
            <a:chOff x="6420425" y="4322275"/>
            <a:chExt cx="1182300" cy="543900"/>
          </a:xfrm>
        </p:grpSpPr>
        <p:sp>
          <p:nvSpPr>
            <p:cNvPr id="176" name="Google Shape;176;p17"/>
            <p:cNvSpPr/>
            <p:nvPr/>
          </p:nvSpPr>
          <p:spPr>
            <a:xfrm>
              <a:off x="6420425" y="454697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Output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8" name="Google Shape;178;p17"/>
          <p:cNvCxnSpPr>
            <a:stCxn id="170" idx="6"/>
            <a:endCxn id="179" idx="1"/>
          </p:cNvCxnSpPr>
          <p:nvPr/>
        </p:nvCxnSpPr>
        <p:spPr>
          <a:xfrm>
            <a:off x="8375988" y="3601850"/>
            <a:ext cx="467400" cy="5556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17"/>
          <p:cNvSpPr/>
          <p:nvPr/>
        </p:nvSpPr>
        <p:spPr>
          <a:xfrm>
            <a:off x="8201988" y="4116975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7"/>
          <p:cNvGrpSpPr/>
          <p:nvPr/>
        </p:nvGrpSpPr>
        <p:grpSpPr>
          <a:xfrm>
            <a:off x="8542963" y="3794300"/>
            <a:ext cx="1182300" cy="511675"/>
            <a:chOff x="6419875" y="3984600"/>
            <a:chExt cx="1182300" cy="511675"/>
          </a:xfrm>
        </p:grpSpPr>
        <p:sp>
          <p:nvSpPr>
            <p:cNvPr id="182" name="Google Shape;182;p17"/>
            <p:cNvSpPr/>
            <p:nvPr/>
          </p:nvSpPr>
          <p:spPr>
            <a:xfrm>
              <a:off x="6419875" y="398460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rPr>
                <a:t>Accumulate</a:t>
              </a:r>
              <a:endParaRPr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6694725" y="4322275"/>
              <a:ext cx="174000" cy="17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3" name="Google Shape;183;p17"/>
          <p:cNvCxnSpPr>
            <a:stCxn id="167" idx="2"/>
            <a:endCxn id="180" idx="2"/>
          </p:cNvCxnSpPr>
          <p:nvPr/>
        </p:nvCxnSpPr>
        <p:spPr>
          <a:xfrm flipH="1" rot="10800000">
            <a:off x="7558000" y="420395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7"/>
          <p:cNvCxnSpPr>
            <a:stCxn id="180" idx="6"/>
            <a:endCxn id="179" idx="2"/>
          </p:cNvCxnSpPr>
          <p:nvPr/>
        </p:nvCxnSpPr>
        <p:spPr>
          <a:xfrm>
            <a:off x="8375988" y="4203975"/>
            <a:ext cx="441900" cy="150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7"/>
          <p:cNvCxnSpPr>
            <a:stCxn id="179" idx="6"/>
            <a:endCxn id="177" idx="2"/>
          </p:cNvCxnSpPr>
          <p:nvPr/>
        </p:nvCxnSpPr>
        <p:spPr>
          <a:xfrm>
            <a:off x="8991813" y="4218975"/>
            <a:ext cx="352200" cy="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17"/>
          <p:cNvSpPr/>
          <p:nvPr/>
        </p:nvSpPr>
        <p:spPr>
          <a:xfrm rot="10800000">
            <a:off x="7380925" y="4726900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8198913" y="4712225"/>
            <a:ext cx="174000" cy="17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17"/>
          <p:cNvCxnSpPr>
            <a:stCxn id="186" idx="2"/>
            <a:endCxn id="187" idx="2"/>
          </p:cNvCxnSpPr>
          <p:nvPr/>
        </p:nvCxnSpPr>
        <p:spPr>
          <a:xfrm flipH="1" rot="10800000">
            <a:off x="7554925" y="4799200"/>
            <a:ext cx="644100" cy="14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7"/>
          <p:cNvCxnSpPr>
            <a:stCxn id="187" idx="6"/>
            <a:endCxn id="179" idx="3"/>
          </p:cNvCxnSpPr>
          <p:nvPr/>
        </p:nvCxnSpPr>
        <p:spPr>
          <a:xfrm flipH="1" rot="10800000">
            <a:off x="8372913" y="4280525"/>
            <a:ext cx="470400" cy="518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7"/>
          <p:cNvCxnSpPr>
            <a:stCxn id="177" idx="6"/>
          </p:cNvCxnSpPr>
          <p:nvPr/>
        </p:nvCxnSpPr>
        <p:spPr>
          <a:xfrm flipH="1" rot="10800000">
            <a:off x="9517950" y="3601875"/>
            <a:ext cx="483000" cy="6171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7"/>
          <p:cNvCxnSpPr/>
          <p:nvPr/>
        </p:nvCxnSpPr>
        <p:spPr>
          <a:xfrm flipH="1" rot="10800000">
            <a:off x="9518413" y="4218650"/>
            <a:ext cx="474600" cy="117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7"/>
          <p:cNvCxnSpPr>
            <a:stCxn id="177" idx="6"/>
          </p:cNvCxnSpPr>
          <p:nvPr/>
        </p:nvCxnSpPr>
        <p:spPr>
          <a:xfrm>
            <a:off x="9517950" y="4218975"/>
            <a:ext cx="489900" cy="603300"/>
          </a:xfrm>
          <a:prstGeom prst="straightConnector1">
            <a:avLst/>
          </a:prstGeom>
          <a:noFill/>
          <a:ln cap="flat" cmpd="sng" w="19050">
            <a:solidFill>
              <a:srgbClr val="1FC1D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17"/>
          <p:cNvCxnSpPr>
            <a:stCxn id="125" idx="6"/>
            <a:endCxn id="173" idx="2"/>
          </p:cNvCxnSpPr>
          <p:nvPr/>
        </p:nvCxnSpPr>
        <p:spPr>
          <a:xfrm flipH="1" rot="10800000">
            <a:off x="6636138" y="3601725"/>
            <a:ext cx="750900" cy="609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17"/>
          <p:cNvCxnSpPr>
            <a:stCxn id="125" idx="6"/>
            <a:endCxn id="167" idx="6"/>
          </p:cNvCxnSpPr>
          <p:nvPr/>
        </p:nvCxnSpPr>
        <p:spPr>
          <a:xfrm>
            <a:off x="6636138" y="4211625"/>
            <a:ext cx="747900" cy="6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17"/>
          <p:cNvCxnSpPr>
            <a:stCxn id="125" idx="6"/>
            <a:endCxn id="186" idx="6"/>
          </p:cNvCxnSpPr>
          <p:nvPr/>
        </p:nvCxnSpPr>
        <p:spPr>
          <a:xfrm>
            <a:off x="6636138" y="4211625"/>
            <a:ext cx="744900" cy="602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17"/>
          <p:cNvSpPr/>
          <p:nvPr/>
        </p:nvSpPr>
        <p:spPr>
          <a:xfrm>
            <a:off x="1102975" y="4632275"/>
            <a:ext cx="1182300" cy="31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Layer 1</a:t>
            </a:r>
            <a:endParaRPr b="1" sz="1200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8542975" y="4654300"/>
            <a:ext cx="1182300" cy="31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 b="1" sz="1100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203" name="Google Shape;20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AI will then produce an output in a format that humans can </a:t>
            </a:r>
            <a:r>
              <a:rPr lang="en"/>
              <a:t>understand</a:t>
            </a:r>
            <a:r>
              <a:rPr lang="en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simple output would be the probability of a clause being a Change of Control clause.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advanced outputs, such as long text, images, and graphs, etc., require additional </a:t>
            </a:r>
            <a:r>
              <a:rPr lang="en"/>
              <a:t>processing</a:t>
            </a:r>
            <a:r>
              <a:rPr lang="en"/>
              <a:t>.</a:t>
            </a:r>
            <a:endParaRPr/>
          </a:p>
        </p:txBody>
      </p:sp>
      <p:grpSp>
        <p:nvGrpSpPr>
          <p:cNvPr id="204" name="Google Shape;204;p18"/>
          <p:cNvGrpSpPr/>
          <p:nvPr/>
        </p:nvGrpSpPr>
        <p:grpSpPr>
          <a:xfrm rot="-350020">
            <a:off x="1537176" y="3003767"/>
            <a:ext cx="2844660" cy="1678559"/>
            <a:chOff x="728425" y="2335791"/>
            <a:chExt cx="3508901" cy="2070509"/>
          </a:xfrm>
        </p:grpSpPr>
        <p:pic>
          <p:nvPicPr>
            <p:cNvPr id="205" name="Google Shape;205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8425" y="2335791"/>
              <a:ext cx="3508901" cy="20705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8"/>
            <p:cNvPicPr preferRelativeResize="0"/>
            <p:nvPr/>
          </p:nvPicPr>
          <p:blipFill rotWithShape="1">
            <a:blip r:embed="rId4">
              <a:alphaModFix/>
            </a:blip>
            <a:srcRect b="-20360" l="-12573" r="55108" t="-3863"/>
            <a:stretch/>
          </p:blipFill>
          <p:spPr>
            <a:xfrm>
              <a:off x="1831020" y="3760536"/>
              <a:ext cx="201987" cy="3278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" name="Google Shape;2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08064">
            <a:off x="4677423" y="2507870"/>
            <a:ext cx="3000514" cy="21143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tabby cat on brown parquet floor" id="208" name="Google Shape;20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3168" y="3735797"/>
            <a:ext cx="1950581" cy="130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Steps</a:t>
            </a:r>
            <a:endParaRPr/>
          </a:p>
        </p:txBody>
      </p:sp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743400" y="1132100"/>
            <a:ext cx="1437900" cy="1708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3853050" y="1132100"/>
            <a:ext cx="1437900" cy="1707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Machine Learning Model</a:t>
            </a:r>
            <a:endParaRPr sz="1400"/>
          </a:p>
        </p:txBody>
      </p:sp>
      <p:sp>
        <p:nvSpPr>
          <p:cNvPr id="216" name="Google Shape;216;p19"/>
          <p:cNvSpPr txBox="1"/>
          <p:nvPr>
            <p:ph idx="1" type="body"/>
          </p:nvPr>
        </p:nvSpPr>
        <p:spPr>
          <a:xfrm>
            <a:off x="7023875" y="1132100"/>
            <a:ext cx="1437900" cy="1707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920100" y="1599650"/>
            <a:ext cx="1084500" cy="1084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124873" y="1799752"/>
            <a:ext cx="894300" cy="894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7200557" y="1599705"/>
            <a:ext cx="1084500" cy="1084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25" y="1634312"/>
            <a:ext cx="1315398" cy="101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9751" y="1704628"/>
            <a:ext cx="1084500" cy="108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/>
          <p:cNvPicPr preferRelativeResize="0"/>
          <p:nvPr/>
        </p:nvPicPr>
        <p:blipFill rotWithShape="1">
          <a:blip r:embed="rId5">
            <a:alphaModFix/>
          </a:blip>
          <a:srcRect b="1618" l="0" r="0" t="37076"/>
          <a:stretch/>
        </p:blipFill>
        <p:spPr>
          <a:xfrm>
            <a:off x="4219130" y="1874275"/>
            <a:ext cx="768958" cy="37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6442" y="1521713"/>
            <a:ext cx="1052752" cy="124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/>
          <p:nvPr/>
        </p:nvSpPr>
        <p:spPr>
          <a:xfrm rot="779677">
            <a:off x="7761249" y="1968606"/>
            <a:ext cx="152095" cy="65277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 rot="781004">
            <a:off x="7626293" y="2298123"/>
            <a:ext cx="233089" cy="65277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 rot="782513">
            <a:off x="7478421" y="1733481"/>
            <a:ext cx="272530" cy="65277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 rot="777270">
            <a:off x="7480711" y="1883244"/>
            <a:ext cx="96352" cy="65277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0" y="2832825"/>
            <a:ext cx="2966400" cy="23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Pre-</a:t>
            </a:r>
            <a:r>
              <a:rPr lang="en" sz="1600"/>
              <a:t>processing, usually done using a simpler program.</a:t>
            </a:r>
            <a:endParaRPr sz="1600"/>
          </a:p>
        </p:txBody>
      </p:sp>
      <p:sp>
        <p:nvSpPr>
          <p:cNvPr id="229" name="Google Shape;229;p19"/>
          <p:cNvSpPr txBox="1"/>
          <p:nvPr>
            <p:ph idx="1" type="body"/>
          </p:nvPr>
        </p:nvSpPr>
        <p:spPr>
          <a:xfrm>
            <a:off x="2966400" y="2832825"/>
            <a:ext cx="32112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Based on Pattern Recognition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Neural Networks: made of systems of nodes, communicating with each other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Deep Learning: Neural Networks with multiple layers of </a:t>
            </a:r>
            <a:r>
              <a:rPr lang="en" sz="1400"/>
              <a:t>processing</a:t>
            </a:r>
            <a:endParaRPr sz="1400"/>
          </a:p>
        </p:txBody>
      </p:sp>
      <p:sp>
        <p:nvSpPr>
          <p:cNvPr id="230" name="Google Shape;230;p19"/>
          <p:cNvSpPr txBox="1"/>
          <p:nvPr>
            <p:ph idx="1" type="body"/>
          </p:nvPr>
        </p:nvSpPr>
        <p:spPr>
          <a:xfrm>
            <a:off x="6177550" y="2832825"/>
            <a:ext cx="2966400" cy="23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AI produces an output humans can use and understand.</a:t>
            </a:r>
            <a:endParaRPr sz="1600"/>
          </a:p>
        </p:txBody>
      </p:sp>
      <p:cxnSp>
        <p:nvCxnSpPr>
          <p:cNvPr id="231" name="Google Shape;231;p19"/>
          <p:cNvCxnSpPr>
            <a:stCxn id="214" idx="3"/>
            <a:endCxn id="215" idx="1"/>
          </p:cNvCxnSpPr>
          <p:nvPr/>
        </p:nvCxnSpPr>
        <p:spPr>
          <a:xfrm>
            <a:off x="2181300" y="1986200"/>
            <a:ext cx="167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9"/>
          <p:cNvCxnSpPr>
            <a:stCxn id="215" idx="3"/>
            <a:endCxn id="216" idx="1"/>
          </p:cNvCxnSpPr>
          <p:nvPr/>
        </p:nvCxnSpPr>
        <p:spPr>
          <a:xfrm>
            <a:off x="5290950" y="1986050"/>
            <a:ext cx="1732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