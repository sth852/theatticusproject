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8ab9fc6443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8ab9fc6443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8a2e2d24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8a2e2d24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8c93207f2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8c93207f2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8b62e5977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8b62e5977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9020aff94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9020aff94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9020aff94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9020aff94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8ab9fc6443_1_2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8ab9fc6443_1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9020aff94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9020aff94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9020aff94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9020aff94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020aff94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020aff94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9020aff944_2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9020aff944_2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9020aff94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9020aff94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atticusprojectai.org/published-label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sec.gov/edgar.shtml" TargetMode="External"/><Relationship Id="rId4" Type="http://schemas.openxmlformats.org/officeDocument/2006/relationships/hyperlink" Target="https://www.sec.gov/edgar/searchedgar/companysearch.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859050" y="886775"/>
            <a:ext cx="75654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000"/>
              <a:t>T</a:t>
            </a:r>
            <a:r>
              <a:rPr lang="en" sz="5000"/>
              <a:t>raining AI to Review Contracts</a:t>
            </a:r>
            <a:endParaRPr sz="5000"/>
          </a:p>
        </p:txBody>
      </p:sp>
      <p:sp>
        <p:nvSpPr>
          <p:cNvPr id="55" name="Google Shape;55;p13"/>
          <p:cNvSpPr txBox="1"/>
          <p:nvPr>
            <p:ph idx="1" type="subTitle"/>
          </p:nvPr>
        </p:nvSpPr>
        <p:spPr>
          <a:xfrm>
            <a:off x="311700" y="3057313"/>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Why do we need training datasets?</a:t>
            </a:r>
            <a:endParaRPr/>
          </a:p>
        </p:txBody>
      </p:sp>
      <p:pic>
        <p:nvPicPr>
          <p:cNvPr id="56" name="Google Shape;56;p13"/>
          <p:cNvPicPr preferRelativeResize="0"/>
          <p:nvPr/>
        </p:nvPicPr>
        <p:blipFill>
          <a:blip r:embed="rId3">
            <a:alphaModFix/>
          </a:blip>
          <a:stretch>
            <a:fillRect/>
          </a:stretch>
        </p:blipFill>
        <p:spPr>
          <a:xfrm>
            <a:off x="0" y="0"/>
            <a:ext cx="1857375" cy="1857375"/>
          </a:xfrm>
          <a:prstGeom prst="rect">
            <a:avLst/>
          </a:prstGeom>
          <a:noFill/>
          <a:ln>
            <a:noFill/>
          </a:ln>
        </p:spPr>
      </p:pic>
      <p:sp>
        <p:nvSpPr>
          <p:cNvPr id="57" name="Google Shape;57;p13"/>
          <p:cNvSpPr txBox="1"/>
          <p:nvPr/>
        </p:nvSpPr>
        <p:spPr>
          <a:xfrm>
            <a:off x="7091425" y="4722875"/>
            <a:ext cx="2052600" cy="4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2020 The Atticus Project</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Review of Last Presentation</a:t>
            </a:r>
            <a:endParaRPr>
              <a:solidFill>
                <a:srgbClr val="000000"/>
              </a:solidFill>
            </a:endParaRPr>
          </a:p>
        </p:txBody>
      </p:sp>
      <p:sp>
        <p:nvSpPr>
          <p:cNvPr id="63" name="Google Shape;63;p14"/>
          <p:cNvSpPr txBox="1"/>
          <p:nvPr>
            <p:ph idx="1" type="body"/>
          </p:nvPr>
        </p:nvSpPr>
        <p:spPr>
          <a:xfrm>
            <a:off x="852800" y="1234800"/>
            <a:ext cx="7979400" cy="3334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i="1" lang="en" sz="1400"/>
              <a:t>Find the last</a:t>
            </a:r>
            <a:r>
              <a:rPr i="1" lang="en" sz="1400"/>
              <a:t> presentation here: </a:t>
            </a:r>
            <a:r>
              <a:rPr b="1" i="1" lang="en" sz="1400"/>
              <a:t>NLP Deep Dive</a:t>
            </a:r>
            <a:endParaRPr i="1" sz="1400"/>
          </a:p>
          <a:p>
            <a:pPr indent="-342900" lvl="0" marL="457200" rtl="0" algn="l">
              <a:lnSpc>
                <a:spcPct val="150000"/>
              </a:lnSpc>
              <a:spcBef>
                <a:spcPts val="1600"/>
              </a:spcBef>
              <a:spcAft>
                <a:spcPts val="0"/>
              </a:spcAft>
              <a:buSzPts val="1800"/>
              <a:buChar char="●"/>
            </a:pPr>
            <a:r>
              <a:rPr lang="en"/>
              <a:t>We previously learned how AI, with NLP, breaks down text and learns to "understand" contracts using labels.</a:t>
            </a:r>
            <a:endParaRPr/>
          </a:p>
          <a:p>
            <a:pPr indent="-342900" lvl="0" marL="457200" rtl="0" algn="l">
              <a:lnSpc>
                <a:spcPct val="150000"/>
              </a:lnSpc>
              <a:spcBef>
                <a:spcPts val="0"/>
              </a:spcBef>
              <a:spcAft>
                <a:spcPts val="0"/>
              </a:spcAft>
              <a:buSzPts val="1800"/>
              <a:buChar char="●"/>
            </a:pPr>
            <a:r>
              <a:rPr lang="en"/>
              <a:t>In this module we will explain why a training dataset is needed to</a:t>
            </a:r>
            <a:r>
              <a:rPr lang="en"/>
              <a:t> teach AI to “understand” contracts.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600"/>
              </a:spcAft>
              <a:buNone/>
            </a:pPr>
            <a:r>
              <a:rPr lang="en" sz="2700"/>
              <a:t>Defining Terms in the Context of Contract Review</a:t>
            </a:r>
            <a:endParaRPr sz="3700"/>
          </a:p>
        </p:txBody>
      </p:sp>
      <p:sp>
        <p:nvSpPr>
          <p:cNvPr id="69" name="Google Shape;69;p15"/>
          <p:cNvSpPr txBox="1"/>
          <p:nvPr>
            <p:ph idx="1" type="body"/>
          </p:nvPr>
        </p:nvSpPr>
        <p:spPr>
          <a:xfrm>
            <a:off x="644575" y="1603475"/>
            <a:ext cx="3999900" cy="34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Labeling:</a:t>
            </a:r>
            <a:endParaRPr b="1" sz="1800"/>
          </a:p>
          <a:p>
            <a:pPr indent="0" lvl="0" marL="0" rtl="0" algn="l">
              <a:spcBef>
                <a:spcPts val="1600"/>
              </a:spcBef>
              <a:spcAft>
                <a:spcPts val="1600"/>
              </a:spcAft>
              <a:buNone/>
            </a:pPr>
            <a:r>
              <a:rPr lang="en" sz="1800"/>
              <a:t>The process of manually highlighting selected provisions in a contract, such as "expiration date", "renewal term", “most favored nation”, etc. </a:t>
            </a:r>
            <a:endParaRPr sz="1800"/>
          </a:p>
        </p:txBody>
      </p:sp>
      <p:sp>
        <p:nvSpPr>
          <p:cNvPr id="70" name="Google Shape;70;p15"/>
          <p:cNvSpPr txBox="1"/>
          <p:nvPr>
            <p:ph idx="2" type="body"/>
          </p:nvPr>
        </p:nvSpPr>
        <p:spPr>
          <a:xfrm>
            <a:off x="4832400" y="1603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t>Training</a:t>
            </a:r>
            <a:r>
              <a:rPr b="1" lang="en" sz="1800"/>
              <a:t> Dataset:</a:t>
            </a:r>
            <a:endParaRPr b="1" sz="1800"/>
          </a:p>
          <a:p>
            <a:pPr indent="-342900" lvl="0" marL="457200" rtl="0" algn="l">
              <a:spcBef>
                <a:spcPts val="1600"/>
              </a:spcBef>
              <a:spcAft>
                <a:spcPts val="0"/>
              </a:spcAft>
              <a:buSzPts val="1800"/>
              <a:buChar char="-"/>
            </a:pPr>
            <a:r>
              <a:rPr lang="en" sz="1800"/>
              <a:t>A collection of legal contracts labeled with selected provisions; </a:t>
            </a:r>
            <a:endParaRPr sz="1800"/>
          </a:p>
          <a:p>
            <a:pPr indent="-342900" lvl="0" marL="457200" rtl="0" algn="l">
              <a:spcBef>
                <a:spcPts val="1000"/>
              </a:spcBef>
              <a:spcAft>
                <a:spcPts val="0"/>
              </a:spcAft>
              <a:buSzPts val="1800"/>
              <a:buChar char="-"/>
            </a:pPr>
            <a:r>
              <a:rPr lang="en" sz="1800"/>
              <a:t>Used to train AI to recognize such provisions in other contracts.</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4929200" y="1160175"/>
            <a:ext cx="3772200" cy="2410500"/>
          </a:xfrm>
          <a:prstGeom prst="rect">
            <a:avLst/>
          </a:prstGeom>
          <a:noFill/>
          <a:ln cap="flat" cmpd="sng" w="28575">
            <a:solidFill>
              <a:srgbClr val="000000"/>
            </a:solidFill>
            <a:prstDash val="dash"/>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rPr>
              <a:t>For example, one such pattern is that the governing law typically contains the words "State of". In this example below, the governing law is of the “</a:t>
            </a:r>
            <a:r>
              <a:rPr b="1" lang="en" sz="1600" u="sng">
                <a:solidFill>
                  <a:schemeClr val="dk2"/>
                </a:solidFill>
              </a:rPr>
              <a:t>State of California</a:t>
            </a:r>
            <a:r>
              <a:rPr b="1" lang="en" sz="1600">
                <a:solidFill>
                  <a:schemeClr val="dk2"/>
                </a:solidFill>
              </a:rPr>
              <a:t>”</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n" sz="1600">
                <a:solidFill>
                  <a:schemeClr val="dk2"/>
                </a:solidFill>
              </a:rPr>
              <a:t>The pattern that the AI looks for is the format of the phrasing.</a:t>
            </a:r>
            <a:endParaRPr sz="1600">
              <a:solidFill>
                <a:schemeClr val="dk2"/>
              </a:solidFill>
            </a:endParaRPr>
          </a:p>
        </p:txBody>
      </p:sp>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Purpose of a Training Dataset</a:t>
            </a:r>
            <a:endParaRPr/>
          </a:p>
        </p:txBody>
      </p:sp>
      <p:sp>
        <p:nvSpPr>
          <p:cNvPr id="77" name="Google Shape;77;p16"/>
          <p:cNvSpPr txBox="1"/>
          <p:nvPr>
            <p:ph idx="1" type="body"/>
          </p:nvPr>
        </p:nvSpPr>
        <p:spPr>
          <a:xfrm>
            <a:off x="426400" y="1160175"/>
            <a:ext cx="4338300" cy="317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uses the training dataset to train models that look for identifiable patterns within a given </a:t>
            </a:r>
            <a:r>
              <a:rPr lang="en"/>
              <a:t>label</a:t>
            </a:r>
            <a:r>
              <a:rPr lang="en"/>
              <a:t>.</a:t>
            </a:r>
            <a:endParaRPr/>
          </a:p>
          <a:p>
            <a:pPr indent="0" lvl="0" marL="0" rtl="0" algn="l">
              <a:spcBef>
                <a:spcPts val="1600"/>
              </a:spcBef>
              <a:spcAft>
                <a:spcPts val="0"/>
              </a:spcAft>
              <a:buNone/>
            </a:pPr>
            <a:r>
              <a:rPr lang="en"/>
              <a:t>The model can then “learn” to identify that provision in other contracts.</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78" name="Google Shape;78;p16"/>
          <p:cNvPicPr preferRelativeResize="0"/>
          <p:nvPr/>
        </p:nvPicPr>
        <p:blipFill rotWithShape="1">
          <a:blip r:embed="rId3">
            <a:alphaModFix/>
          </a:blip>
          <a:srcRect b="9950" l="0" r="0" t="0"/>
          <a:stretch/>
        </p:blipFill>
        <p:spPr>
          <a:xfrm>
            <a:off x="84450" y="3958950"/>
            <a:ext cx="9001751" cy="978300"/>
          </a:xfrm>
          <a:prstGeom prst="rect">
            <a:avLst/>
          </a:prstGeom>
          <a:noFill/>
          <a:ln>
            <a:noFill/>
          </a:ln>
        </p:spPr>
      </p:pic>
      <p:sp>
        <p:nvSpPr>
          <p:cNvPr id="79" name="Google Shape;79;p16"/>
          <p:cNvSpPr/>
          <p:nvPr/>
        </p:nvSpPr>
        <p:spPr>
          <a:xfrm>
            <a:off x="7799050" y="3997350"/>
            <a:ext cx="1237500" cy="288900"/>
          </a:xfrm>
          <a:prstGeom prst="rect">
            <a:avLst/>
          </a:prstGeom>
          <a:noFill/>
          <a:ln cap="flat" cmpd="sng" w="76200">
            <a:solidFill>
              <a:srgbClr val="0072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Atticus Dataset is a Training Dataset</a:t>
            </a:r>
            <a:endParaRPr/>
          </a:p>
        </p:txBody>
      </p:sp>
      <p:sp>
        <p:nvSpPr>
          <p:cNvPr id="85" name="Google Shape;85;p17"/>
          <p:cNvSpPr txBox="1"/>
          <p:nvPr>
            <p:ph idx="1" type="body"/>
          </p:nvPr>
        </p:nvSpPr>
        <p:spPr>
          <a:xfrm>
            <a:off x="666250" y="1128200"/>
            <a:ext cx="8166000" cy="344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Atticus Dataset is a collection of:</a:t>
            </a:r>
            <a:endParaRPr sz="2000"/>
          </a:p>
          <a:p>
            <a:pPr indent="-355600" lvl="0" marL="457200" rtl="0" algn="l">
              <a:spcBef>
                <a:spcPts val="1000"/>
              </a:spcBef>
              <a:spcAft>
                <a:spcPts val="0"/>
              </a:spcAft>
              <a:buSzPts val="2000"/>
              <a:buChar char="●"/>
            </a:pPr>
            <a:r>
              <a:rPr lang="en" sz="2000"/>
              <a:t>commercial legal contracts that </a:t>
            </a:r>
            <a:endParaRPr sz="2000"/>
          </a:p>
          <a:p>
            <a:pPr indent="-355600" lvl="0" marL="457200" rtl="0" algn="l">
              <a:spcBef>
                <a:spcPts val="0"/>
              </a:spcBef>
              <a:spcAft>
                <a:spcPts val="0"/>
              </a:spcAft>
              <a:buSzPts val="2000"/>
              <a:buChar char="●"/>
            </a:pPr>
            <a:r>
              <a:rPr lang="en" sz="2000"/>
              <a:t>have been manually labeled with </a:t>
            </a:r>
            <a:r>
              <a:rPr lang="en" sz="2000" u="sng">
                <a:solidFill>
                  <a:schemeClr val="accent5"/>
                </a:solidFill>
                <a:hlinkClick r:id="rId3">
                  <a:extLst>
                    <a:ext uri="{A12FA001-AC4F-418D-AE19-62706E023703}">
                      <ahyp:hlinkClr val="tx"/>
                    </a:ext>
                  </a:extLst>
                </a:hlinkClick>
              </a:rPr>
              <a:t>30+ different types of provisions</a:t>
            </a:r>
            <a:r>
              <a:rPr lang="en" sz="2000"/>
              <a:t>.</a:t>
            </a:r>
            <a:endParaRPr sz="2000"/>
          </a:p>
          <a:p>
            <a:pPr indent="-336550" lvl="1" marL="914400" rtl="0" algn="l">
              <a:spcBef>
                <a:spcPts val="0"/>
              </a:spcBef>
              <a:spcAft>
                <a:spcPts val="0"/>
              </a:spcAft>
              <a:buSzPts val="1700"/>
              <a:buChar char="○"/>
            </a:pPr>
            <a:r>
              <a:rPr lang="en" sz="1700"/>
              <a:t>These provisions are considered important by experienced attorneys in due diligence review in connection with a corporate transaction</a:t>
            </a:r>
            <a:endParaRPr sz="1700"/>
          </a:p>
          <a:p>
            <a:pPr indent="-330200" lvl="2" marL="1371600" rtl="0" algn="l">
              <a:spcBef>
                <a:spcPts val="0"/>
              </a:spcBef>
              <a:spcAft>
                <a:spcPts val="0"/>
              </a:spcAft>
              <a:buSzPts val="1600"/>
              <a:buChar char="■"/>
            </a:pPr>
            <a:r>
              <a:rPr lang="en" sz="1600"/>
              <a:t>A corporate transaction includes mergers &amp; acquisitions, investments, initial public offering, etc.</a:t>
            </a:r>
            <a:endParaRPr sz="2300"/>
          </a:p>
          <a:p>
            <a:pPr indent="0" lvl="0" marL="0" rtl="0" algn="l">
              <a:spcBef>
                <a:spcPts val="1000"/>
              </a:spcBef>
              <a:spcAft>
                <a:spcPts val="1600"/>
              </a:spcAft>
              <a:buNone/>
            </a:pPr>
            <a:r>
              <a:rPr lang="en" sz="2100"/>
              <a:t>					</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Atticus Dataset is a Training Dataset (Conti.)</a:t>
            </a:r>
            <a:endParaRPr/>
          </a:p>
        </p:txBody>
      </p:sp>
      <p:sp>
        <p:nvSpPr>
          <p:cNvPr id="91" name="Google Shape;91;p18"/>
          <p:cNvSpPr txBox="1"/>
          <p:nvPr>
            <p:ph idx="1" type="body"/>
          </p:nvPr>
        </p:nvSpPr>
        <p:spPr>
          <a:xfrm>
            <a:off x="666250" y="1128200"/>
            <a:ext cx="8166000" cy="344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Atticus Dataset contains two files:</a:t>
            </a:r>
            <a:endParaRPr/>
          </a:p>
        </p:txBody>
      </p:sp>
      <p:pic>
        <p:nvPicPr>
          <p:cNvPr id="92" name="Google Shape;92;p18"/>
          <p:cNvPicPr preferRelativeResize="0"/>
          <p:nvPr/>
        </p:nvPicPr>
        <p:blipFill>
          <a:blip r:embed="rId3">
            <a:alphaModFix/>
          </a:blip>
          <a:stretch>
            <a:fillRect/>
          </a:stretch>
        </p:blipFill>
        <p:spPr>
          <a:xfrm>
            <a:off x="1047250" y="1555975"/>
            <a:ext cx="2228272" cy="1719950"/>
          </a:xfrm>
          <a:prstGeom prst="rect">
            <a:avLst/>
          </a:prstGeom>
          <a:noFill/>
          <a:ln>
            <a:noFill/>
          </a:ln>
        </p:spPr>
      </p:pic>
      <p:pic>
        <p:nvPicPr>
          <p:cNvPr id="93" name="Google Shape;93;p18"/>
          <p:cNvPicPr preferRelativeResize="0"/>
          <p:nvPr/>
        </p:nvPicPr>
        <p:blipFill rotWithShape="1">
          <a:blip r:embed="rId4">
            <a:alphaModFix/>
          </a:blip>
          <a:srcRect b="0" l="14546" r="39883" t="0"/>
          <a:stretch/>
        </p:blipFill>
        <p:spPr>
          <a:xfrm>
            <a:off x="3604600" y="1860775"/>
            <a:ext cx="5227650" cy="1323600"/>
          </a:xfrm>
          <a:prstGeom prst="rect">
            <a:avLst/>
          </a:prstGeom>
          <a:noFill/>
          <a:ln>
            <a:noFill/>
          </a:ln>
        </p:spPr>
      </p:pic>
      <p:sp>
        <p:nvSpPr>
          <p:cNvPr id="94" name="Google Shape;94;p18"/>
          <p:cNvSpPr txBox="1"/>
          <p:nvPr/>
        </p:nvSpPr>
        <p:spPr>
          <a:xfrm>
            <a:off x="3604525" y="3341400"/>
            <a:ext cx="5227800" cy="2030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Char char="●"/>
            </a:pPr>
            <a:r>
              <a:rPr lang="en" sz="1600">
                <a:solidFill>
                  <a:schemeClr val="dk2"/>
                </a:solidFill>
              </a:rPr>
              <a:t>a CSV file, where the first column is the name of a contract corresponding to a pdf file in “The contracts” file and the remaining 30+ columns correspond to the various labels in such contract.</a:t>
            </a:r>
            <a:endParaRPr sz="1600">
              <a:solidFill>
                <a:schemeClr val="dk2"/>
              </a:solidFill>
            </a:endParaRPr>
          </a:p>
        </p:txBody>
      </p:sp>
      <p:sp>
        <p:nvSpPr>
          <p:cNvPr id="95" name="Google Shape;95;p18"/>
          <p:cNvSpPr txBox="1"/>
          <p:nvPr/>
        </p:nvSpPr>
        <p:spPr>
          <a:xfrm>
            <a:off x="383125" y="3381225"/>
            <a:ext cx="3292800" cy="20307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Char char="●"/>
            </a:pPr>
            <a:r>
              <a:rPr lang="en" sz="1600">
                <a:solidFill>
                  <a:schemeClr val="dk2"/>
                </a:solidFill>
              </a:rPr>
              <a:t>The contracts: A PDF of all the underlying contracts that we used to extract the labels. These contracts in pdf are not labeled.</a:t>
            </a:r>
            <a:endParaRPr sz="16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Creating the </a:t>
            </a:r>
            <a:r>
              <a:rPr lang="en"/>
              <a:t>Atticus Dataset </a:t>
            </a:r>
            <a:endParaRPr/>
          </a:p>
        </p:txBody>
      </p:sp>
      <p:sp>
        <p:nvSpPr>
          <p:cNvPr id="101" name="Google Shape;101;p19"/>
          <p:cNvSpPr txBox="1"/>
          <p:nvPr>
            <p:ph idx="1" type="body"/>
          </p:nvPr>
        </p:nvSpPr>
        <p:spPr>
          <a:xfrm>
            <a:off x="644575" y="1106550"/>
            <a:ext cx="7954500" cy="777000"/>
          </a:xfrm>
          <a:prstGeom prst="rect">
            <a:avLst/>
          </a:prstGeom>
        </p:spPr>
        <p:txBody>
          <a:bodyPr anchorCtr="0" anchor="ctr" bIns="91425" lIns="91425" spcFirstLastPara="1" rIns="91425" wrap="square" tIns="91425">
            <a:noAutofit/>
          </a:bodyPr>
          <a:lstStyle/>
          <a:p>
            <a:pPr indent="0" lvl="0" marL="0" rtl="0" algn="l">
              <a:spcBef>
                <a:spcPts val="0"/>
              </a:spcBef>
              <a:spcAft>
                <a:spcPts val="1600"/>
              </a:spcAft>
              <a:buNone/>
            </a:pPr>
            <a:r>
              <a:rPr lang="en" sz="1700"/>
              <a:t>Atticus volunteers use a contract review tool, eBrevia, to manually label the relevant provisions in a legal contract.</a:t>
            </a:r>
            <a:endParaRPr sz="1700"/>
          </a:p>
        </p:txBody>
      </p:sp>
      <p:pic>
        <p:nvPicPr>
          <p:cNvPr id="102" name="Google Shape;102;p19"/>
          <p:cNvPicPr preferRelativeResize="0"/>
          <p:nvPr/>
        </p:nvPicPr>
        <p:blipFill rotWithShape="1">
          <a:blip r:embed="rId3">
            <a:alphaModFix/>
          </a:blip>
          <a:srcRect b="48411" l="0" r="0" t="0"/>
          <a:stretch/>
        </p:blipFill>
        <p:spPr>
          <a:xfrm>
            <a:off x="537200" y="2065175"/>
            <a:ext cx="6161545" cy="2571749"/>
          </a:xfrm>
          <a:prstGeom prst="rect">
            <a:avLst/>
          </a:prstGeom>
          <a:noFill/>
          <a:ln>
            <a:noFill/>
          </a:ln>
        </p:spPr>
      </p:pic>
      <p:cxnSp>
        <p:nvCxnSpPr>
          <p:cNvPr id="103" name="Google Shape;103;p19"/>
          <p:cNvCxnSpPr>
            <a:stCxn id="104" idx="1"/>
          </p:cNvCxnSpPr>
          <p:nvPr/>
        </p:nvCxnSpPr>
        <p:spPr>
          <a:xfrm flipH="1">
            <a:off x="3714725" y="2166613"/>
            <a:ext cx="3253800" cy="578700"/>
          </a:xfrm>
          <a:prstGeom prst="straightConnector1">
            <a:avLst/>
          </a:prstGeom>
          <a:noFill/>
          <a:ln cap="flat" cmpd="sng" w="9525">
            <a:solidFill>
              <a:schemeClr val="dk2"/>
            </a:solidFill>
            <a:prstDash val="solid"/>
            <a:round/>
            <a:headEnd len="med" w="med" type="none"/>
            <a:tailEnd len="med" w="med" type="triangle"/>
          </a:ln>
        </p:spPr>
      </p:cxnSp>
      <p:sp>
        <p:nvSpPr>
          <p:cNvPr id="104" name="Google Shape;104;p19"/>
          <p:cNvSpPr txBox="1"/>
          <p:nvPr/>
        </p:nvSpPr>
        <p:spPr>
          <a:xfrm>
            <a:off x="6968525" y="1972513"/>
            <a:ext cx="1686300" cy="38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Expiration Date</a:t>
            </a:r>
            <a:endParaRPr/>
          </a:p>
        </p:txBody>
      </p:sp>
      <p:cxnSp>
        <p:nvCxnSpPr>
          <p:cNvPr id="105" name="Google Shape;105;p19"/>
          <p:cNvCxnSpPr>
            <a:stCxn id="106" idx="1"/>
          </p:cNvCxnSpPr>
          <p:nvPr/>
        </p:nvCxnSpPr>
        <p:spPr>
          <a:xfrm flipH="1">
            <a:off x="3228450" y="2736025"/>
            <a:ext cx="3854400" cy="388200"/>
          </a:xfrm>
          <a:prstGeom prst="straightConnector1">
            <a:avLst/>
          </a:prstGeom>
          <a:noFill/>
          <a:ln cap="flat" cmpd="sng" w="9525">
            <a:solidFill>
              <a:schemeClr val="dk2"/>
            </a:solidFill>
            <a:prstDash val="solid"/>
            <a:round/>
            <a:headEnd len="med" w="med" type="none"/>
            <a:tailEnd len="med" w="med" type="triangle"/>
          </a:ln>
        </p:spPr>
      </p:cxnSp>
      <p:sp>
        <p:nvSpPr>
          <p:cNvPr id="106" name="Google Shape;106;p19"/>
          <p:cNvSpPr txBox="1"/>
          <p:nvPr/>
        </p:nvSpPr>
        <p:spPr>
          <a:xfrm>
            <a:off x="7082850" y="2449675"/>
            <a:ext cx="16863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Renewal Term</a:t>
            </a:r>
            <a:endParaRPr/>
          </a:p>
        </p:txBody>
      </p:sp>
      <p:cxnSp>
        <p:nvCxnSpPr>
          <p:cNvPr id="107" name="Google Shape;107;p19"/>
          <p:cNvCxnSpPr>
            <a:stCxn id="108" idx="1"/>
          </p:cNvCxnSpPr>
          <p:nvPr/>
        </p:nvCxnSpPr>
        <p:spPr>
          <a:xfrm rot="10800000">
            <a:off x="3035375" y="3702425"/>
            <a:ext cx="3891000" cy="310500"/>
          </a:xfrm>
          <a:prstGeom prst="straightConnector1">
            <a:avLst/>
          </a:prstGeom>
          <a:noFill/>
          <a:ln cap="flat" cmpd="sng" w="9525">
            <a:solidFill>
              <a:schemeClr val="dk2"/>
            </a:solidFill>
            <a:prstDash val="solid"/>
            <a:round/>
            <a:headEnd len="med" w="med" type="none"/>
            <a:tailEnd len="med" w="med" type="triangle"/>
          </a:ln>
        </p:spPr>
      </p:cxnSp>
      <p:sp>
        <p:nvSpPr>
          <p:cNvPr id="108" name="Google Shape;108;p19"/>
          <p:cNvSpPr txBox="1"/>
          <p:nvPr/>
        </p:nvSpPr>
        <p:spPr>
          <a:xfrm>
            <a:off x="6926375" y="3726575"/>
            <a:ext cx="17706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Notice to Terminate Auto-Renewal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the Atticus Dataset (Conti.)</a:t>
            </a:r>
            <a:endParaRPr/>
          </a:p>
        </p:txBody>
      </p:sp>
      <p:sp>
        <p:nvSpPr>
          <p:cNvPr id="114" name="Google Shape;114;p20"/>
          <p:cNvSpPr txBox="1"/>
          <p:nvPr>
            <p:ph idx="1" type="body"/>
          </p:nvPr>
        </p:nvSpPr>
        <p:spPr>
          <a:xfrm>
            <a:off x="644575" y="1106550"/>
            <a:ext cx="7501500" cy="337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b="1" sz="1700">
              <a:solidFill>
                <a:schemeClr val="dk1"/>
              </a:solidFill>
            </a:endParaRPr>
          </a:p>
          <a:p>
            <a:pPr indent="0" lvl="0" marL="0" rtl="0" algn="l">
              <a:spcBef>
                <a:spcPts val="0"/>
              </a:spcBef>
              <a:spcAft>
                <a:spcPts val="0"/>
              </a:spcAft>
              <a:buClr>
                <a:schemeClr val="dk1"/>
              </a:buClr>
              <a:buSzPts val="1100"/>
              <a:buFont typeface="Arial"/>
              <a:buNone/>
            </a:pPr>
            <a:r>
              <a:rPr b="1" lang="en" sz="1700">
                <a:solidFill>
                  <a:schemeClr val="dk1"/>
                </a:solidFill>
              </a:rPr>
              <a:t>Source of Contracts</a:t>
            </a:r>
            <a:endParaRPr b="1" sz="1700">
              <a:solidFill>
                <a:schemeClr val="dk1"/>
              </a:solidFill>
            </a:endParaRPr>
          </a:p>
          <a:p>
            <a:pPr indent="0" lvl="0" marL="0" rtl="0" algn="l">
              <a:spcBef>
                <a:spcPts val="0"/>
              </a:spcBef>
              <a:spcAft>
                <a:spcPts val="0"/>
              </a:spcAft>
              <a:buClr>
                <a:schemeClr val="dk1"/>
              </a:buClr>
              <a:buSzPts val="1100"/>
              <a:buFont typeface="Arial"/>
              <a:buNone/>
            </a:pPr>
            <a:r>
              <a:t/>
            </a:r>
            <a:endParaRPr sz="1700">
              <a:solidFill>
                <a:schemeClr val="dk1"/>
              </a:solidFill>
            </a:endParaRPr>
          </a:p>
          <a:p>
            <a:pPr indent="0" lvl="0" marL="0" rtl="0" algn="l">
              <a:spcBef>
                <a:spcPts val="0"/>
              </a:spcBef>
              <a:spcAft>
                <a:spcPts val="0"/>
              </a:spcAft>
              <a:buNone/>
            </a:pPr>
            <a:r>
              <a:rPr lang="en" sz="1700">
                <a:solidFill>
                  <a:schemeClr val="dk1"/>
                </a:solidFill>
              </a:rPr>
              <a:t>The contracts were sourced from </a:t>
            </a:r>
            <a:r>
              <a:rPr lang="en" sz="1700" u="sng">
                <a:solidFill>
                  <a:schemeClr val="accent5"/>
                </a:solidFill>
                <a:hlinkClick r:id="rId3">
                  <a:extLst>
                    <a:ext uri="{A12FA001-AC4F-418D-AE19-62706E023703}">
                      <ahyp:hlinkClr val="tx"/>
                    </a:ext>
                  </a:extLst>
                </a:hlinkClick>
              </a:rPr>
              <a:t>EDGAR</a:t>
            </a:r>
            <a:r>
              <a:rPr lang="en" sz="1700">
                <a:solidFill>
                  <a:schemeClr val="dk1"/>
                </a:solidFill>
              </a:rPr>
              <a:t>, the Electronic Data Gathering, Analysis, and Retrieval system, used at the U.S. Securities and Exchange Commission (SEC). </a:t>
            </a:r>
            <a:endParaRPr sz="1700">
              <a:solidFill>
                <a:schemeClr val="dk1"/>
              </a:solidFill>
            </a:endParaRPr>
          </a:p>
          <a:p>
            <a:pPr indent="-336550" lvl="0" marL="457200" rtl="0" algn="l">
              <a:spcBef>
                <a:spcPts val="0"/>
              </a:spcBef>
              <a:spcAft>
                <a:spcPts val="0"/>
              </a:spcAft>
              <a:buSzPts val="1700"/>
              <a:buChar char="●"/>
            </a:pPr>
            <a:r>
              <a:rPr lang="en" sz="1700">
                <a:solidFill>
                  <a:schemeClr val="dk1"/>
                </a:solidFill>
              </a:rPr>
              <a:t>Publicly traded companies in the United States are required to file certain contracts under SEC rules. </a:t>
            </a:r>
            <a:endParaRPr sz="1700">
              <a:solidFill>
                <a:schemeClr val="dk1"/>
              </a:solidFill>
            </a:endParaRPr>
          </a:p>
          <a:p>
            <a:pPr indent="-336550" lvl="0" marL="457200" rtl="0" algn="l">
              <a:spcBef>
                <a:spcPts val="0"/>
              </a:spcBef>
              <a:spcAft>
                <a:spcPts val="0"/>
              </a:spcAft>
              <a:buSzPts val="1700"/>
              <a:buChar char="●"/>
            </a:pPr>
            <a:r>
              <a:rPr lang="en" sz="1700">
                <a:solidFill>
                  <a:schemeClr val="dk1"/>
                </a:solidFill>
              </a:rPr>
              <a:t>Access to these contracts is available to the public for free at </a:t>
            </a:r>
            <a:r>
              <a:rPr lang="en" sz="1700" u="sng">
                <a:solidFill>
                  <a:schemeClr val="accent5"/>
                </a:solidFill>
                <a:hlinkClick r:id="rId4">
                  <a:extLst>
                    <a:ext uri="{A12FA001-AC4F-418D-AE19-62706E023703}">
                      <ahyp:hlinkClr val="tx"/>
                    </a:ext>
                  </a:extLst>
                </a:hlinkClick>
              </a:rPr>
              <a:t>https://www.sec.gov/edgar</a:t>
            </a:r>
            <a:r>
              <a:rPr lang="en" sz="1700">
                <a:solidFill>
                  <a:schemeClr val="dk1"/>
                </a:solidFill>
              </a:rPr>
              <a:t>. </a:t>
            </a:r>
            <a:endParaRPr sz="1700">
              <a:solidFill>
                <a:schemeClr val="dk1"/>
              </a:solidFill>
            </a:endParaRPr>
          </a:p>
          <a:p>
            <a:pPr indent="0" lvl="0" marL="0" rtl="0" algn="l">
              <a:spcBef>
                <a:spcPts val="0"/>
              </a:spcBef>
              <a:spcAft>
                <a:spcPts val="1600"/>
              </a:spcAft>
              <a:buNone/>
            </a:pPr>
            <a:r>
              <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the Atticus Dataset (Conti.)</a:t>
            </a:r>
            <a:endParaRPr/>
          </a:p>
        </p:txBody>
      </p:sp>
      <p:sp>
        <p:nvSpPr>
          <p:cNvPr id="120" name="Google Shape;120;p21"/>
          <p:cNvSpPr txBox="1"/>
          <p:nvPr>
            <p:ph idx="1" type="body"/>
          </p:nvPr>
        </p:nvSpPr>
        <p:spPr>
          <a:xfrm>
            <a:off x="644575" y="1106550"/>
            <a:ext cx="7501500" cy="337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2100">
                <a:solidFill>
                  <a:schemeClr val="dk1"/>
                </a:solidFill>
              </a:rPr>
              <a:t>Contract Selection</a:t>
            </a:r>
            <a:endParaRPr b="1" sz="2100">
              <a:solidFill>
                <a:schemeClr val="dk1"/>
              </a:solidFill>
            </a:endParaRPr>
          </a:p>
          <a:p>
            <a:pPr indent="0" lvl="0" marL="0" rtl="0" algn="l">
              <a:spcBef>
                <a:spcPts val="0"/>
              </a:spcBef>
              <a:spcAft>
                <a:spcPts val="0"/>
              </a:spcAft>
              <a:buClr>
                <a:schemeClr val="dk1"/>
              </a:buClr>
              <a:buSzPts val="1100"/>
              <a:buFont typeface="Arial"/>
              <a:buNone/>
            </a:pPr>
            <a:r>
              <a:t/>
            </a:r>
            <a:endParaRPr sz="21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The Atticus Dataset includes commercial contracts selected from 25 different types of contracts (e.g. Manufacturing Agreement, License Agreement, Co-Branding Agreement) based on the contract names. </a:t>
            </a:r>
            <a:endParaRPr sz="1900">
              <a:solidFill>
                <a:schemeClr val="dk1"/>
              </a:solidFill>
            </a:endParaRPr>
          </a:p>
          <a:p>
            <a:pPr indent="-349250" lvl="0" marL="457200" rtl="0" algn="l">
              <a:spcBef>
                <a:spcPts val="1000"/>
              </a:spcBef>
              <a:spcAft>
                <a:spcPts val="0"/>
              </a:spcAft>
              <a:buClr>
                <a:schemeClr val="dk1"/>
              </a:buClr>
              <a:buSzPts val="1900"/>
              <a:buChar char="●"/>
            </a:pPr>
            <a:r>
              <a:rPr lang="en" sz="1900">
                <a:solidFill>
                  <a:schemeClr val="dk1"/>
                </a:solidFill>
              </a:rPr>
              <a:t>Within each type, we randomly selected contracts based on the names of the filing companies - but ensured no company was chosen more than once, to provide a broad range of contract styles.</a:t>
            </a:r>
            <a:endParaRPr sz="2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the Atticus Dataset (Conti.)</a:t>
            </a:r>
            <a:endParaRPr/>
          </a:p>
        </p:txBody>
      </p:sp>
      <p:sp>
        <p:nvSpPr>
          <p:cNvPr id="126" name="Google Shape;126;p22"/>
          <p:cNvSpPr txBox="1"/>
          <p:nvPr>
            <p:ph idx="1" type="body"/>
          </p:nvPr>
        </p:nvSpPr>
        <p:spPr>
          <a:xfrm>
            <a:off x="311700" y="1017725"/>
            <a:ext cx="7501500" cy="9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Labeling Process</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Our labeling process included multiple steps to ensure accuracy:</a:t>
            </a:r>
            <a:endParaRPr b="1" sz="2100">
              <a:solidFill>
                <a:schemeClr val="dk1"/>
              </a:solidFill>
            </a:endParaRPr>
          </a:p>
        </p:txBody>
      </p:sp>
      <p:grpSp>
        <p:nvGrpSpPr>
          <p:cNvPr id="127" name="Google Shape;127;p22"/>
          <p:cNvGrpSpPr/>
          <p:nvPr/>
        </p:nvGrpSpPr>
        <p:grpSpPr>
          <a:xfrm>
            <a:off x="6154247" y="1956748"/>
            <a:ext cx="2989760" cy="939127"/>
            <a:chOff x="3252872" y="1728498"/>
            <a:chExt cx="2989760" cy="939127"/>
          </a:xfrm>
        </p:grpSpPr>
        <p:sp>
          <p:nvSpPr>
            <p:cNvPr id="128" name="Google Shape;128;p22"/>
            <p:cNvSpPr/>
            <p:nvPr/>
          </p:nvSpPr>
          <p:spPr>
            <a:xfrm rot="5400000">
              <a:off x="4502954" y="478416"/>
              <a:ext cx="489596" cy="2989760"/>
            </a:xfrm>
            <a:prstGeom prst="roundRect">
              <a:avLst>
                <a:gd fmla="val 50000" name="adj"/>
              </a:avLst>
            </a:prstGeom>
            <a:solidFill>
              <a:srgbClr val="0077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2"/>
            <p:cNvSpPr/>
            <p:nvPr/>
          </p:nvSpPr>
          <p:spPr>
            <a:xfrm>
              <a:off x="3348747" y="1805026"/>
              <a:ext cx="326256" cy="326256"/>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077B6"/>
                  </a:solidFill>
                  <a:latin typeface="Roboto"/>
                  <a:ea typeface="Roboto"/>
                  <a:cs typeface="Roboto"/>
                  <a:sym typeface="Roboto"/>
                </a:rPr>
                <a:t>3</a:t>
              </a:r>
              <a:endParaRPr b="1" sz="900">
                <a:solidFill>
                  <a:srgbClr val="0077B6"/>
                </a:solidFill>
                <a:latin typeface="Roboto"/>
                <a:ea typeface="Roboto"/>
                <a:cs typeface="Roboto"/>
                <a:sym typeface="Roboto"/>
              </a:endParaRPr>
            </a:p>
          </p:txBody>
        </p:sp>
        <p:sp>
          <p:nvSpPr>
            <p:cNvPr id="130" name="Google Shape;130;p22"/>
            <p:cNvSpPr txBox="1"/>
            <p:nvPr/>
          </p:nvSpPr>
          <p:spPr>
            <a:xfrm>
              <a:off x="3679795" y="1810298"/>
              <a:ext cx="2362280" cy="342802"/>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Group Review of Report</a:t>
              </a:r>
              <a:endParaRPr b="1" sz="1100">
                <a:solidFill>
                  <a:srgbClr val="FFFFFF"/>
                </a:solidFill>
                <a:latin typeface="Roboto"/>
                <a:ea typeface="Roboto"/>
                <a:cs typeface="Roboto"/>
                <a:sym typeface="Roboto"/>
              </a:endParaRPr>
            </a:p>
          </p:txBody>
        </p:sp>
        <p:sp>
          <p:nvSpPr>
            <p:cNvPr id="131" name="Google Shape;131;p22"/>
            <p:cNvSpPr txBox="1"/>
            <p:nvPr/>
          </p:nvSpPr>
          <p:spPr>
            <a:xfrm>
              <a:off x="3679800" y="2225125"/>
              <a:ext cx="23622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Student volunteers exported the labels into reports on a periodic basis and reviewed the reports in groups of three. This process was conducted initially via Zoom in a group of three, and now in parallel by three students separately. If one or more students disagreed with a labeled provision, that provision would be highlighted for Attorney Review. </a:t>
              </a:r>
              <a:endParaRPr sz="1100">
                <a:latin typeface="Roboto"/>
                <a:ea typeface="Roboto"/>
                <a:cs typeface="Roboto"/>
                <a:sym typeface="Roboto"/>
              </a:endParaRPr>
            </a:p>
          </p:txBody>
        </p:sp>
      </p:grpSp>
      <p:grpSp>
        <p:nvGrpSpPr>
          <p:cNvPr id="132" name="Google Shape;132;p22"/>
          <p:cNvGrpSpPr/>
          <p:nvPr/>
        </p:nvGrpSpPr>
        <p:grpSpPr>
          <a:xfrm>
            <a:off x="3077121" y="1956734"/>
            <a:ext cx="2989760" cy="939116"/>
            <a:chOff x="844534" y="3434959"/>
            <a:chExt cx="2989760" cy="939116"/>
          </a:xfrm>
        </p:grpSpPr>
        <p:sp>
          <p:nvSpPr>
            <p:cNvPr id="133" name="Google Shape;133;p22"/>
            <p:cNvSpPr/>
            <p:nvPr/>
          </p:nvSpPr>
          <p:spPr>
            <a:xfrm rot="5400000">
              <a:off x="2094616" y="2184877"/>
              <a:ext cx="489596" cy="2989760"/>
            </a:xfrm>
            <a:prstGeom prst="roundRect">
              <a:avLst>
                <a:gd fmla="val 50000" name="adj"/>
              </a:avLst>
            </a:prstGeom>
            <a:solidFill>
              <a:srgbClr val="023E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2"/>
            <p:cNvSpPr txBox="1"/>
            <p:nvPr/>
          </p:nvSpPr>
          <p:spPr>
            <a:xfrm>
              <a:off x="1264385" y="3509688"/>
              <a:ext cx="2376280" cy="342802"/>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Keyword Search</a:t>
              </a:r>
              <a:endParaRPr b="1" sz="1100">
                <a:solidFill>
                  <a:srgbClr val="FFFFFF"/>
                </a:solidFill>
                <a:latin typeface="Roboto"/>
                <a:ea typeface="Roboto"/>
                <a:cs typeface="Roboto"/>
                <a:sym typeface="Roboto"/>
              </a:endParaRPr>
            </a:p>
          </p:txBody>
        </p:sp>
        <p:sp>
          <p:nvSpPr>
            <p:cNvPr id="135" name="Google Shape;135;p22"/>
            <p:cNvSpPr txBox="1"/>
            <p:nvPr/>
          </p:nvSpPr>
          <p:spPr>
            <a:xfrm>
              <a:off x="1266663" y="3931575"/>
              <a:ext cx="23763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Student volunteers conducted keyword searches in eBrevia to capture additional labels that were missed during the “Student Label” step. This step was conducted initially after the “Student Label” step, and now as part of the parallel reviews during the “Student Labelling” step.</a:t>
              </a:r>
              <a:endParaRPr sz="1100">
                <a:latin typeface="Roboto"/>
                <a:ea typeface="Roboto"/>
                <a:cs typeface="Roboto"/>
                <a:sym typeface="Roboto"/>
              </a:endParaRPr>
            </a:p>
          </p:txBody>
        </p:sp>
        <p:sp>
          <p:nvSpPr>
            <p:cNvPr id="136" name="Google Shape;136;p22"/>
            <p:cNvSpPr/>
            <p:nvPr/>
          </p:nvSpPr>
          <p:spPr>
            <a:xfrm>
              <a:off x="940409" y="3511487"/>
              <a:ext cx="326256" cy="326256"/>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23E8A"/>
                  </a:solidFill>
                  <a:latin typeface="Roboto"/>
                  <a:ea typeface="Roboto"/>
                  <a:cs typeface="Roboto"/>
                  <a:sym typeface="Roboto"/>
                </a:rPr>
                <a:t>2</a:t>
              </a:r>
              <a:endParaRPr b="1" sz="900">
                <a:solidFill>
                  <a:srgbClr val="023E8A"/>
                </a:solidFill>
                <a:latin typeface="Roboto"/>
                <a:ea typeface="Roboto"/>
                <a:cs typeface="Roboto"/>
                <a:sym typeface="Roboto"/>
              </a:endParaRPr>
            </a:p>
          </p:txBody>
        </p:sp>
      </p:grpSp>
      <p:grpSp>
        <p:nvGrpSpPr>
          <p:cNvPr id="137" name="Google Shape;137;p22"/>
          <p:cNvGrpSpPr/>
          <p:nvPr/>
        </p:nvGrpSpPr>
        <p:grpSpPr>
          <a:xfrm>
            <a:off x="1" y="1956739"/>
            <a:ext cx="2989760" cy="939136"/>
            <a:chOff x="37426" y="1141952"/>
            <a:chExt cx="2989760" cy="939136"/>
          </a:xfrm>
        </p:grpSpPr>
        <p:sp>
          <p:nvSpPr>
            <p:cNvPr id="138" name="Google Shape;138;p22"/>
            <p:cNvSpPr/>
            <p:nvPr/>
          </p:nvSpPr>
          <p:spPr>
            <a:xfrm rot="5400000">
              <a:off x="1287508" y="-108130"/>
              <a:ext cx="489596" cy="2989760"/>
            </a:xfrm>
            <a:prstGeom prst="roundRect">
              <a:avLst>
                <a:gd fmla="val 50000" name="adj"/>
              </a:avLst>
            </a:prstGeom>
            <a:solidFill>
              <a:srgbClr val="0304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2"/>
            <p:cNvSpPr/>
            <p:nvPr/>
          </p:nvSpPr>
          <p:spPr>
            <a:xfrm>
              <a:off x="132276" y="1217454"/>
              <a:ext cx="326256" cy="326256"/>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3045E"/>
                  </a:solidFill>
                  <a:latin typeface="Roboto"/>
                  <a:ea typeface="Roboto"/>
                  <a:cs typeface="Roboto"/>
                  <a:sym typeface="Roboto"/>
                </a:rPr>
                <a:t>1</a:t>
              </a:r>
              <a:endParaRPr b="1" sz="900">
                <a:solidFill>
                  <a:srgbClr val="03045E"/>
                </a:solidFill>
                <a:latin typeface="Roboto"/>
                <a:ea typeface="Roboto"/>
                <a:cs typeface="Roboto"/>
                <a:sym typeface="Roboto"/>
              </a:endParaRPr>
            </a:p>
          </p:txBody>
        </p:sp>
        <p:sp>
          <p:nvSpPr>
            <p:cNvPr id="140" name="Google Shape;140;p22"/>
            <p:cNvSpPr txBox="1"/>
            <p:nvPr/>
          </p:nvSpPr>
          <p:spPr>
            <a:xfrm>
              <a:off x="461037" y="1220440"/>
              <a:ext cx="2368500" cy="342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Student Labelling</a:t>
              </a:r>
              <a:endParaRPr b="1" sz="1100">
                <a:solidFill>
                  <a:srgbClr val="FFFFFF"/>
                </a:solidFill>
                <a:latin typeface="Roboto"/>
                <a:ea typeface="Roboto"/>
                <a:cs typeface="Roboto"/>
                <a:sym typeface="Roboto"/>
              </a:endParaRPr>
            </a:p>
          </p:txBody>
        </p:sp>
        <p:sp>
          <p:nvSpPr>
            <p:cNvPr id="141" name="Google Shape;141;p22"/>
            <p:cNvSpPr txBox="1"/>
            <p:nvPr/>
          </p:nvSpPr>
          <p:spPr>
            <a:xfrm>
              <a:off x="458525" y="1638588"/>
              <a:ext cx="23685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Student volunteers conducted two levels of manual contract review and labeling in eBrevia, an online contract review tool. This step was conducted initially in sequence, and now in parallel.</a:t>
              </a:r>
              <a:endParaRPr sz="1100">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the Atticus Dataset (Conti.)</a:t>
            </a:r>
            <a:endParaRPr/>
          </a:p>
        </p:txBody>
      </p:sp>
      <p:grpSp>
        <p:nvGrpSpPr>
          <p:cNvPr id="147" name="Google Shape;147;p23"/>
          <p:cNvGrpSpPr/>
          <p:nvPr/>
        </p:nvGrpSpPr>
        <p:grpSpPr>
          <a:xfrm>
            <a:off x="3077110" y="1956713"/>
            <a:ext cx="2989800" cy="939127"/>
            <a:chOff x="5363360" y="3839025"/>
            <a:chExt cx="2989800" cy="939127"/>
          </a:xfrm>
        </p:grpSpPr>
        <p:sp>
          <p:nvSpPr>
            <p:cNvPr id="148" name="Google Shape;148;p23"/>
            <p:cNvSpPr/>
            <p:nvPr/>
          </p:nvSpPr>
          <p:spPr>
            <a:xfrm rot="5400000">
              <a:off x="6613460" y="2588925"/>
              <a:ext cx="489600" cy="2989800"/>
            </a:xfrm>
            <a:prstGeom prst="roundRect">
              <a:avLst>
                <a:gd fmla="val 50000" name="adj"/>
              </a:avLst>
            </a:prstGeom>
            <a:solidFill>
              <a:srgbClr val="00B4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3"/>
            <p:cNvSpPr/>
            <p:nvPr/>
          </p:nvSpPr>
          <p:spPr>
            <a:xfrm>
              <a:off x="5459275" y="3915553"/>
              <a:ext cx="326400" cy="3264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0B4D8"/>
                  </a:solidFill>
                  <a:latin typeface="Roboto"/>
                  <a:ea typeface="Roboto"/>
                  <a:cs typeface="Roboto"/>
                  <a:sym typeface="Roboto"/>
                </a:rPr>
                <a:t>5</a:t>
              </a:r>
              <a:endParaRPr b="1" sz="900">
                <a:solidFill>
                  <a:srgbClr val="00B4D8"/>
                </a:solidFill>
                <a:latin typeface="Roboto"/>
                <a:ea typeface="Roboto"/>
                <a:cs typeface="Roboto"/>
                <a:sym typeface="Roboto"/>
              </a:endParaRPr>
            </a:p>
          </p:txBody>
        </p:sp>
        <p:sp>
          <p:nvSpPr>
            <p:cNvPr id="150" name="Google Shape;150;p23"/>
            <p:cNvSpPr txBox="1"/>
            <p:nvPr/>
          </p:nvSpPr>
          <p:spPr>
            <a:xfrm>
              <a:off x="5782286" y="3912789"/>
              <a:ext cx="2378400" cy="342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Label-by-Label Review</a:t>
              </a:r>
              <a:endParaRPr b="1" sz="1100">
                <a:solidFill>
                  <a:srgbClr val="FFFFFF"/>
                </a:solidFill>
                <a:latin typeface="Roboto"/>
                <a:ea typeface="Roboto"/>
                <a:cs typeface="Roboto"/>
                <a:sym typeface="Roboto"/>
              </a:endParaRPr>
            </a:p>
          </p:txBody>
        </p:sp>
        <p:sp>
          <p:nvSpPr>
            <p:cNvPr id="151" name="Google Shape;151;p23"/>
            <p:cNvSpPr txBox="1"/>
            <p:nvPr/>
          </p:nvSpPr>
          <p:spPr>
            <a:xfrm>
              <a:off x="5864946" y="4335653"/>
              <a:ext cx="22425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Student volunteers exported single-label reports and reviewed them in a group of three. This process was conducted initially via Zoom in a group of three, and subsequently in parallel by three students separately. If one or more students disagreed with a labeled provision, such provision would be highlighted for Attorney Review. </a:t>
              </a:r>
              <a:endParaRPr sz="1100">
                <a:latin typeface="Roboto"/>
                <a:ea typeface="Roboto"/>
                <a:cs typeface="Roboto"/>
                <a:sym typeface="Roboto"/>
              </a:endParaRPr>
            </a:p>
          </p:txBody>
        </p:sp>
      </p:grpSp>
      <p:grpSp>
        <p:nvGrpSpPr>
          <p:cNvPr id="152" name="Google Shape;152;p23"/>
          <p:cNvGrpSpPr/>
          <p:nvPr/>
        </p:nvGrpSpPr>
        <p:grpSpPr>
          <a:xfrm>
            <a:off x="3" y="1956731"/>
            <a:ext cx="2989800" cy="939127"/>
            <a:chOff x="4307590" y="2783256"/>
            <a:chExt cx="2989800" cy="939127"/>
          </a:xfrm>
        </p:grpSpPr>
        <p:sp>
          <p:nvSpPr>
            <p:cNvPr id="153" name="Google Shape;153;p23"/>
            <p:cNvSpPr/>
            <p:nvPr/>
          </p:nvSpPr>
          <p:spPr>
            <a:xfrm rot="5400000">
              <a:off x="5557690" y="1533156"/>
              <a:ext cx="489600" cy="2989800"/>
            </a:xfrm>
            <a:prstGeom prst="roundRect">
              <a:avLst>
                <a:gd fmla="val 50000" name="adj"/>
              </a:avLst>
            </a:prstGeom>
            <a:solidFill>
              <a:srgbClr val="0096C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a:off x="4403505" y="2859783"/>
              <a:ext cx="326400" cy="3264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0096C7"/>
                  </a:solidFill>
                  <a:latin typeface="Roboto"/>
                  <a:ea typeface="Roboto"/>
                  <a:cs typeface="Roboto"/>
                  <a:sym typeface="Roboto"/>
                </a:rPr>
                <a:t>4</a:t>
              </a:r>
              <a:endParaRPr b="1" sz="900">
                <a:solidFill>
                  <a:srgbClr val="0096C7"/>
                </a:solidFill>
                <a:latin typeface="Roboto"/>
                <a:ea typeface="Roboto"/>
                <a:cs typeface="Roboto"/>
                <a:sym typeface="Roboto"/>
              </a:endParaRPr>
            </a:p>
          </p:txBody>
        </p:sp>
        <p:sp>
          <p:nvSpPr>
            <p:cNvPr id="155" name="Google Shape;155;p23"/>
            <p:cNvSpPr txBox="1"/>
            <p:nvPr/>
          </p:nvSpPr>
          <p:spPr>
            <a:xfrm>
              <a:off x="4734576" y="2865079"/>
              <a:ext cx="2362200" cy="342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Attorney Review</a:t>
              </a:r>
              <a:endParaRPr b="1" sz="1100">
                <a:solidFill>
                  <a:srgbClr val="FFFFFF"/>
                </a:solidFill>
                <a:latin typeface="Roboto"/>
                <a:ea typeface="Roboto"/>
                <a:cs typeface="Roboto"/>
                <a:sym typeface="Roboto"/>
              </a:endParaRPr>
            </a:p>
          </p:txBody>
        </p:sp>
        <p:sp>
          <p:nvSpPr>
            <p:cNvPr id="156" name="Google Shape;156;p23"/>
            <p:cNvSpPr txBox="1"/>
            <p:nvPr/>
          </p:nvSpPr>
          <p:spPr>
            <a:xfrm>
              <a:off x="4809176" y="3279883"/>
              <a:ext cx="22425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O</a:t>
              </a:r>
              <a:r>
                <a:rPr lang="en" sz="1100">
                  <a:latin typeface="Roboto"/>
                  <a:ea typeface="Roboto"/>
                  <a:cs typeface="Roboto"/>
                  <a:sym typeface="Roboto"/>
                </a:rPr>
                <a:t>ne experienced attorney reviewed the highlighted provisions and provided comments. Student volunteers reviewed the comments and made changes in eBrevia accordingly.</a:t>
              </a:r>
              <a:endParaRPr sz="1100">
                <a:latin typeface="Roboto"/>
                <a:ea typeface="Roboto"/>
                <a:cs typeface="Roboto"/>
                <a:sym typeface="Roboto"/>
              </a:endParaRPr>
            </a:p>
          </p:txBody>
        </p:sp>
      </p:grpSp>
      <p:grpSp>
        <p:nvGrpSpPr>
          <p:cNvPr id="157" name="Google Shape;157;p23"/>
          <p:cNvGrpSpPr/>
          <p:nvPr/>
        </p:nvGrpSpPr>
        <p:grpSpPr>
          <a:xfrm>
            <a:off x="6154198" y="1956727"/>
            <a:ext cx="2989800" cy="939127"/>
            <a:chOff x="6401623" y="4910452"/>
            <a:chExt cx="2989800" cy="939127"/>
          </a:xfrm>
        </p:grpSpPr>
        <p:sp>
          <p:nvSpPr>
            <p:cNvPr id="158" name="Google Shape;158;p23"/>
            <p:cNvSpPr/>
            <p:nvPr/>
          </p:nvSpPr>
          <p:spPr>
            <a:xfrm rot="5400000">
              <a:off x="7651723" y="3660352"/>
              <a:ext cx="489600" cy="2989800"/>
            </a:xfrm>
            <a:prstGeom prst="roundRect">
              <a:avLst>
                <a:gd fmla="val 50000" name="adj"/>
              </a:avLst>
            </a:prstGeom>
            <a:solidFill>
              <a:srgbClr val="48CA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6496512" y="4985954"/>
              <a:ext cx="326400" cy="326400"/>
            </a:xfrm>
            <a:prstGeom prst="ellipse">
              <a:avLst/>
            </a:prstGeom>
            <a:solidFill>
              <a:srgbClr val="FFFFF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b="1" lang="en" sz="900">
                  <a:solidFill>
                    <a:srgbClr val="48CAE4"/>
                  </a:solidFill>
                  <a:latin typeface="Roboto"/>
                  <a:ea typeface="Roboto"/>
                  <a:cs typeface="Roboto"/>
                  <a:sym typeface="Roboto"/>
                </a:rPr>
                <a:t>6</a:t>
              </a:r>
              <a:endParaRPr b="1" sz="900">
                <a:solidFill>
                  <a:srgbClr val="48CAE4"/>
                </a:solidFill>
                <a:latin typeface="Roboto"/>
                <a:ea typeface="Roboto"/>
                <a:cs typeface="Roboto"/>
                <a:sym typeface="Roboto"/>
              </a:endParaRPr>
            </a:p>
          </p:txBody>
        </p:sp>
        <p:sp>
          <p:nvSpPr>
            <p:cNvPr id="160" name="Google Shape;160;p23"/>
            <p:cNvSpPr txBox="1"/>
            <p:nvPr/>
          </p:nvSpPr>
          <p:spPr>
            <a:xfrm>
              <a:off x="6825273" y="4988940"/>
              <a:ext cx="2368500" cy="342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rgbClr val="FFFFFF"/>
                  </a:solidFill>
                  <a:latin typeface="Roboto"/>
                  <a:ea typeface="Roboto"/>
                  <a:cs typeface="Roboto"/>
                  <a:sym typeface="Roboto"/>
                </a:rPr>
                <a:t>Attorney Review</a:t>
              </a:r>
              <a:endParaRPr b="1" sz="1100">
                <a:solidFill>
                  <a:srgbClr val="FFFFFF"/>
                </a:solidFill>
                <a:latin typeface="Roboto"/>
                <a:ea typeface="Roboto"/>
                <a:cs typeface="Roboto"/>
                <a:sym typeface="Roboto"/>
              </a:endParaRPr>
            </a:p>
          </p:txBody>
        </p:sp>
        <p:sp>
          <p:nvSpPr>
            <p:cNvPr id="161" name="Google Shape;161;p23"/>
            <p:cNvSpPr txBox="1"/>
            <p:nvPr/>
          </p:nvSpPr>
          <p:spPr>
            <a:xfrm>
              <a:off x="6903209" y="5407079"/>
              <a:ext cx="22425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sz="1100">
                  <a:latin typeface="Roboto"/>
                  <a:ea typeface="Roboto"/>
                  <a:cs typeface="Roboto"/>
                  <a:sym typeface="Roboto"/>
                </a:rPr>
                <a:t>T</a:t>
              </a:r>
              <a:r>
                <a:rPr lang="en" sz="1100">
                  <a:latin typeface="Roboto"/>
                  <a:ea typeface="Roboto"/>
                  <a:cs typeface="Roboto"/>
                  <a:sym typeface="Roboto"/>
                </a:rPr>
                <a:t>wo experienced attorneys reviewed the highlighted provisions and provided comments. Attorneys then discussed such results with the student volunteers and reached consensus. Student volunteers made changes in eBrevia accordingly.</a:t>
              </a:r>
              <a:endParaRPr sz="1100">
                <a:latin typeface="Roboto"/>
                <a:ea typeface="Roboto"/>
                <a:cs typeface="Roboto"/>
                <a:sym typeface="Roboto"/>
              </a:endParaRPr>
            </a:p>
          </p:txBody>
        </p:sp>
      </p:grpSp>
      <p:sp>
        <p:nvSpPr>
          <p:cNvPr id="162" name="Google Shape;162;p23"/>
          <p:cNvSpPr txBox="1"/>
          <p:nvPr>
            <p:ph idx="1" type="body"/>
          </p:nvPr>
        </p:nvSpPr>
        <p:spPr>
          <a:xfrm>
            <a:off x="311700" y="1017725"/>
            <a:ext cx="7501500" cy="939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1100">
                <a:solidFill>
                  <a:schemeClr val="dk1"/>
                </a:solidFill>
              </a:rPr>
              <a:t>Labeling Process</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Our labeling process included multiple steps to ensure accuracy:</a:t>
            </a:r>
            <a:endParaRPr b="1" sz="21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License</a:t>
            </a:r>
            <a:endParaRPr/>
          </a:p>
        </p:txBody>
      </p:sp>
      <p:sp>
        <p:nvSpPr>
          <p:cNvPr id="168" name="Google Shape;168;p24"/>
          <p:cNvSpPr txBox="1"/>
          <p:nvPr>
            <p:ph idx="1" type="body"/>
          </p:nvPr>
        </p:nvSpPr>
        <p:spPr>
          <a:xfrm>
            <a:off x="986050" y="1017725"/>
            <a:ext cx="7160100" cy="3459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dk1"/>
                </a:solidFill>
              </a:rPr>
              <a:t>Atticus Labels and Atticus Dataset (to be released) are licensed under the </a:t>
            </a:r>
            <a:r>
              <a:rPr lang="en" sz="2400" u="sng">
                <a:solidFill>
                  <a:schemeClr val="dk1"/>
                </a:solidFill>
                <a:hlinkClick r:id="rId3">
                  <a:extLst>
                    <a:ext uri="{A12FA001-AC4F-418D-AE19-62706E023703}">
                      <ahyp:hlinkClr val="tx"/>
                    </a:ext>
                  </a:extLst>
                </a:hlinkClick>
              </a:rPr>
              <a:t>Creative Commons Attribution 4.0 (CC BY 4.0)</a:t>
            </a:r>
            <a:r>
              <a:rPr lang="en" sz="2400">
                <a:solidFill>
                  <a:schemeClr val="dk1"/>
                </a:solidFill>
              </a:rPr>
              <a:t> license and free to the public for commercial and non-commercial use. </a:t>
            </a:r>
            <a:endParaRPr sz="2400">
              <a:solidFill>
                <a:schemeClr val="dk1"/>
              </a:solidFill>
            </a:endParaRPr>
          </a:p>
          <a:p>
            <a:pPr indent="0" lvl="0" marL="0" rtl="0" algn="l">
              <a:spcBef>
                <a:spcPts val="0"/>
              </a:spcBef>
              <a:spcAft>
                <a:spcPts val="0"/>
              </a:spcAft>
              <a:buNone/>
            </a:pPr>
            <a:r>
              <a:t/>
            </a:r>
            <a:endParaRPr sz="2400">
              <a:solidFill>
                <a:schemeClr val="dk1"/>
              </a:solidFill>
            </a:endParaRPr>
          </a:p>
          <a:p>
            <a:pPr indent="0" lvl="0" marL="0" rtl="0" algn="l">
              <a:spcBef>
                <a:spcPts val="0"/>
              </a:spcBef>
              <a:spcAft>
                <a:spcPts val="0"/>
              </a:spcAft>
              <a:buClr>
                <a:schemeClr val="dk1"/>
              </a:buClr>
              <a:buSzPts val="1100"/>
              <a:buFont typeface="Arial"/>
              <a:buNone/>
            </a:pPr>
            <a:r>
              <a:rPr b="1" lang="en" sz="1100">
                <a:solidFill>
                  <a:schemeClr val="dk1"/>
                </a:solidFill>
              </a:rPr>
              <a:t>Note:</a:t>
            </a:r>
            <a:r>
              <a:rPr lang="en" sz="1100">
                <a:solidFill>
                  <a:schemeClr val="dk1"/>
                </a:solidFill>
              </a:rPr>
              <a:t> We make no representations or warranties regarding the license status of the underlying contracts, which we download from EDGAR.</a:t>
            </a:r>
            <a:endParaRPr sz="2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